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8" r:id="rId1"/>
  </p:sldMasterIdLst>
  <p:notesMasterIdLst>
    <p:notesMasterId r:id="rId37"/>
  </p:notesMasterIdLst>
  <p:handoutMasterIdLst>
    <p:handoutMasterId r:id="rId38"/>
  </p:handoutMasterIdLst>
  <p:sldIdLst>
    <p:sldId id="386" r:id="rId2"/>
    <p:sldId id="432" r:id="rId3"/>
    <p:sldId id="409" r:id="rId4"/>
    <p:sldId id="488" r:id="rId5"/>
    <p:sldId id="487" r:id="rId6"/>
    <p:sldId id="330" r:id="rId7"/>
    <p:sldId id="489" r:id="rId8"/>
    <p:sldId id="490" r:id="rId9"/>
    <p:sldId id="508" r:id="rId10"/>
    <p:sldId id="491" r:id="rId11"/>
    <p:sldId id="468" r:id="rId12"/>
    <p:sldId id="469" r:id="rId13"/>
    <p:sldId id="456" r:id="rId14"/>
    <p:sldId id="493" r:id="rId15"/>
    <p:sldId id="494" r:id="rId16"/>
    <p:sldId id="495" r:id="rId17"/>
    <p:sldId id="475" r:id="rId18"/>
    <p:sldId id="509" r:id="rId19"/>
    <p:sldId id="457" r:id="rId20"/>
    <p:sldId id="496" r:id="rId21"/>
    <p:sldId id="498" r:id="rId22"/>
    <p:sldId id="497" r:id="rId23"/>
    <p:sldId id="499" r:id="rId24"/>
    <p:sldId id="500" r:id="rId25"/>
    <p:sldId id="501" r:id="rId26"/>
    <p:sldId id="474" r:id="rId27"/>
    <p:sldId id="459" r:id="rId28"/>
    <p:sldId id="365" r:id="rId29"/>
    <p:sldId id="502" r:id="rId30"/>
    <p:sldId id="503" r:id="rId31"/>
    <p:sldId id="504" r:id="rId32"/>
    <p:sldId id="505" r:id="rId33"/>
    <p:sldId id="506" r:id="rId34"/>
    <p:sldId id="507" r:id="rId35"/>
    <p:sldId id="486" r:id="rId36"/>
  </p:sldIdLst>
  <p:sldSz cx="10287000" cy="6858000" type="35mm"/>
  <p:notesSz cx="9842500" cy="6754813"/>
  <p:defaultTex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 uri="{2D200454-40CA-4A62-9FC3-DE9A4176ACB9}">
      <p15:notesGuideLst xmlns:p15="http://schemas.microsoft.com/office/powerpoint/2012/main">
        <p15:guide id="1" orient="horz" pos="2127">
          <p15:clr>
            <a:srgbClr val="A4A3A4"/>
          </p15:clr>
        </p15:guide>
        <p15:guide id="2" pos="31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833" autoAdjust="0"/>
  </p:normalViewPr>
  <p:slideViewPr>
    <p:cSldViewPr>
      <p:cViewPr varScale="1">
        <p:scale>
          <a:sx n="112" d="100"/>
          <a:sy n="112" d="100"/>
        </p:scale>
        <p:origin x="1240" y="192"/>
      </p:cViewPr>
      <p:guideLst>
        <p:guide orient="horz" pos="2160"/>
        <p:guide pos="32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54"/>
    </p:cViewPr>
  </p:sorterViewPr>
  <p:notesViewPr>
    <p:cSldViewPr>
      <p:cViewPr varScale="1">
        <p:scale>
          <a:sx n="74" d="100"/>
          <a:sy n="74" d="100"/>
        </p:scale>
        <p:origin x="-636" y="-72"/>
      </p:cViewPr>
      <p:guideLst>
        <p:guide orient="horz" pos="2127"/>
        <p:guide pos="310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3C24AB8-5C07-035E-BFA0-57A8E92B1D1F}"/>
              </a:ext>
            </a:extLst>
          </p:cNvPr>
          <p:cNvSpPr>
            <a:spLocks noGrp="1" noChangeArrowheads="1"/>
          </p:cNvSpPr>
          <p:nvPr>
            <p:ph type="hdr" sz="quarter"/>
          </p:nvPr>
        </p:nvSpPr>
        <p:spPr bwMode="auto">
          <a:xfrm rot="10800000">
            <a:off x="-33338" y="-46038"/>
            <a:ext cx="4291013"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t" anchorCtr="0" compatLnSpc="1">
            <a:prstTxWarp prst="textNoShape">
              <a:avLst/>
            </a:prstTxWarp>
          </a:bodyPr>
          <a:lstStyle>
            <a:lvl1pPr defTabSz="-85725" eaLnBrk="0" hangingPunct="0">
              <a:defRPr i="1"/>
            </a:lvl1pPr>
          </a:lstStyle>
          <a:p>
            <a:endParaRPr lang="en-US" altLang="zh-CN"/>
          </a:p>
        </p:txBody>
      </p:sp>
      <p:sp>
        <p:nvSpPr>
          <p:cNvPr id="4099" name="Rectangle 3">
            <a:extLst>
              <a:ext uri="{FF2B5EF4-FFF2-40B4-BE49-F238E27FC236}">
                <a16:creationId xmlns:a16="http://schemas.microsoft.com/office/drawing/2014/main" id="{FD3D2CC6-6802-CEDC-17AA-C75090EEFA71}"/>
              </a:ext>
            </a:extLst>
          </p:cNvPr>
          <p:cNvSpPr>
            <a:spLocks noGrp="1" noChangeArrowheads="1"/>
          </p:cNvSpPr>
          <p:nvPr>
            <p:ph type="dt" sz="quarter" idx="1"/>
          </p:nvPr>
        </p:nvSpPr>
        <p:spPr bwMode="auto">
          <a:xfrm rot="10800000">
            <a:off x="5551488" y="-46038"/>
            <a:ext cx="4291012"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t" anchorCtr="0" compatLnSpc="1">
            <a:prstTxWarp prst="textNoShape">
              <a:avLst/>
            </a:prstTxWarp>
          </a:bodyPr>
          <a:lstStyle>
            <a:lvl1pPr algn="r" defTabSz="-85725" eaLnBrk="0" hangingPunct="0">
              <a:defRPr i="1"/>
            </a:lvl1pPr>
          </a:lstStyle>
          <a:p>
            <a:endParaRPr lang="en-US" altLang="zh-CN"/>
          </a:p>
        </p:txBody>
      </p:sp>
      <p:sp>
        <p:nvSpPr>
          <p:cNvPr id="4100" name="Rectangle 4">
            <a:extLst>
              <a:ext uri="{FF2B5EF4-FFF2-40B4-BE49-F238E27FC236}">
                <a16:creationId xmlns:a16="http://schemas.microsoft.com/office/drawing/2014/main" id="{906AF666-08FF-96E0-6BC3-3D9D3BFCA733}"/>
              </a:ext>
            </a:extLst>
          </p:cNvPr>
          <p:cNvSpPr>
            <a:spLocks noGrp="1" noChangeArrowheads="1"/>
          </p:cNvSpPr>
          <p:nvPr>
            <p:ph type="ftr" sz="quarter" idx="2"/>
          </p:nvPr>
        </p:nvSpPr>
        <p:spPr bwMode="auto">
          <a:xfrm rot="10800000">
            <a:off x="-33338" y="6380163"/>
            <a:ext cx="4291013"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b" anchorCtr="0" compatLnSpc="1">
            <a:prstTxWarp prst="textNoShape">
              <a:avLst/>
            </a:prstTxWarp>
          </a:bodyPr>
          <a:lstStyle>
            <a:lvl1pPr defTabSz="-85725" eaLnBrk="0" hangingPunct="0">
              <a:defRPr i="1"/>
            </a:lvl1pPr>
          </a:lstStyle>
          <a:p>
            <a:endParaRPr lang="en-US" altLang="zh-CN"/>
          </a:p>
        </p:txBody>
      </p:sp>
      <p:sp>
        <p:nvSpPr>
          <p:cNvPr id="4101" name="Rectangle 5">
            <a:extLst>
              <a:ext uri="{FF2B5EF4-FFF2-40B4-BE49-F238E27FC236}">
                <a16:creationId xmlns:a16="http://schemas.microsoft.com/office/drawing/2014/main" id="{0FF16346-5A8E-E814-1D50-8BF6098D9356}"/>
              </a:ext>
            </a:extLst>
          </p:cNvPr>
          <p:cNvSpPr>
            <a:spLocks noGrp="1" noChangeArrowheads="1"/>
          </p:cNvSpPr>
          <p:nvPr>
            <p:ph type="sldNum" sz="quarter" idx="3"/>
          </p:nvPr>
        </p:nvSpPr>
        <p:spPr bwMode="auto">
          <a:xfrm rot="10800000">
            <a:off x="5551488" y="6380163"/>
            <a:ext cx="4291012"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b" anchorCtr="0" compatLnSpc="1">
            <a:prstTxWarp prst="textNoShape">
              <a:avLst/>
            </a:prstTxWarp>
          </a:bodyPr>
          <a:lstStyle>
            <a:lvl1pPr algn="r" defTabSz="-85725" eaLnBrk="0" hangingPunct="0">
              <a:defRPr i="1"/>
            </a:lvl1pPr>
          </a:lstStyle>
          <a:p>
            <a:fld id="{66D6F734-35D5-864F-94B7-1AAD56BE0D61}"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CADC688-349D-031D-9007-935217A1B614}"/>
              </a:ext>
            </a:extLst>
          </p:cNvPr>
          <p:cNvSpPr>
            <a:spLocks noGrp="1" noChangeArrowheads="1"/>
          </p:cNvSpPr>
          <p:nvPr>
            <p:ph type="hdr" sz="quarter"/>
          </p:nvPr>
        </p:nvSpPr>
        <p:spPr bwMode="auto">
          <a:xfrm rot="10800000">
            <a:off x="-33338" y="-46038"/>
            <a:ext cx="4291013"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t" anchorCtr="0" compatLnSpc="1">
            <a:prstTxWarp prst="textNoShape">
              <a:avLst/>
            </a:prstTxWarp>
          </a:bodyPr>
          <a:lstStyle>
            <a:lvl1pPr defTabSz="-85725" eaLnBrk="0" hangingPunct="0">
              <a:defRPr i="1"/>
            </a:lvl1pPr>
          </a:lstStyle>
          <a:p>
            <a:endParaRPr lang="en-US" altLang="zh-CN"/>
          </a:p>
        </p:txBody>
      </p:sp>
      <p:sp>
        <p:nvSpPr>
          <p:cNvPr id="2051" name="Rectangle 3">
            <a:extLst>
              <a:ext uri="{FF2B5EF4-FFF2-40B4-BE49-F238E27FC236}">
                <a16:creationId xmlns:a16="http://schemas.microsoft.com/office/drawing/2014/main" id="{BE30F62F-15E5-C717-79DB-84DF205E1693}"/>
              </a:ext>
            </a:extLst>
          </p:cNvPr>
          <p:cNvSpPr>
            <a:spLocks noGrp="1" noChangeArrowheads="1"/>
          </p:cNvSpPr>
          <p:nvPr>
            <p:ph type="dt" idx="1"/>
          </p:nvPr>
        </p:nvSpPr>
        <p:spPr bwMode="auto">
          <a:xfrm rot="10800000">
            <a:off x="5551488" y="-46038"/>
            <a:ext cx="4291012"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t" anchorCtr="0" compatLnSpc="1">
            <a:prstTxWarp prst="textNoShape">
              <a:avLst/>
            </a:prstTxWarp>
          </a:bodyPr>
          <a:lstStyle>
            <a:lvl1pPr algn="r" defTabSz="-85725" eaLnBrk="0" hangingPunct="0">
              <a:defRPr i="1"/>
            </a:lvl1pPr>
          </a:lstStyle>
          <a:p>
            <a:endParaRPr lang="en-US" altLang="zh-CN"/>
          </a:p>
        </p:txBody>
      </p:sp>
      <p:sp>
        <p:nvSpPr>
          <p:cNvPr id="2052" name="Rectangle 4">
            <a:extLst>
              <a:ext uri="{FF2B5EF4-FFF2-40B4-BE49-F238E27FC236}">
                <a16:creationId xmlns:a16="http://schemas.microsoft.com/office/drawing/2014/main" id="{575900AA-109B-B817-DB58-C4FBEDF5FE5E}"/>
              </a:ext>
            </a:extLst>
          </p:cNvPr>
          <p:cNvSpPr>
            <a:spLocks noGrp="1" noChangeArrowheads="1"/>
          </p:cNvSpPr>
          <p:nvPr>
            <p:ph type="ftr" sz="quarter" idx="4"/>
          </p:nvPr>
        </p:nvSpPr>
        <p:spPr bwMode="auto">
          <a:xfrm rot="10800000">
            <a:off x="-33338" y="6380163"/>
            <a:ext cx="4291013"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b" anchorCtr="0" compatLnSpc="1">
            <a:prstTxWarp prst="textNoShape">
              <a:avLst/>
            </a:prstTxWarp>
          </a:bodyPr>
          <a:lstStyle>
            <a:lvl1pPr defTabSz="-85725" eaLnBrk="0" hangingPunct="0">
              <a:defRPr i="1"/>
            </a:lvl1pPr>
          </a:lstStyle>
          <a:p>
            <a:endParaRPr lang="en-US" altLang="zh-CN"/>
          </a:p>
        </p:txBody>
      </p:sp>
      <p:sp>
        <p:nvSpPr>
          <p:cNvPr id="2053" name="Rectangle 5">
            <a:extLst>
              <a:ext uri="{FF2B5EF4-FFF2-40B4-BE49-F238E27FC236}">
                <a16:creationId xmlns:a16="http://schemas.microsoft.com/office/drawing/2014/main" id="{99735FA9-4587-F394-EFE7-811ACDABC299}"/>
              </a:ext>
            </a:extLst>
          </p:cNvPr>
          <p:cNvSpPr>
            <a:spLocks noGrp="1" noChangeArrowheads="1"/>
          </p:cNvSpPr>
          <p:nvPr>
            <p:ph type="sldNum" sz="quarter" idx="5"/>
          </p:nvPr>
        </p:nvSpPr>
        <p:spPr bwMode="auto">
          <a:xfrm rot="10800000">
            <a:off x="5551488" y="6380163"/>
            <a:ext cx="4291012"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b" anchorCtr="0" compatLnSpc="1">
            <a:prstTxWarp prst="textNoShape">
              <a:avLst/>
            </a:prstTxWarp>
          </a:bodyPr>
          <a:lstStyle>
            <a:lvl1pPr algn="r" defTabSz="-85725" eaLnBrk="0" hangingPunct="0">
              <a:defRPr i="1"/>
            </a:lvl1pPr>
          </a:lstStyle>
          <a:p>
            <a:fld id="{89FF193D-64F0-5C49-8BC8-3CD316A25E18}" type="slidenum">
              <a:rPr lang="en-US" altLang="zh-CN"/>
              <a:pPr/>
              <a:t>‹#›</a:t>
            </a:fld>
            <a:endParaRPr lang="en-US" altLang="zh-CN"/>
          </a:p>
        </p:txBody>
      </p:sp>
      <p:sp>
        <p:nvSpPr>
          <p:cNvPr id="2054" name="Rectangle 6">
            <a:extLst>
              <a:ext uri="{FF2B5EF4-FFF2-40B4-BE49-F238E27FC236}">
                <a16:creationId xmlns:a16="http://schemas.microsoft.com/office/drawing/2014/main" id="{2FEF4B41-024F-14B2-2E0E-305E3EE0FA6C}"/>
              </a:ext>
            </a:extLst>
          </p:cNvPr>
          <p:cNvSpPr>
            <a:spLocks noChangeArrowheads="1" noTextEdit="1"/>
          </p:cNvSpPr>
          <p:nvPr>
            <p:ph type="sldImg" idx="2"/>
          </p:nvPr>
        </p:nvSpPr>
        <p:spPr bwMode="auto">
          <a:xfrm>
            <a:off x="3133725" y="584200"/>
            <a:ext cx="3541713" cy="2360613"/>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5" name="Rectangle 7">
            <a:extLst>
              <a:ext uri="{FF2B5EF4-FFF2-40B4-BE49-F238E27FC236}">
                <a16:creationId xmlns:a16="http://schemas.microsoft.com/office/drawing/2014/main" id="{F5977826-0F3C-4876-531C-4A54B6B0403B}"/>
              </a:ext>
            </a:extLst>
          </p:cNvPr>
          <p:cNvSpPr>
            <a:spLocks noGrp="1" noChangeArrowheads="1"/>
          </p:cNvSpPr>
          <p:nvPr>
            <p:ph type="body" sz="quarter" idx="3"/>
          </p:nvPr>
        </p:nvSpPr>
        <p:spPr bwMode="auto">
          <a:xfrm rot="10800000">
            <a:off x="1293813" y="3201988"/>
            <a:ext cx="7219950"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53499" tIns="-826750" rIns="-1653499" bIns="-82675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056" name="Rectangle 8">
            <a:extLst>
              <a:ext uri="{FF2B5EF4-FFF2-40B4-BE49-F238E27FC236}">
                <a16:creationId xmlns:a16="http://schemas.microsoft.com/office/drawing/2014/main" id="{46FF934D-3F12-6CD3-8312-13EACEFBD8F6}"/>
              </a:ext>
            </a:extLst>
          </p:cNvPr>
          <p:cNvSpPr>
            <a:spLocks noChangeArrowheads="1"/>
          </p:cNvSpPr>
          <p:nvPr/>
        </p:nvSpPr>
        <p:spPr bwMode="auto">
          <a:xfrm rot="10800000">
            <a:off x="60775850" y="5626100"/>
            <a:ext cx="2147483647" cy="165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653499" tIns="-826750" rIns="-1653499" bIns="-826750" anchor="ctr">
            <a:spAutoFit/>
          </a:bodyPr>
          <a:lstStyle>
            <a:lvl1pPr defTabSz="-857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0" hangingPunct="0"/>
            <a:fld id="{900787E4-508C-0046-8004-F72E31237B48}" type="slidenum">
              <a:rPr lang="en-US" altLang="zh-CN"/>
              <a:pPr algn="r" eaLnBrk="0" hangingPunct="0"/>
              <a:t>‹#›</a:t>
            </a:fld>
            <a:endParaRPr lang="en-US" altLang="zh-CN"/>
          </a:p>
        </p:txBody>
      </p:sp>
    </p:spTree>
  </p:cSld>
  <p:clrMap bg1="lt1" tx1="dk1" bg2="lt2" tx2="dk2" accent1="accent1" accent2="accent2" accent3="accent3" accent4="accent4" accent5="accent5" accent6="accent6" hlink="hlink" folHlink="folHlink"/>
  <p:notesStyle>
    <a:lvl1pPr algn="l" defTabSz="4763"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114300" algn="l" defTabSz="4763"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228600" algn="l" defTabSz="4763"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342900" algn="l" defTabSz="4763"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457200" algn="l" defTabSz="4763"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3579B920-1D26-1800-8133-BC82AE357D40}"/>
              </a:ext>
            </a:extLst>
          </p:cNvPr>
          <p:cNvSpPr>
            <a:spLocks noGrp="1" noChangeArrowheads="1"/>
          </p:cNvSpPr>
          <p:nvPr>
            <p:ph type="sldNum" sz="quarter" idx="5"/>
          </p:nvPr>
        </p:nvSpPr>
        <p:spPr>
          <a:ln/>
        </p:spPr>
        <p:txBody>
          <a:bodyPr/>
          <a:lstStyle/>
          <a:p>
            <a:fld id="{F058A99B-0CD6-C04B-942E-E02AFB80B558}" type="slidenum">
              <a:rPr lang="en-US" altLang="zh-CN"/>
              <a:pPr/>
              <a:t>1</a:t>
            </a:fld>
            <a:endParaRPr lang="en-US" altLang="zh-CN"/>
          </a:p>
        </p:txBody>
      </p:sp>
      <p:sp>
        <p:nvSpPr>
          <p:cNvPr id="291842" name="Rectangle 2">
            <a:extLst>
              <a:ext uri="{FF2B5EF4-FFF2-40B4-BE49-F238E27FC236}">
                <a16:creationId xmlns:a16="http://schemas.microsoft.com/office/drawing/2014/main" id="{06B5A7F6-737A-26B3-1409-610E480FFE87}"/>
              </a:ext>
            </a:extLst>
          </p:cNvPr>
          <p:cNvSpPr>
            <a:spLocks noGrp="1" noChangeArrowheads="1"/>
          </p:cNvSpPr>
          <p:nvPr>
            <p:ph type="body" idx="1"/>
          </p:nvPr>
        </p:nvSpPr>
        <p:spPr>
          <a:noFill/>
          <a:ln/>
        </p:spPr>
        <p:txBody>
          <a:bodyPr/>
          <a:lstStyle/>
          <a:p>
            <a:r>
              <a:rPr lang="en-US" altLang="zh-CN"/>
              <a:t>ldhgf</a:t>
            </a:r>
          </a:p>
        </p:txBody>
      </p:sp>
      <p:sp>
        <p:nvSpPr>
          <p:cNvPr id="291843" name="Rectangle 3">
            <a:extLst>
              <a:ext uri="{FF2B5EF4-FFF2-40B4-BE49-F238E27FC236}">
                <a16:creationId xmlns:a16="http://schemas.microsoft.com/office/drawing/2014/main" id="{6607C172-4BA3-1196-D351-1424164B4E91}"/>
              </a:ext>
            </a:extLst>
          </p:cNvPr>
          <p:cNvSpPr>
            <a:spLocks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1234B26C-B7A0-5298-8C43-40458D3AD911}"/>
              </a:ext>
            </a:extLst>
          </p:cNvPr>
          <p:cNvSpPr>
            <a:spLocks noGrp="1" noChangeArrowheads="1"/>
          </p:cNvSpPr>
          <p:nvPr>
            <p:ph type="sldNum" sz="quarter" idx="5"/>
          </p:nvPr>
        </p:nvSpPr>
        <p:spPr>
          <a:ln/>
        </p:spPr>
        <p:txBody>
          <a:bodyPr/>
          <a:lstStyle/>
          <a:p>
            <a:fld id="{492EF9D4-7052-D94A-9777-DE1EFEAB3E81}" type="slidenum">
              <a:rPr lang="en-US" altLang="zh-CN"/>
              <a:pPr/>
              <a:t>2</a:t>
            </a:fld>
            <a:endParaRPr lang="en-US" altLang="zh-CN"/>
          </a:p>
        </p:txBody>
      </p:sp>
      <p:sp>
        <p:nvSpPr>
          <p:cNvPr id="390146" name="Rectangle 2">
            <a:extLst>
              <a:ext uri="{FF2B5EF4-FFF2-40B4-BE49-F238E27FC236}">
                <a16:creationId xmlns:a16="http://schemas.microsoft.com/office/drawing/2014/main" id="{0C34EBB0-0094-03F0-4739-2241B5115959}"/>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pPr eaLnBrk="0" hangingPunct="0"/>
            <a:r>
              <a:rPr lang="en-US" altLang="zh-CN" sz="100"/>
              <a:t>The objectives are: </a:t>
            </a:r>
          </a:p>
          <a:p>
            <a:pPr eaLnBrk="0" hangingPunct="0"/>
            <a:r>
              <a:rPr lang="en-US" altLang="zh-CN" sz="100"/>
              <a:t>First, to understand the neuromuscular and mechanical compensatory mechanisms for ACL injuries;</a:t>
            </a:r>
          </a:p>
          <a:p>
            <a:pPr eaLnBrk="0" hangingPunct="0"/>
            <a:r>
              <a:rPr lang="en-US" altLang="zh-CN" sz="100"/>
              <a:t>Secondly, to quantify individual muscles?roles in theadaptation process;</a:t>
            </a:r>
          </a:p>
          <a:p>
            <a:pPr eaLnBrk="0" hangingPunct="0"/>
            <a:r>
              <a:rPr lang="en-US" altLang="zh-CN" sz="100"/>
              <a:t>Third, to quantify joint dynamic properties in three orthogonal directions and to evaluate knee injury,surgery outcome, and  rehabilitation progress.</a:t>
            </a:r>
          </a:p>
          <a:p>
            <a:pPr eaLnBrk="0" hangingPunct="0"/>
            <a:r>
              <a:rPr lang="en-US" altLang="zh-CN" sz="100"/>
              <a:t>Fourth, to develop more effective rehabilitation procedure. The major features are to consider knee structures in 3D space, to consider muscles?function at the level of individual heads of muscles, and to strengthen muscle selectively and differentailly.</a:t>
            </a:r>
          </a:p>
        </p:txBody>
      </p:sp>
      <p:sp>
        <p:nvSpPr>
          <p:cNvPr id="390147" name="Rectangle 3">
            <a:extLst>
              <a:ext uri="{FF2B5EF4-FFF2-40B4-BE49-F238E27FC236}">
                <a16:creationId xmlns:a16="http://schemas.microsoft.com/office/drawing/2014/main" id="{23AD6252-7C83-F602-991F-E84CC37FBA5B}"/>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28FF5388-93B9-E366-E1E8-C3AFEB58BE8E}"/>
              </a:ext>
            </a:extLst>
          </p:cNvPr>
          <p:cNvSpPr>
            <a:spLocks noGrp="1" noChangeArrowheads="1"/>
          </p:cNvSpPr>
          <p:nvPr>
            <p:ph type="sldNum" sz="quarter" idx="5"/>
          </p:nvPr>
        </p:nvSpPr>
        <p:spPr>
          <a:ln/>
        </p:spPr>
        <p:txBody>
          <a:bodyPr/>
          <a:lstStyle/>
          <a:p>
            <a:fld id="{4609AC2B-C835-EA4D-AF9E-44C62EE97D30}" type="slidenum">
              <a:rPr lang="en-US" altLang="zh-CN"/>
              <a:pPr/>
              <a:t>3</a:t>
            </a:fld>
            <a:endParaRPr lang="en-US" altLang="zh-CN"/>
          </a:p>
        </p:txBody>
      </p:sp>
      <p:sp>
        <p:nvSpPr>
          <p:cNvPr id="338946" name="Rectangle 2">
            <a:extLst>
              <a:ext uri="{FF2B5EF4-FFF2-40B4-BE49-F238E27FC236}">
                <a16:creationId xmlns:a16="http://schemas.microsoft.com/office/drawing/2014/main" id="{DDBE0E5F-AE09-9588-312E-AC2CFFD7914D}"/>
              </a:ext>
            </a:extLst>
          </p:cNvPr>
          <p:cNvSpPr>
            <a:spLocks noGrp="1" noChangeArrowheads="1"/>
          </p:cNvSpPr>
          <p:nvPr>
            <p:ph type="body" idx="1"/>
          </p:nvPr>
        </p:nvSpPr>
        <p:spPr>
          <a:noFill/>
          <a:ln/>
        </p:spPr>
        <p:txBody>
          <a:bodyPr/>
          <a:lstStyle/>
          <a:p>
            <a:r>
              <a:rPr lang="en-US" altLang="zh-CN"/>
              <a:t>ldhgf</a:t>
            </a:r>
          </a:p>
        </p:txBody>
      </p:sp>
      <p:sp>
        <p:nvSpPr>
          <p:cNvPr id="338947" name="Rectangle 3">
            <a:extLst>
              <a:ext uri="{FF2B5EF4-FFF2-40B4-BE49-F238E27FC236}">
                <a16:creationId xmlns:a16="http://schemas.microsoft.com/office/drawing/2014/main" id="{AC50BB72-A45B-38FE-9FF0-880FF3FAB84F}"/>
              </a:ext>
            </a:extLst>
          </p:cNvPr>
          <p:cNvSpPr>
            <a:spLocks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01A27C54-E71F-6386-137A-43A1C0D25D2B}"/>
              </a:ext>
            </a:extLst>
          </p:cNvPr>
          <p:cNvSpPr>
            <a:spLocks noGrp="1" noChangeArrowheads="1"/>
          </p:cNvSpPr>
          <p:nvPr>
            <p:ph type="sldNum" sz="quarter" idx="5"/>
          </p:nvPr>
        </p:nvSpPr>
        <p:spPr>
          <a:ln/>
        </p:spPr>
        <p:txBody>
          <a:bodyPr/>
          <a:lstStyle/>
          <a:p>
            <a:fld id="{29DFC7A0-21A2-984F-A85B-7003E94DD585}" type="slidenum">
              <a:rPr lang="en-US" altLang="zh-CN"/>
              <a:pPr/>
              <a:t>4</a:t>
            </a:fld>
            <a:endParaRPr lang="en-US" altLang="zh-CN"/>
          </a:p>
        </p:txBody>
      </p:sp>
      <p:sp>
        <p:nvSpPr>
          <p:cNvPr id="655362" name="Rectangle 2">
            <a:extLst>
              <a:ext uri="{FF2B5EF4-FFF2-40B4-BE49-F238E27FC236}">
                <a16:creationId xmlns:a16="http://schemas.microsoft.com/office/drawing/2014/main" id="{5C807FEF-5BB9-F384-0121-9BA4ED597BD6}"/>
              </a:ext>
            </a:extLst>
          </p:cNvPr>
          <p:cNvSpPr>
            <a:spLocks noGrp="1" noChangeArrowheads="1"/>
          </p:cNvSpPr>
          <p:nvPr>
            <p:ph type="body" idx="1"/>
          </p:nvPr>
        </p:nvSpPr>
        <p:spPr>
          <a:noFill/>
          <a:ln/>
        </p:spPr>
        <p:txBody>
          <a:bodyPr/>
          <a:lstStyle/>
          <a:p>
            <a:r>
              <a:rPr lang="en-US" altLang="zh-CN"/>
              <a:t>ldhgf</a:t>
            </a:r>
          </a:p>
        </p:txBody>
      </p:sp>
      <p:sp>
        <p:nvSpPr>
          <p:cNvPr id="655363" name="Rectangle 3">
            <a:extLst>
              <a:ext uri="{FF2B5EF4-FFF2-40B4-BE49-F238E27FC236}">
                <a16:creationId xmlns:a16="http://schemas.microsoft.com/office/drawing/2014/main" id="{952FC1E3-4D30-D58E-BB1C-FA40C2E89259}"/>
              </a:ext>
            </a:extLst>
          </p:cNvPr>
          <p:cNvSpPr>
            <a:spLocks noChangeArrowheads="1" noTextEdit="1"/>
          </p:cNvSpPr>
          <p:nvPr>
            <p:ph type="sldImg"/>
          </p:nvPr>
        </p:nvSpPr>
        <p:spPr>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8EA3AA85-9E83-F7D3-ED01-B90C7C82555F}"/>
              </a:ext>
            </a:extLst>
          </p:cNvPr>
          <p:cNvSpPr>
            <a:spLocks noGrp="1" noChangeArrowheads="1"/>
          </p:cNvSpPr>
          <p:nvPr>
            <p:ph type="sldNum" sz="quarter" idx="5"/>
          </p:nvPr>
        </p:nvSpPr>
        <p:spPr>
          <a:ln/>
        </p:spPr>
        <p:txBody>
          <a:bodyPr/>
          <a:lstStyle/>
          <a:p>
            <a:fld id="{16901313-03C4-F643-92A1-22A69099273A}" type="slidenum">
              <a:rPr lang="en-US" altLang="zh-CN"/>
              <a:pPr/>
              <a:t>5</a:t>
            </a:fld>
            <a:endParaRPr lang="en-US" altLang="zh-CN"/>
          </a:p>
        </p:txBody>
      </p:sp>
      <p:sp>
        <p:nvSpPr>
          <p:cNvPr id="653314" name="Rectangle 2">
            <a:extLst>
              <a:ext uri="{FF2B5EF4-FFF2-40B4-BE49-F238E27FC236}">
                <a16:creationId xmlns:a16="http://schemas.microsoft.com/office/drawing/2014/main" id="{7F8BF3FF-2FA6-5E72-D354-D36CAF2E9EA3}"/>
              </a:ext>
            </a:extLst>
          </p:cNvPr>
          <p:cNvSpPr>
            <a:spLocks noGrp="1" noChangeArrowheads="1"/>
          </p:cNvSpPr>
          <p:nvPr>
            <p:ph type="body" idx="1"/>
          </p:nvPr>
        </p:nvSpPr>
        <p:spPr>
          <a:noFill/>
          <a:ln/>
        </p:spPr>
        <p:txBody>
          <a:bodyPr/>
          <a:lstStyle/>
          <a:p>
            <a:r>
              <a:rPr lang="en-US" altLang="zh-CN"/>
              <a:t>ldhgf</a:t>
            </a:r>
          </a:p>
        </p:txBody>
      </p:sp>
      <p:sp>
        <p:nvSpPr>
          <p:cNvPr id="653315" name="Rectangle 3">
            <a:extLst>
              <a:ext uri="{FF2B5EF4-FFF2-40B4-BE49-F238E27FC236}">
                <a16:creationId xmlns:a16="http://schemas.microsoft.com/office/drawing/2014/main" id="{2FE2EA77-F4D2-861B-18CE-12C7A95DA329}"/>
              </a:ext>
            </a:extLst>
          </p:cNvPr>
          <p:cNvSpPr>
            <a:spLocks noChangeArrowheads="1" noTextEdit="1"/>
          </p:cNvSpPr>
          <p:nvPr>
            <p:ph type="sldImg"/>
          </p:nvPr>
        </p:nvSpPr>
        <p:spPr>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86B4F9A3-BB10-106C-297F-1FD8776DA955}"/>
              </a:ext>
            </a:extLst>
          </p:cNvPr>
          <p:cNvSpPr>
            <a:spLocks noGrp="1" noChangeArrowheads="1"/>
          </p:cNvSpPr>
          <p:nvPr>
            <p:ph type="sldNum" sz="quarter" idx="5"/>
          </p:nvPr>
        </p:nvSpPr>
        <p:spPr>
          <a:ln/>
        </p:spPr>
        <p:txBody>
          <a:bodyPr/>
          <a:lstStyle/>
          <a:p>
            <a:fld id="{C0A8362E-B096-D244-884F-BFAB53E3AD39}" type="slidenum">
              <a:rPr lang="en-US" altLang="zh-CN"/>
              <a:pPr/>
              <a:t>6</a:t>
            </a:fld>
            <a:endParaRPr lang="en-US" altLang="zh-CN"/>
          </a:p>
        </p:txBody>
      </p:sp>
      <p:sp>
        <p:nvSpPr>
          <p:cNvPr id="177154" name="Rectangle 2">
            <a:extLst>
              <a:ext uri="{FF2B5EF4-FFF2-40B4-BE49-F238E27FC236}">
                <a16:creationId xmlns:a16="http://schemas.microsoft.com/office/drawing/2014/main" id="{5AA767FC-592A-4B41-D2AE-E5ECA2E4A824}"/>
              </a:ext>
            </a:extLst>
          </p:cNvPr>
          <p:cNvSpPr>
            <a:spLocks noGrp="1" noChangeArrowheads="1"/>
          </p:cNvSpPr>
          <p:nvPr>
            <p:ph type="body" idx="1"/>
          </p:nvPr>
        </p:nvSpPr>
        <p:spPr>
          <a:noFill/>
          <a:ln/>
        </p:spPr>
        <p:txBody>
          <a:bodyPr/>
          <a:lstStyle/>
          <a:p>
            <a:r>
              <a:rPr lang="en-US" altLang="zh-CN"/>
              <a:t>ldhgf</a:t>
            </a:r>
          </a:p>
        </p:txBody>
      </p:sp>
      <p:sp>
        <p:nvSpPr>
          <p:cNvPr id="177155" name="Rectangle 3">
            <a:extLst>
              <a:ext uri="{FF2B5EF4-FFF2-40B4-BE49-F238E27FC236}">
                <a16:creationId xmlns:a16="http://schemas.microsoft.com/office/drawing/2014/main" id="{C5C4E70F-D96C-D4D9-939E-28F394A6BCE8}"/>
              </a:ext>
            </a:extLst>
          </p:cNvPr>
          <p:cNvSpPr>
            <a:spLocks noChangeArrowheads="1" noTextEdit="1"/>
          </p:cNvSpPr>
          <p:nvPr>
            <p:ph type="sldImg"/>
          </p:nvPr>
        </p:nvSpPr>
        <p:spPr>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FA795B32-D243-67D3-A2BD-21803200A8BC}"/>
              </a:ext>
            </a:extLst>
          </p:cNvPr>
          <p:cNvSpPr>
            <a:spLocks noGrp="1" noChangeArrowheads="1"/>
          </p:cNvSpPr>
          <p:nvPr>
            <p:ph type="sldNum" sz="quarter" idx="5"/>
          </p:nvPr>
        </p:nvSpPr>
        <p:spPr>
          <a:ln/>
        </p:spPr>
        <p:txBody>
          <a:bodyPr/>
          <a:lstStyle/>
          <a:p>
            <a:fld id="{A9BE96BF-514B-6745-B0FF-D7C216247E42}" type="slidenum">
              <a:rPr lang="en-US" altLang="zh-CN"/>
              <a:pPr/>
              <a:t>7</a:t>
            </a:fld>
            <a:endParaRPr lang="en-US" altLang="zh-CN"/>
          </a:p>
        </p:txBody>
      </p:sp>
      <p:sp>
        <p:nvSpPr>
          <p:cNvPr id="657410" name="Rectangle 2">
            <a:extLst>
              <a:ext uri="{FF2B5EF4-FFF2-40B4-BE49-F238E27FC236}">
                <a16:creationId xmlns:a16="http://schemas.microsoft.com/office/drawing/2014/main" id="{66739A22-9C0B-02D9-EB0F-9A7E9C14F75B}"/>
              </a:ext>
            </a:extLst>
          </p:cNvPr>
          <p:cNvSpPr>
            <a:spLocks noGrp="1" noChangeArrowheads="1"/>
          </p:cNvSpPr>
          <p:nvPr>
            <p:ph type="body" idx="1"/>
          </p:nvPr>
        </p:nvSpPr>
        <p:spPr>
          <a:noFill/>
          <a:ln/>
        </p:spPr>
        <p:txBody>
          <a:bodyPr/>
          <a:lstStyle/>
          <a:p>
            <a:r>
              <a:rPr lang="en-US" altLang="zh-CN"/>
              <a:t>ldhgf</a:t>
            </a:r>
          </a:p>
        </p:txBody>
      </p:sp>
      <p:sp>
        <p:nvSpPr>
          <p:cNvPr id="657411" name="Rectangle 3">
            <a:extLst>
              <a:ext uri="{FF2B5EF4-FFF2-40B4-BE49-F238E27FC236}">
                <a16:creationId xmlns:a16="http://schemas.microsoft.com/office/drawing/2014/main" id="{74D8C7AD-858D-0F95-495C-4511B50647A7}"/>
              </a:ext>
            </a:extLst>
          </p:cNvPr>
          <p:cNvSpPr>
            <a:spLocks noChangeArrowheads="1" noTextEdit="1"/>
          </p:cNvSpPr>
          <p:nvPr>
            <p:ph type="sldImg"/>
          </p:nvPr>
        </p:nvSpPr>
        <p:spPr>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D019C2E3-8542-6332-134B-354332686435}"/>
              </a:ext>
            </a:extLst>
          </p:cNvPr>
          <p:cNvSpPr>
            <a:spLocks noGrp="1" noChangeArrowheads="1"/>
          </p:cNvSpPr>
          <p:nvPr>
            <p:ph type="sldNum" sz="quarter" idx="5"/>
          </p:nvPr>
        </p:nvSpPr>
        <p:spPr>
          <a:ln/>
        </p:spPr>
        <p:txBody>
          <a:bodyPr/>
          <a:lstStyle/>
          <a:p>
            <a:fld id="{79756BDD-4901-D745-9885-4612942ACF52}" type="slidenum">
              <a:rPr lang="en-US" altLang="zh-CN"/>
              <a:pPr/>
              <a:t>8</a:t>
            </a:fld>
            <a:endParaRPr lang="en-US" altLang="zh-CN"/>
          </a:p>
        </p:txBody>
      </p:sp>
      <p:sp>
        <p:nvSpPr>
          <p:cNvPr id="659458" name="Rectangle 2">
            <a:extLst>
              <a:ext uri="{FF2B5EF4-FFF2-40B4-BE49-F238E27FC236}">
                <a16:creationId xmlns:a16="http://schemas.microsoft.com/office/drawing/2014/main" id="{516F7988-E5BD-ECFD-EE54-674225FA8607}"/>
              </a:ext>
            </a:extLst>
          </p:cNvPr>
          <p:cNvSpPr>
            <a:spLocks noGrp="1" noChangeArrowheads="1"/>
          </p:cNvSpPr>
          <p:nvPr>
            <p:ph type="body" idx="1"/>
          </p:nvPr>
        </p:nvSpPr>
        <p:spPr>
          <a:noFill/>
          <a:ln/>
        </p:spPr>
        <p:txBody>
          <a:bodyPr/>
          <a:lstStyle/>
          <a:p>
            <a:r>
              <a:rPr lang="en-US" altLang="zh-CN"/>
              <a:t>ldhgf</a:t>
            </a:r>
          </a:p>
        </p:txBody>
      </p:sp>
      <p:sp>
        <p:nvSpPr>
          <p:cNvPr id="659459" name="Rectangle 3">
            <a:extLst>
              <a:ext uri="{FF2B5EF4-FFF2-40B4-BE49-F238E27FC236}">
                <a16:creationId xmlns:a16="http://schemas.microsoft.com/office/drawing/2014/main" id="{962E45CF-F8E8-B35E-76A2-35A4EC06646F}"/>
              </a:ext>
            </a:extLst>
          </p:cNvPr>
          <p:cNvSpPr>
            <a:spLocks noChangeArrowheads="1" noTextEdit="1"/>
          </p:cNvSpPr>
          <p:nvPr>
            <p:ph type="sldImg"/>
          </p:nvPr>
        </p:nvSpPr>
        <p:spPr>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FA670BCC-D37E-DFB8-526E-DDF48A8DAC8F}"/>
              </a:ext>
            </a:extLst>
          </p:cNvPr>
          <p:cNvSpPr>
            <a:spLocks noGrp="1" noChangeArrowheads="1"/>
          </p:cNvSpPr>
          <p:nvPr>
            <p:ph type="sldNum" sz="quarter" idx="5"/>
          </p:nvPr>
        </p:nvSpPr>
        <p:spPr>
          <a:ln/>
        </p:spPr>
        <p:txBody>
          <a:bodyPr/>
          <a:lstStyle/>
          <a:p>
            <a:fld id="{54902CB9-CDC5-DC4D-A0F0-4A513A76B7C0}" type="slidenum">
              <a:rPr lang="en-US" altLang="zh-CN"/>
              <a:pPr/>
              <a:t>9</a:t>
            </a:fld>
            <a:endParaRPr lang="en-US" altLang="zh-CN"/>
          </a:p>
        </p:txBody>
      </p:sp>
      <p:sp>
        <p:nvSpPr>
          <p:cNvPr id="708610" name="Rectangle 2">
            <a:extLst>
              <a:ext uri="{FF2B5EF4-FFF2-40B4-BE49-F238E27FC236}">
                <a16:creationId xmlns:a16="http://schemas.microsoft.com/office/drawing/2014/main" id="{3E4978BD-1335-F50F-6B3F-BE5EBA293313}"/>
              </a:ext>
            </a:extLst>
          </p:cNvPr>
          <p:cNvSpPr>
            <a:spLocks noGrp="1" noChangeArrowheads="1"/>
          </p:cNvSpPr>
          <p:nvPr>
            <p:ph type="body" idx="1"/>
          </p:nvPr>
        </p:nvSpPr>
        <p:spPr>
          <a:noFill/>
          <a:ln/>
        </p:spPr>
        <p:txBody>
          <a:bodyPr/>
          <a:lstStyle/>
          <a:p>
            <a:r>
              <a:rPr lang="en-US" altLang="zh-CN"/>
              <a:t>ldhgf</a:t>
            </a:r>
          </a:p>
        </p:txBody>
      </p:sp>
      <p:sp>
        <p:nvSpPr>
          <p:cNvPr id="708611" name="Rectangle 3">
            <a:extLst>
              <a:ext uri="{FF2B5EF4-FFF2-40B4-BE49-F238E27FC236}">
                <a16:creationId xmlns:a16="http://schemas.microsoft.com/office/drawing/2014/main" id="{5842C7EE-C298-E199-0F82-8C91C6F006BF}"/>
              </a:ext>
            </a:extLst>
          </p:cNvPr>
          <p:cNvSpPr>
            <a:spLocks noChangeArrowheads="1" noTextEdit="1"/>
          </p:cNvSpPr>
          <p:nvPr>
            <p:ph type="sldImg"/>
          </p:nvPr>
        </p:nvSpPr>
        <p:spPr>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8789D683-B2BC-12FB-A50C-857D2D1F5F1D}"/>
              </a:ext>
            </a:extLst>
          </p:cNvPr>
          <p:cNvSpPr>
            <a:spLocks noGrp="1" noChangeArrowheads="1"/>
          </p:cNvSpPr>
          <p:nvPr>
            <p:ph type="sldNum" sz="quarter" idx="5"/>
          </p:nvPr>
        </p:nvSpPr>
        <p:spPr>
          <a:ln/>
        </p:spPr>
        <p:txBody>
          <a:bodyPr/>
          <a:lstStyle/>
          <a:p>
            <a:fld id="{E7A74515-4F30-264A-A452-DDE33A778E4D}" type="slidenum">
              <a:rPr lang="en-US" altLang="zh-CN"/>
              <a:pPr/>
              <a:t>10</a:t>
            </a:fld>
            <a:endParaRPr lang="en-US" altLang="zh-CN"/>
          </a:p>
        </p:txBody>
      </p:sp>
      <p:sp>
        <p:nvSpPr>
          <p:cNvPr id="661506" name="Rectangle 2">
            <a:extLst>
              <a:ext uri="{FF2B5EF4-FFF2-40B4-BE49-F238E27FC236}">
                <a16:creationId xmlns:a16="http://schemas.microsoft.com/office/drawing/2014/main" id="{9636F1DD-D28F-28FB-9245-D8E8C85B4A91}"/>
              </a:ext>
            </a:extLst>
          </p:cNvPr>
          <p:cNvSpPr>
            <a:spLocks noGrp="1" noChangeArrowheads="1"/>
          </p:cNvSpPr>
          <p:nvPr>
            <p:ph type="body" idx="1"/>
          </p:nvPr>
        </p:nvSpPr>
        <p:spPr>
          <a:noFill/>
          <a:ln/>
        </p:spPr>
        <p:txBody>
          <a:bodyPr/>
          <a:lstStyle/>
          <a:p>
            <a:r>
              <a:rPr lang="en-US" altLang="zh-CN"/>
              <a:t>ldhgf</a:t>
            </a:r>
          </a:p>
        </p:txBody>
      </p:sp>
      <p:sp>
        <p:nvSpPr>
          <p:cNvPr id="661507" name="Rectangle 3">
            <a:extLst>
              <a:ext uri="{FF2B5EF4-FFF2-40B4-BE49-F238E27FC236}">
                <a16:creationId xmlns:a16="http://schemas.microsoft.com/office/drawing/2014/main" id="{36CDF32B-FF90-71B2-FADD-E22482046605}"/>
              </a:ext>
            </a:extLst>
          </p:cNvPr>
          <p:cNvSpPr>
            <a:spLocks noChangeArrowheads="1" noTextEdit="1"/>
          </p:cNvSpPr>
          <p:nvPr>
            <p:ph type="sldImg"/>
          </p:nvPr>
        </p:nvSpPr>
        <p:spPr>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F6B215C4-F883-809B-66B2-102D27D1F5F7}"/>
              </a:ext>
            </a:extLst>
          </p:cNvPr>
          <p:cNvSpPr>
            <a:spLocks noGrp="1" noChangeArrowheads="1"/>
          </p:cNvSpPr>
          <p:nvPr>
            <p:ph type="sldNum" sz="quarter" idx="5"/>
          </p:nvPr>
        </p:nvSpPr>
        <p:spPr>
          <a:ln/>
        </p:spPr>
        <p:txBody>
          <a:bodyPr/>
          <a:lstStyle/>
          <a:p>
            <a:fld id="{7E5D9A22-9B61-434D-98AA-A602E990C362}" type="slidenum">
              <a:rPr lang="en-US" altLang="zh-CN"/>
              <a:pPr/>
              <a:t>11</a:t>
            </a:fld>
            <a:endParaRPr lang="en-US" altLang="zh-CN"/>
          </a:p>
        </p:txBody>
      </p:sp>
      <p:sp>
        <p:nvSpPr>
          <p:cNvPr id="463874" name="Rectangle 2">
            <a:extLst>
              <a:ext uri="{FF2B5EF4-FFF2-40B4-BE49-F238E27FC236}">
                <a16:creationId xmlns:a16="http://schemas.microsoft.com/office/drawing/2014/main" id="{76CE1E7B-2F6A-48EA-CB79-94F00A9D8708}"/>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463875" name="Rectangle 3">
            <a:extLst>
              <a:ext uri="{FF2B5EF4-FFF2-40B4-BE49-F238E27FC236}">
                <a16:creationId xmlns:a16="http://schemas.microsoft.com/office/drawing/2014/main" id="{A3C86E8E-FF6D-61BC-4A96-402B4FBF055B}"/>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5314207E-EFBD-C455-233D-F6C0002719CD}"/>
              </a:ext>
            </a:extLst>
          </p:cNvPr>
          <p:cNvSpPr>
            <a:spLocks noGrp="1" noChangeArrowheads="1"/>
          </p:cNvSpPr>
          <p:nvPr>
            <p:ph type="sldNum" sz="quarter" idx="5"/>
          </p:nvPr>
        </p:nvSpPr>
        <p:spPr>
          <a:ln/>
        </p:spPr>
        <p:txBody>
          <a:bodyPr/>
          <a:lstStyle/>
          <a:p>
            <a:fld id="{3CB2384C-DE0D-DC4E-92A6-E21C5314D624}" type="slidenum">
              <a:rPr lang="en-US" altLang="zh-CN"/>
              <a:pPr/>
              <a:t>12</a:t>
            </a:fld>
            <a:endParaRPr lang="en-US" altLang="zh-CN"/>
          </a:p>
        </p:txBody>
      </p:sp>
      <p:sp>
        <p:nvSpPr>
          <p:cNvPr id="465922" name="Rectangle 2">
            <a:extLst>
              <a:ext uri="{FF2B5EF4-FFF2-40B4-BE49-F238E27FC236}">
                <a16:creationId xmlns:a16="http://schemas.microsoft.com/office/drawing/2014/main" id="{965E43F5-FC70-B69A-E04A-57166D711AB0}"/>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465923" name="Rectangle 3">
            <a:extLst>
              <a:ext uri="{FF2B5EF4-FFF2-40B4-BE49-F238E27FC236}">
                <a16:creationId xmlns:a16="http://schemas.microsoft.com/office/drawing/2014/main" id="{0A6BAF9C-A32B-73AF-DD39-3E2DCF373DCF}"/>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F2E5089C-934E-C2B2-0C49-EEBE1E05CC34}"/>
              </a:ext>
            </a:extLst>
          </p:cNvPr>
          <p:cNvSpPr>
            <a:spLocks noGrp="1" noChangeArrowheads="1"/>
          </p:cNvSpPr>
          <p:nvPr>
            <p:ph type="sldNum" sz="quarter" idx="5"/>
          </p:nvPr>
        </p:nvSpPr>
        <p:spPr>
          <a:ln/>
        </p:spPr>
        <p:txBody>
          <a:bodyPr/>
          <a:lstStyle/>
          <a:p>
            <a:fld id="{66F9DE4A-8BED-B34B-9E9A-258C510A6CD0}" type="slidenum">
              <a:rPr lang="en-US" altLang="zh-CN"/>
              <a:pPr/>
              <a:t>13</a:t>
            </a:fld>
            <a:endParaRPr lang="en-US" altLang="zh-CN"/>
          </a:p>
        </p:txBody>
      </p:sp>
      <p:sp>
        <p:nvSpPr>
          <p:cNvPr id="439298" name="Rectangle 2">
            <a:extLst>
              <a:ext uri="{FF2B5EF4-FFF2-40B4-BE49-F238E27FC236}">
                <a16:creationId xmlns:a16="http://schemas.microsoft.com/office/drawing/2014/main" id="{EC8D2BD1-AFEF-B197-1B2E-F69BEB25DDCF}"/>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439299" name="Rectangle 3">
            <a:extLst>
              <a:ext uri="{FF2B5EF4-FFF2-40B4-BE49-F238E27FC236}">
                <a16:creationId xmlns:a16="http://schemas.microsoft.com/office/drawing/2014/main" id="{345A70E9-F9BB-50B0-9CCD-C70E3669FFC2}"/>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7FDBFF19-4877-1614-97B3-82DE8757126D}"/>
              </a:ext>
            </a:extLst>
          </p:cNvPr>
          <p:cNvSpPr>
            <a:spLocks noGrp="1" noChangeArrowheads="1"/>
          </p:cNvSpPr>
          <p:nvPr>
            <p:ph type="sldNum" sz="quarter" idx="5"/>
          </p:nvPr>
        </p:nvSpPr>
        <p:spPr>
          <a:ln/>
        </p:spPr>
        <p:txBody>
          <a:bodyPr/>
          <a:lstStyle/>
          <a:p>
            <a:fld id="{6EB1FE67-82F7-644B-9EC2-95487B1CF1BD}" type="slidenum">
              <a:rPr lang="en-US" altLang="zh-CN"/>
              <a:pPr/>
              <a:t>14</a:t>
            </a:fld>
            <a:endParaRPr lang="en-US" altLang="zh-CN"/>
          </a:p>
        </p:txBody>
      </p:sp>
      <p:sp>
        <p:nvSpPr>
          <p:cNvPr id="666626" name="Rectangle 2">
            <a:extLst>
              <a:ext uri="{FF2B5EF4-FFF2-40B4-BE49-F238E27FC236}">
                <a16:creationId xmlns:a16="http://schemas.microsoft.com/office/drawing/2014/main" id="{58C304D9-7300-BCDC-F916-E41F72FDD25A}"/>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66627" name="Rectangle 3">
            <a:extLst>
              <a:ext uri="{FF2B5EF4-FFF2-40B4-BE49-F238E27FC236}">
                <a16:creationId xmlns:a16="http://schemas.microsoft.com/office/drawing/2014/main" id="{EDB4E417-562E-BC51-4071-C6E20E2DDC9B}"/>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AABCBC21-8E5B-8EFA-8E78-5024D2A02EBB}"/>
              </a:ext>
            </a:extLst>
          </p:cNvPr>
          <p:cNvSpPr>
            <a:spLocks noGrp="1" noChangeArrowheads="1"/>
          </p:cNvSpPr>
          <p:nvPr>
            <p:ph type="sldNum" sz="quarter" idx="5"/>
          </p:nvPr>
        </p:nvSpPr>
        <p:spPr>
          <a:ln/>
        </p:spPr>
        <p:txBody>
          <a:bodyPr/>
          <a:lstStyle/>
          <a:p>
            <a:fld id="{9DCEC8D2-B38E-5F43-81AB-4862BB3CC267}" type="slidenum">
              <a:rPr lang="en-US" altLang="zh-CN"/>
              <a:pPr/>
              <a:t>15</a:t>
            </a:fld>
            <a:endParaRPr lang="en-US" altLang="zh-CN"/>
          </a:p>
        </p:txBody>
      </p:sp>
      <p:sp>
        <p:nvSpPr>
          <p:cNvPr id="668674" name="Rectangle 2">
            <a:extLst>
              <a:ext uri="{FF2B5EF4-FFF2-40B4-BE49-F238E27FC236}">
                <a16:creationId xmlns:a16="http://schemas.microsoft.com/office/drawing/2014/main" id="{B72419CC-F9D0-6197-F144-6C4FFF6B3CB7}"/>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68675" name="Rectangle 3">
            <a:extLst>
              <a:ext uri="{FF2B5EF4-FFF2-40B4-BE49-F238E27FC236}">
                <a16:creationId xmlns:a16="http://schemas.microsoft.com/office/drawing/2014/main" id="{6F5D2A1B-C51B-6D8C-CE77-15D692303E55}"/>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0F48C35C-337E-63E0-F32E-F5928E00A5D3}"/>
              </a:ext>
            </a:extLst>
          </p:cNvPr>
          <p:cNvSpPr>
            <a:spLocks noGrp="1" noChangeArrowheads="1"/>
          </p:cNvSpPr>
          <p:nvPr>
            <p:ph type="sldNum" sz="quarter" idx="5"/>
          </p:nvPr>
        </p:nvSpPr>
        <p:spPr>
          <a:ln/>
        </p:spPr>
        <p:txBody>
          <a:bodyPr/>
          <a:lstStyle/>
          <a:p>
            <a:fld id="{7EB2C53B-32DD-5C41-BD2B-2557537BA0A3}" type="slidenum">
              <a:rPr lang="en-US" altLang="zh-CN"/>
              <a:pPr/>
              <a:t>16</a:t>
            </a:fld>
            <a:endParaRPr lang="en-US" altLang="zh-CN"/>
          </a:p>
        </p:txBody>
      </p:sp>
      <p:sp>
        <p:nvSpPr>
          <p:cNvPr id="673794" name="Rectangle 2">
            <a:extLst>
              <a:ext uri="{FF2B5EF4-FFF2-40B4-BE49-F238E27FC236}">
                <a16:creationId xmlns:a16="http://schemas.microsoft.com/office/drawing/2014/main" id="{F2D04BD8-CC2A-E353-EE09-68ABE43FD730}"/>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73795" name="Rectangle 3">
            <a:extLst>
              <a:ext uri="{FF2B5EF4-FFF2-40B4-BE49-F238E27FC236}">
                <a16:creationId xmlns:a16="http://schemas.microsoft.com/office/drawing/2014/main" id="{A3B09D45-5872-D515-9D97-96BE92E1A183}"/>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31E0129E-02B3-3834-707A-87CB5F8EDDC1}"/>
              </a:ext>
            </a:extLst>
          </p:cNvPr>
          <p:cNvSpPr>
            <a:spLocks noGrp="1" noChangeArrowheads="1"/>
          </p:cNvSpPr>
          <p:nvPr>
            <p:ph type="sldNum" sz="quarter" idx="5"/>
          </p:nvPr>
        </p:nvSpPr>
        <p:spPr>
          <a:ln/>
        </p:spPr>
        <p:txBody>
          <a:bodyPr/>
          <a:lstStyle/>
          <a:p>
            <a:fld id="{C8440BA2-434B-7648-8FCB-E96527C95A21}" type="slidenum">
              <a:rPr lang="en-US" altLang="zh-CN"/>
              <a:pPr/>
              <a:t>17</a:t>
            </a:fld>
            <a:endParaRPr lang="en-US" altLang="zh-CN"/>
          </a:p>
        </p:txBody>
      </p:sp>
      <p:sp>
        <p:nvSpPr>
          <p:cNvPr id="478210" name="Rectangle 2">
            <a:extLst>
              <a:ext uri="{FF2B5EF4-FFF2-40B4-BE49-F238E27FC236}">
                <a16:creationId xmlns:a16="http://schemas.microsoft.com/office/drawing/2014/main" id="{6A84918F-DD30-EF0C-BDC0-F7B4426ACA8D}"/>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478211" name="Rectangle 3">
            <a:extLst>
              <a:ext uri="{FF2B5EF4-FFF2-40B4-BE49-F238E27FC236}">
                <a16:creationId xmlns:a16="http://schemas.microsoft.com/office/drawing/2014/main" id="{4FA91630-D687-D2EE-D140-5C56764ABDC4}"/>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557B1DFE-63C9-6BE3-A274-948D12B616F4}"/>
              </a:ext>
            </a:extLst>
          </p:cNvPr>
          <p:cNvSpPr>
            <a:spLocks noGrp="1" noChangeArrowheads="1"/>
          </p:cNvSpPr>
          <p:nvPr>
            <p:ph type="sldNum" sz="quarter" idx="5"/>
          </p:nvPr>
        </p:nvSpPr>
        <p:spPr>
          <a:ln/>
        </p:spPr>
        <p:txBody>
          <a:bodyPr/>
          <a:lstStyle/>
          <a:p>
            <a:fld id="{255B995B-8D02-2844-9885-AE05502EF37A}" type="slidenum">
              <a:rPr lang="en-US" altLang="zh-CN"/>
              <a:pPr/>
              <a:t>18</a:t>
            </a:fld>
            <a:endParaRPr lang="en-US" altLang="zh-CN"/>
          </a:p>
        </p:txBody>
      </p:sp>
      <p:sp>
        <p:nvSpPr>
          <p:cNvPr id="711682" name="Rectangle 2">
            <a:extLst>
              <a:ext uri="{FF2B5EF4-FFF2-40B4-BE49-F238E27FC236}">
                <a16:creationId xmlns:a16="http://schemas.microsoft.com/office/drawing/2014/main" id="{E1E775AF-97C4-7B57-4774-2ADC3901018F}"/>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711683" name="Rectangle 3">
            <a:extLst>
              <a:ext uri="{FF2B5EF4-FFF2-40B4-BE49-F238E27FC236}">
                <a16:creationId xmlns:a16="http://schemas.microsoft.com/office/drawing/2014/main" id="{8FE6E78C-FD72-680C-7DB2-3FEE86DE515A}"/>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53141640-C329-BD9C-F59A-FE02B540BE20}"/>
              </a:ext>
            </a:extLst>
          </p:cNvPr>
          <p:cNvSpPr>
            <a:spLocks noGrp="1" noChangeArrowheads="1"/>
          </p:cNvSpPr>
          <p:nvPr>
            <p:ph type="sldNum" sz="quarter" idx="5"/>
          </p:nvPr>
        </p:nvSpPr>
        <p:spPr>
          <a:ln/>
        </p:spPr>
        <p:txBody>
          <a:bodyPr/>
          <a:lstStyle/>
          <a:p>
            <a:fld id="{8E27D617-2532-F143-B41B-9C9DC0755D3F}" type="slidenum">
              <a:rPr lang="en-US" altLang="zh-CN"/>
              <a:pPr/>
              <a:t>19</a:t>
            </a:fld>
            <a:endParaRPr lang="en-US" altLang="zh-CN"/>
          </a:p>
        </p:txBody>
      </p:sp>
      <p:sp>
        <p:nvSpPr>
          <p:cNvPr id="441346" name="Rectangle 2">
            <a:extLst>
              <a:ext uri="{FF2B5EF4-FFF2-40B4-BE49-F238E27FC236}">
                <a16:creationId xmlns:a16="http://schemas.microsoft.com/office/drawing/2014/main" id="{3D546DC5-07BF-413E-461D-775EDA7B5E54}"/>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441347" name="Rectangle 3">
            <a:extLst>
              <a:ext uri="{FF2B5EF4-FFF2-40B4-BE49-F238E27FC236}">
                <a16:creationId xmlns:a16="http://schemas.microsoft.com/office/drawing/2014/main" id="{2F7448F8-12B7-DBDC-D1C5-C3BAB51ECBCC}"/>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724AA070-6829-823D-BA5F-A9295CB0764A}"/>
              </a:ext>
            </a:extLst>
          </p:cNvPr>
          <p:cNvSpPr>
            <a:spLocks noGrp="1" noChangeArrowheads="1"/>
          </p:cNvSpPr>
          <p:nvPr>
            <p:ph type="sldNum" sz="quarter" idx="5"/>
          </p:nvPr>
        </p:nvSpPr>
        <p:spPr>
          <a:ln/>
        </p:spPr>
        <p:txBody>
          <a:bodyPr/>
          <a:lstStyle/>
          <a:p>
            <a:fld id="{4F741C7C-8BA5-BC4F-A61C-A499FC27D3CE}" type="slidenum">
              <a:rPr lang="en-US" altLang="zh-CN"/>
              <a:pPr/>
              <a:t>20</a:t>
            </a:fld>
            <a:endParaRPr lang="en-US" altLang="zh-CN"/>
          </a:p>
        </p:txBody>
      </p:sp>
      <p:sp>
        <p:nvSpPr>
          <p:cNvPr id="676866" name="Rectangle 2">
            <a:extLst>
              <a:ext uri="{FF2B5EF4-FFF2-40B4-BE49-F238E27FC236}">
                <a16:creationId xmlns:a16="http://schemas.microsoft.com/office/drawing/2014/main" id="{FD5F550B-7460-7C27-EE60-06F6E438B3D4}"/>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76867" name="Rectangle 3">
            <a:extLst>
              <a:ext uri="{FF2B5EF4-FFF2-40B4-BE49-F238E27FC236}">
                <a16:creationId xmlns:a16="http://schemas.microsoft.com/office/drawing/2014/main" id="{31F1FA6E-A6D8-01AA-C1EA-1F8D3BBFB46D}"/>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140C538E-EFA4-ED46-7116-4512D912AD4D}"/>
              </a:ext>
            </a:extLst>
          </p:cNvPr>
          <p:cNvSpPr>
            <a:spLocks noGrp="1" noChangeArrowheads="1"/>
          </p:cNvSpPr>
          <p:nvPr>
            <p:ph type="sldNum" sz="quarter" idx="5"/>
          </p:nvPr>
        </p:nvSpPr>
        <p:spPr>
          <a:ln/>
        </p:spPr>
        <p:txBody>
          <a:bodyPr/>
          <a:lstStyle/>
          <a:p>
            <a:fld id="{B3EE87D5-3220-CF4E-B687-0762F4729593}" type="slidenum">
              <a:rPr lang="en-US" altLang="zh-CN"/>
              <a:pPr/>
              <a:t>21</a:t>
            </a:fld>
            <a:endParaRPr lang="en-US" altLang="zh-CN"/>
          </a:p>
        </p:txBody>
      </p:sp>
      <p:sp>
        <p:nvSpPr>
          <p:cNvPr id="680962" name="Rectangle 2">
            <a:extLst>
              <a:ext uri="{FF2B5EF4-FFF2-40B4-BE49-F238E27FC236}">
                <a16:creationId xmlns:a16="http://schemas.microsoft.com/office/drawing/2014/main" id="{EC830753-953D-767F-DBE7-74A2A6EB0A11}"/>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80963" name="Rectangle 3">
            <a:extLst>
              <a:ext uri="{FF2B5EF4-FFF2-40B4-BE49-F238E27FC236}">
                <a16:creationId xmlns:a16="http://schemas.microsoft.com/office/drawing/2014/main" id="{707D89C6-19DE-528D-68B2-CAF28FA4C4BB}"/>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037A30B6-9E49-93AA-3770-18D760E59FD5}"/>
              </a:ext>
            </a:extLst>
          </p:cNvPr>
          <p:cNvSpPr>
            <a:spLocks noGrp="1" noChangeArrowheads="1"/>
          </p:cNvSpPr>
          <p:nvPr>
            <p:ph type="sldNum" sz="quarter" idx="5"/>
          </p:nvPr>
        </p:nvSpPr>
        <p:spPr>
          <a:ln/>
        </p:spPr>
        <p:txBody>
          <a:bodyPr/>
          <a:lstStyle/>
          <a:p>
            <a:fld id="{CB59F0D7-E750-E046-AE78-1CA80331954E}" type="slidenum">
              <a:rPr lang="en-US" altLang="zh-CN"/>
              <a:pPr/>
              <a:t>22</a:t>
            </a:fld>
            <a:endParaRPr lang="en-US" altLang="zh-CN"/>
          </a:p>
        </p:txBody>
      </p:sp>
      <p:sp>
        <p:nvSpPr>
          <p:cNvPr id="678914" name="Rectangle 2">
            <a:extLst>
              <a:ext uri="{FF2B5EF4-FFF2-40B4-BE49-F238E27FC236}">
                <a16:creationId xmlns:a16="http://schemas.microsoft.com/office/drawing/2014/main" id="{5C27DF29-9FD8-F5B1-6261-C8E2F1B9B117}"/>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78915" name="Rectangle 3">
            <a:extLst>
              <a:ext uri="{FF2B5EF4-FFF2-40B4-BE49-F238E27FC236}">
                <a16:creationId xmlns:a16="http://schemas.microsoft.com/office/drawing/2014/main" id="{C15215F3-6F3E-AD9E-55C8-770832A7A4AD}"/>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2E462EF4-B3BF-F332-3BAF-5AEB8CF1F979}"/>
              </a:ext>
            </a:extLst>
          </p:cNvPr>
          <p:cNvSpPr>
            <a:spLocks noGrp="1" noChangeArrowheads="1"/>
          </p:cNvSpPr>
          <p:nvPr>
            <p:ph type="sldNum" sz="quarter" idx="5"/>
          </p:nvPr>
        </p:nvSpPr>
        <p:spPr>
          <a:ln/>
        </p:spPr>
        <p:txBody>
          <a:bodyPr/>
          <a:lstStyle/>
          <a:p>
            <a:fld id="{870441AC-0FB0-A84A-A0C7-D0C02A5EE9C0}" type="slidenum">
              <a:rPr lang="en-US" altLang="zh-CN"/>
              <a:pPr/>
              <a:t>23</a:t>
            </a:fld>
            <a:endParaRPr lang="en-US" altLang="zh-CN"/>
          </a:p>
        </p:txBody>
      </p:sp>
      <p:sp>
        <p:nvSpPr>
          <p:cNvPr id="683010" name="Rectangle 2">
            <a:extLst>
              <a:ext uri="{FF2B5EF4-FFF2-40B4-BE49-F238E27FC236}">
                <a16:creationId xmlns:a16="http://schemas.microsoft.com/office/drawing/2014/main" id="{3D632137-255E-8712-A1A9-6170286FC382}"/>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83011" name="Rectangle 3">
            <a:extLst>
              <a:ext uri="{FF2B5EF4-FFF2-40B4-BE49-F238E27FC236}">
                <a16:creationId xmlns:a16="http://schemas.microsoft.com/office/drawing/2014/main" id="{9B00541F-D6D5-7BC0-B489-26081FC3E78B}"/>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380C175B-767E-083B-27FC-8CA4DEDC7CE5}"/>
              </a:ext>
            </a:extLst>
          </p:cNvPr>
          <p:cNvSpPr>
            <a:spLocks noGrp="1" noChangeArrowheads="1"/>
          </p:cNvSpPr>
          <p:nvPr>
            <p:ph type="sldNum" sz="quarter" idx="5"/>
          </p:nvPr>
        </p:nvSpPr>
        <p:spPr>
          <a:ln/>
        </p:spPr>
        <p:txBody>
          <a:bodyPr/>
          <a:lstStyle/>
          <a:p>
            <a:fld id="{0B330629-D664-CB43-A055-61A619387721}" type="slidenum">
              <a:rPr lang="en-US" altLang="zh-CN"/>
              <a:pPr/>
              <a:t>24</a:t>
            </a:fld>
            <a:endParaRPr lang="en-US" altLang="zh-CN"/>
          </a:p>
        </p:txBody>
      </p:sp>
      <p:sp>
        <p:nvSpPr>
          <p:cNvPr id="685058" name="Rectangle 2">
            <a:extLst>
              <a:ext uri="{FF2B5EF4-FFF2-40B4-BE49-F238E27FC236}">
                <a16:creationId xmlns:a16="http://schemas.microsoft.com/office/drawing/2014/main" id="{06835C14-422C-6AD8-167D-7A4DED8C3D85}"/>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85059" name="Rectangle 3">
            <a:extLst>
              <a:ext uri="{FF2B5EF4-FFF2-40B4-BE49-F238E27FC236}">
                <a16:creationId xmlns:a16="http://schemas.microsoft.com/office/drawing/2014/main" id="{3B0CD341-8C64-5B28-22AD-BD14003DFB57}"/>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ABA5FA35-831E-4945-7F87-0659BD01383A}"/>
              </a:ext>
            </a:extLst>
          </p:cNvPr>
          <p:cNvSpPr>
            <a:spLocks noGrp="1" noChangeArrowheads="1"/>
          </p:cNvSpPr>
          <p:nvPr>
            <p:ph type="sldNum" sz="quarter" idx="5"/>
          </p:nvPr>
        </p:nvSpPr>
        <p:spPr>
          <a:ln/>
        </p:spPr>
        <p:txBody>
          <a:bodyPr/>
          <a:lstStyle/>
          <a:p>
            <a:fld id="{07CB33C0-5217-A140-8489-4A0F4E67F57D}" type="slidenum">
              <a:rPr lang="en-US" altLang="zh-CN"/>
              <a:pPr/>
              <a:t>25</a:t>
            </a:fld>
            <a:endParaRPr lang="en-US" altLang="zh-CN"/>
          </a:p>
        </p:txBody>
      </p:sp>
      <p:sp>
        <p:nvSpPr>
          <p:cNvPr id="690178" name="Rectangle 2">
            <a:extLst>
              <a:ext uri="{FF2B5EF4-FFF2-40B4-BE49-F238E27FC236}">
                <a16:creationId xmlns:a16="http://schemas.microsoft.com/office/drawing/2014/main" id="{59F9FBB6-FEED-0D9F-62A2-35A6A5F891CB}"/>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690179" name="Rectangle 3">
            <a:extLst>
              <a:ext uri="{FF2B5EF4-FFF2-40B4-BE49-F238E27FC236}">
                <a16:creationId xmlns:a16="http://schemas.microsoft.com/office/drawing/2014/main" id="{5D366D8B-E7B2-6DD7-B3D1-68CDA4AF96A9}"/>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4E5165FA-DA98-A1CC-724C-8BCFA177252F}"/>
              </a:ext>
            </a:extLst>
          </p:cNvPr>
          <p:cNvSpPr>
            <a:spLocks noGrp="1" noChangeArrowheads="1"/>
          </p:cNvSpPr>
          <p:nvPr>
            <p:ph type="sldNum" sz="quarter" idx="5"/>
          </p:nvPr>
        </p:nvSpPr>
        <p:spPr>
          <a:ln/>
        </p:spPr>
        <p:txBody>
          <a:bodyPr/>
          <a:lstStyle/>
          <a:p>
            <a:fld id="{7097D633-3BF9-B443-9C8B-999227E39075}" type="slidenum">
              <a:rPr lang="en-US" altLang="zh-CN"/>
              <a:pPr/>
              <a:t>26</a:t>
            </a:fld>
            <a:endParaRPr lang="en-US" altLang="zh-CN"/>
          </a:p>
        </p:txBody>
      </p:sp>
      <p:sp>
        <p:nvSpPr>
          <p:cNvPr id="476162" name="Rectangle 2">
            <a:extLst>
              <a:ext uri="{FF2B5EF4-FFF2-40B4-BE49-F238E27FC236}">
                <a16:creationId xmlns:a16="http://schemas.microsoft.com/office/drawing/2014/main" id="{1993179B-C996-90FF-EC56-C4CA3E4995C6}"/>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476163" name="Rectangle 3">
            <a:extLst>
              <a:ext uri="{FF2B5EF4-FFF2-40B4-BE49-F238E27FC236}">
                <a16:creationId xmlns:a16="http://schemas.microsoft.com/office/drawing/2014/main" id="{91FB20CE-CFBF-BA0D-36FB-A83C0E8528AA}"/>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2D51E63E-E70C-E5D0-3660-A8396B033BE8}"/>
              </a:ext>
            </a:extLst>
          </p:cNvPr>
          <p:cNvSpPr>
            <a:spLocks noGrp="1" noChangeArrowheads="1"/>
          </p:cNvSpPr>
          <p:nvPr>
            <p:ph type="sldNum" sz="quarter" idx="5"/>
          </p:nvPr>
        </p:nvSpPr>
        <p:spPr>
          <a:ln/>
        </p:spPr>
        <p:txBody>
          <a:bodyPr/>
          <a:lstStyle/>
          <a:p>
            <a:fld id="{A6749F3E-20B1-0649-80D6-944EDB2B2184}" type="slidenum">
              <a:rPr lang="en-US" altLang="zh-CN"/>
              <a:pPr/>
              <a:t>27</a:t>
            </a:fld>
            <a:endParaRPr lang="en-US" altLang="zh-CN"/>
          </a:p>
        </p:txBody>
      </p:sp>
      <p:sp>
        <p:nvSpPr>
          <p:cNvPr id="445442" name="Rectangle 2">
            <a:extLst>
              <a:ext uri="{FF2B5EF4-FFF2-40B4-BE49-F238E27FC236}">
                <a16:creationId xmlns:a16="http://schemas.microsoft.com/office/drawing/2014/main" id="{F0C112D9-4D84-5257-7F30-AB51B9DA0AA0}"/>
              </a:ext>
            </a:extLst>
          </p:cNvPr>
          <p:cNvSpPr>
            <a:spLocks noChangeArrowheads="1"/>
          </p:cNvSpPr>
          <p:nvPr>
            <p:ph type="body" idx="1"/>
          </p:nvPr>
        </p:nvSpPr>
        <p:spPr bwMode="auto">
          <a:xfrm rot="10800000">
            <a:off x="1293813" y="3201988"/>
            <a:ext cx="7219950" cy="30384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653499" tIns="-826750" rIns="-1653499" bIns="-826750"/>
          <a:lstStyle/>
          <a:p>
            <a:r>
              <a:rPr lang="en-US" altLang="zh-CN"/>
              <a:t>ldhgf</a:t>
            </a:r>
          </a:p>
        </p:txBody>
      </p:sp>
      <p:sp>
        <p:nvSpPr>
          <p:cNvPr id="445443" name="Rectangle 3">
            <a:extLst>
              <a:ext uri="{FF2B5EF4-FFF2-40B4-BE49-F238E27FC236}">
                <a16:creationId xmlns:a16="http://schemas.microsoft.com/office/drawing/2014/main" id="{6D433BA7-A9EF-7967-0706-9B6985340862}"/>
              </a:ext>
            </a:extLst>
          </p:cNvPr>
          <p:cNvSpPr>
            <a:spLocks noChangeArrowheads="1"/>
          </p:cNvSpPr>
          <p:nvPr>
            <p:ph type="sldImg"/>
          </p:nvPr>
        </p:nvSpPr>
        <p:spPr bwMode="auto">
          <a:xfrm>
            <a:off x="3133725" y="584200"/>
            <a:ext cx="3541713" cy="2360613"/>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1BD01281-E538-4E85-570D-0B26694509B3}"/>
              </a:ext>
            </a:extLst>
          </p:cNvPr>
          <p:cNvSpPr>
            <a:spLocks noGrp="1" noChangeArrowheads="1"/>
          </p:cNvSpPr>
          <p:nvPr>
            <p:ph type="sldNum" sz="quarter" idx="5"/>
          </p:nvPr>
        </p:nvSpPr>
        <p:spPr>
          <a:ln/>
        </p:spPr>
        <p:txBody>
          <a:bodyPr/>
          <a:lstStyle/>
          <a:p>
            <a:fld id="{981C278B-5AAF-1C4F-9055-517E9A242DAB}" type="slidenum">
              <a:rPr lang="en-US" altLang="zh-CN"/>
              <a:pPr/>
              <a:t>28</a:t>
            </a:fld>
            <a:endParaRPr lang="en-US" altLang="zh-CN"/>
          </a:p>
        </p:txBody>
      </p:sp>
      <p:sp>
        <p:nvSpPr>
          <p:cNvPr id="248834" name="Rectangle 2">
            <a:extLst>
              <a:ext uri="{FF2B5EF4-FFF2-40B4-BE49-F238E27FC236}">
                <a16:creationId xmlns:a16="http://schemas.microsoft.com/office/drawing/2014/main" id="{9E98EF2B-1B5F-C8E5-B37B-24893DA66BA7}"/>
              </a:ext>
            </a:extLst>
          </p:cNvPr>
          <p:cNvSpPr>
            <a:spLocks noGrp="1" noChangeArrowheads="1"/>
          </p:cNvSpPr>
          <p:nvPr>
            <p:ph type="body" idx="1"/>
          </p:nvPr>
        </p:nvSpPr>
        <p:spPr>
          <a:noFill/>
          <a:ln/>
        </p:spPr>
        <p:txBody>
          <a:bodyPr/>
          <a:lstStyle/>
          <a:p>
            <a:r>
              <a:rPr lang="en-US" altLang="zh-CN"/>
              <a:t>ldhgf</a:t>
            </a:r>
          </a:p>
        </p:txBody>
      </p:sp>
      <p:sp>
        <p:nvSpPr>
          <p:cNvPr id="248835" name="Rectangle 3">
            <a:extLst>
              <a:ext uri="{FF2B5EF4-FFF2-40B4-BE49-F238E27FC236}">
                <a16:creationId xmlns:a16="http://schemas.microsoft.com/office/drawing/2014/main" id="{6A231C4C-0E34-9831-41A6-2B00CB41DA30}"/>
              </a:ext>
            </a:extLst>
          </p:cNvPr>
          <p:cNvSpPr>
            <a:spLocks noChangeArrowheads="1" noTextEdit="1"/>
          </p:cNvSpPr>
          <p:nvPr>
            <p:ph type="sldImg"/>
          </p:nvPr>
        </p:nvSpPr>
        <p:spPr>
          <a:ln cap="fla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5E365B58-2103-45F1-34A7-5B1D1FC174C2}"/>
              </a:ext>
            </a:extLst>
          </p:cNvPr>
          <p:cNvSpPr>
            <a:spLocks noGrp="1" noChangeArrowheads="1"/>
          </p:cNvSpPr>
          <p:nvPr>
            <p:ph type="sldNum" sz="quarter" idx="5"/>
          </p:nvPr>
        </p:nvSpPr>
        <p:spPr>
          <a:ln/>
        </p:spPr>
        <p:txBody>
          <a:bodyPr/>
          <a:lstStyle/>
          <a:p>
            <a:fld id="{EC309392-3679-8042-8607-71D779B17149}" type="slidenum">
              <a:rPr lang="en-US" altLang="zh-CN"/>
              <a:pPr/>
              <a:t>29</a:t>
            </a:fld>
            <a:endParaRPr lang="en-US" altLang="zh-CN"/>
          </a:p>
        </p:txBody>
      </p:sp>
      <p:sp>
        <p:nvSpPr>
          <p:cNvPr id="692226" name="Rectangle 2">
            <a:extLst>
              <a:ext uri="{FF2B5EF4-FFF2-40B4-BE49-F238E27FC236}">
                <a16:creationId xmlns:a16="http://schemas.microsoft.com/office/drawing/2014/main" id="{88C83121-8EB6-88AC-322E-96466F977F49}"/>
              </a:ext>
            </a:extLst>
          </p:cNvPr>
          <p:cNvSpPr>
            <a:spLocks noGrp="1" noChangeArrowheads="1"/>
          </p:cNvSpPr>
          <p:nvPr>
            <p:ph type="body" idx="1"/>
          </p:nvPr>
        </p:nvSpPr>
        <p:spPr>
          <a:noFill/>
          <a:ln/>
        </p:spPr>
        <p:txBody>
          <a:bodyPr/>
          <a:lstStyle/>
          <a:p>
            <a:r>
              <a:rPr lang="en-US" altLang="zh-CN"/>
              <a:t>ldhgf</a:t>
            </a:r>
          </a:p>
        </p:txBody>
      </p:sp>
      <p:sp>
        <p:nvSpPr>
          <p:cNvPr id="692227" name="Rectangle 3">
            <a:extLst>
              <a:ext uri="{FF2B5EF4-FFF2-40B4-BE49-F238E27FC236}">
                <a16:creationId xmlns:a16="http://schemas.microsoft.com/office/drawing/2014/main" id="{A57F751A-DECA-EB01-DCE3-2B5367C32568}"/>
              </a:ext>
            </a:extLst>
          </p:cNvPr>
          <p:cNvSpPr>
            <a:spLocks noChangeArrowheads="1" noTextEdit="1"/>
          </p:cNvSpPr>
          <p:nvPr>
            <p:ph type="sldImg"/>
          </p:nvPr>
        </p:nvSpPr>
        <p:spPr>
          <a:ln cap="fla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8EC094D5-D8F9-6671-E04A-8A480DA5B475}"/>
              </a:ext>
            </a:extLst>
          </p:cNvPr>
          <p:cNvSpPr>
            <a:spLocks noGrp="1" noChangeArrowheads="1"/>
          </p:cNvSpPr>
          <p:nvPr>
            <p:ph type="sldNum" sz="quarter" idx="5"/>
          </p:nvPr>
        </p:nvSpPr>
        <p:spPr>
          <a:ln/>
        </p:spPr>
        <p:txBody>
          <a:bodyPr/>
          <a:lstStyle/>
          <a:p>
            <a:fld id="{E86AE409-9977-6A49-893D-F67DEAD7FB41}" type="slidenum">
              <a:rPr lang="en-US" altLang="zh-CN"/>
              <a:pPr/>
              <a:t>30</a:t>
            </a:fld>
            <a:endParaRPr lang="en-US" altLang="zh-CN"/>
          </a:p>
        </p:txBody>
      </p:sp>
      <p:sp>
        <p:nvSpPr>
          <p:cNvPr id="694274" name="Rectangle 2">
            <a:extLst>
              <a:ext uri="{FF2B5EF4-FFF2-40B4-BE49-F238E27FC236}">
                <a16:creationId xmlns:a16="http://schemas.microsoft.com/office/drawing/2014/main" id="{EAA8BE67-A2F4-8AE3-FD5E-7255C314B8B4}"/>
              </a:ext>
            </a:extLst>
          </p:cNvPr>
          <p:cNvSpPr>
            <a:spLocks noGrp="1" noChangeArrowheads="1"/>
          </p:cNvSpPr>
          <p:nvPr>
            <p:ph type="body" idx="1"/>
          </p:nvPr>
        </p:nvSpPr>
        <p:spPr>
          <a:noFill/>
          <a:ln/>
        </p:spPr>
        <p:txBody>
          <a:bodyPr/>
          <a:lstStyle/>
          <a:p>
            <a:r>
              <a:rPr lang="en-US" altLang="zh-CN"/>
              <a:t>ldhgf</a:t>
            </a:r>
          </a:p>
        </p:txBody>
      </p:sp>
      <p:sp>
        <p:nvSpPr>
          <p:cNvPr id="694275" name="Rectangle 3">
            <a:extLst>
              <a:ext uri="{FF2B5EF4-FFF2-40B4-BE49-F238E27FC236}">
                <a16:creationId xmlns:a16="http://schemas.microsoft.com/office/drawing/2014/main" id="{23C7F6F4-02BF-D47C-5E64-336639968768}"/>
              </a:ext>
            </a:extLst>
          </p:cNvPr>
          <p:cNvSpPr>
            <a:spLocks noChangeArrowheads="1" noTextEdit="1"/>
          </p:cNvSpPr>
          <p:nvPr>
            <p:ph type="sldImg"/>
          </p:nvPr>
        </p:nvSpPr>
        <p:spPr>
          <a:ln cap="flat"/>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3235D420-DC2B-7BFE-DE98-6C2678CA93E1}"/>
              </a:ext>
            </a:extLst>
          </p:cNvPr>
          <p:cNvSpPr>
            <a:spLocks noGrp="1" noChangeArrowheads="1"/>
          </p:cNvSpPr>
          <p:nvPr>
            <p:ph type="sldNum" sz="quarter" idx="5"/>
          </p:nvPr>
        </p:nvSpPr>
        <p:spPr>
          <a:ln/>
        </p:spPr>
        <p:txBody>
          <a:bodyPr/>
          <a:lstStyle/>
          <a:p>
            <a:fld id="{0B2AD756-4296-164E-B717-C1A5391CC4DA}" type="slidenum">
              <a:rPr lang="en-US" altLang="zh-CN"/>
              <a:pPr/>
              <a:t>31</a:t>
            </a:fld>
            <a:endParaRPr lang="en-US" altLang="zh-CN"/>
          </a:p>
        </p:txBody>
      </p:sp>
      <p:sp>
        <p:nvSpPr>
          <p:cNvPr id="696322" name="Rectangle 2">
            <a:extLst>
              <a:ext uri="{FF2B5EF4-FFF2-40B4-BE49-F238E27FC236}">
                <a16:creationId xmlns:a16="http://schemas.microsoft.com/office/drawing/2014/main" id="{55E00C80-89D6-9CCC-1186-6A8FC56D815F}"/>
              </a:ext>
            </a:extLst>
          </p:cNvPr>
          <p:cNvSpPr>
            <a:spLocks noGrp="1" noChangeArrowheads="1"/>
          </p:cNvSpPr>
          <p:nvPr>
            <p:ph type="body" idx="1"/>
          </p:nvPr>
        </p:nvSpPr>
        <p:spPr>
          <a:noFill/>
          <a:ln/>
        </p:spPr>
        <p:txBody>
          <a:bodyPr/>
          <a:lstStyle/>
          <a:p>
            <a:r>
              <a:rPr lang="en-US" altLang="zh-CN"/>
              <a:t>ldhgf</a:t>
            </a:r>
          </a:p>
        </p:txBody>
      </p:sp>
      <p:sp>
        <p:nvSpPr>
          <p:cNvPr id="696323" name="Rectangle 3">
            <a:extLst>
              <a:ext uri="{FF2B5EF4-FFF2-40B4-BE49-F238E27FC236}">
                <a16:creationId xmlns:a16="http://schemas.microsoft.com/office/drawing/2014/main" id="{174493D6-7821-639A-AF98-C2F3ECC9997F}"/>
              </a:ext>
            </a:extLst>
          </p:cNvPr>
          <p:cNvSpPr>
            <a:spLocks noChangeArrowheads="1" noTextEdit="1"/>
          </p:cNvSpPr>
          <p:nvPr>
            <p:ph type="sldImg"/>
          </p:nvPr>
        </p:nvSpPr>
        <p:spPr>
          <a:ln cap="fla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EC6D47DE-4C17-DFE1-EDE9-F83CDCF154EE}"/>
              </a:ext>
            </a:extLst>
          </p:cNvPr>
          <p:cNvSpPr>
            <a:spLocks noGrp="1" noChangeArrowheads="1"/>
          </p:cNvSpPr>
          <p:nvPr>
            <p:ph type="sldNum" sz="quarter" idx="5"/>
          </p:nvPr>
        </p:nvSpPr>
        <p:spPr>
          <a:ln/>
        </p:spPr>
        <p:txBody>
          <a:bodyPr/>
          <a:lstStyle/>
          <a:p>
            <a:fld id="{0DDB0215-F543-7E42-BBCD-A73BA39365E9}" type="slidenum">
              <a:rPr lang="en-US" altLang="zh-CN"/>
              <a:pPr/>
              <a:t>32</a:t>
            </a:fld>
            <a:endParaRPr lang="en-US" altLang="zh-CN"/>
          </a:p>
        </p:txBody>
      </p:sp>
      <p:sp>
        <p:nvSpPr>
          <p:cNvPr id="698370" name="Rectangle 2">
            <a:extLst>
              <a:ext uri="{FF2B5EF4-FFF2-40B4-BE49-F238E27FC236}">
                <a16:creationId xmlns:a16="http://schemas.microsoft.com/office/drawing/2014/main" id="{30DD3A66-9603-7896-904A-451561B11A56}"/>
              </a:ext>
            </a:extLst>
          </p:cNvPr>
          <p:cNvSpPr>
            <a:spLocks noGrp="1" noChangeArrowheads="1"/>
          </p:cNvSpPr>
          <p:nvPr>
            <p:ph type="body" idx="1"/>
          </p:nvPr>
        </p:nvSpPr>
        <p:spPr>
          <a:noFill/>
          <a:ln/>
        </p:spPr>
        <p:txBody>
          <a:bodyPr/>
          <a:lstStyle/>
          <a:p>
            <a:r>
              <a:rPr lang="en-US" altLang="zh-CN"/>
              <a:t>ldhgf</a:t>
            </a:r>
          </a:p>
        </p:txBody>
      </p:sp>
      <p:sp>
        <p:nvSpPr>
          <p:cNvPr id="698371" name="Rectangle 3">
            <a:extLst>
              <a:ext uri="{FF2B5EF4-FFF2-40B4-BE49-F238E27FC236}">
                <a16:creationId xmlns:a16="http://schemas.microsoft.com/office/drawing/2014/main" id="{2F2BDF90-7D1E-C308-2406-1C8BE893F801}"/>
              </a:ext>
            </a:extLst>
          </p:cNvPr>
          <p:cNvSpPr>
            <a:spLocks noChangeArrowheads="1" noTextEdit="1"/>
          </p:cNvSpPr>
          <p:nvPr>
            <p:ph type="sldImg"/>
          </p:nvPr>
        </p:nvSpPr>
        <p:spPr>
          <a:ln cap="fla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11279365-0F7B-4B99-824E-AD53D090C484}"/>
              </a:ext>
            </a:extLst>
          </p:cNvPr>
          <p:cNvSpPr>
            <a:spLocks noGrp="1" noChangeArrowheads="1"/>
          </p:cNvSpPr>
          <p:nvPr>
            <p:ph type="sldNum" sz="quarter" idx="5"/>
          </p:nvPr>
        </p:nvSpPr>
        <p:spPr>
          <a:ln/>
        </p:spPr>
        <p:txBody>
          <a:bodyPr/>
          <a:lstStyle/>
          <a:p>
            <a:fld id="{DA4A99E3-27EC-E140-986B-4EE6DE6B00FC}" type="slidenum">
              <a:rPr lang="en-US" altLang="zh-CN"/>
              <a:pPr/>
              <a:t>33</a:t>
            </a:fld>
            <a:endParaRPr lang="en-US" altLang="zh-CN"/>
          </a:p>
        </p:txBody>
      </p:sp>
      <p:sp>
        <p:nvSpPr>
          <p:cNvPr id="700418" name="Rectangle 2">
            <a:extLst>
              <a:ext uri="{FF2B5EF4-FFF2-40B4-BE49-F238E27FC236}">
                <a16:creationId xmlns:a16="http://schemas.microsoft.com/office/drawing/2014/main" id="{C19D7EE3-86C1-45EF-B5ED-994F5391BDF0}"/>
              </a:ext>
            </a:extLst>
          </p:cNvPr>
          <p:cNvSpPr>
            <a:spLocks noGrp="1" noChangeArrowheads="1"/>
          </p:cNvSpPr>
          <p:nvPr>
            <p:ph type="body" idx="1"/>
          </p:nvPr>
        </p:nvSpPr>
        <p:spPr>
          <a:noFill/>
          <a:ln/>
        </p:spPr>
        <p:txBody>
          <a:bodyPr/>
          <a:lstStyle/>
          <a:p>
            <a:r>
              <a:rPr lang="en-US" altLang="zh-CN"/>
              <a:t>ldhgf</a:t>
            </a:r>
          </a:p>
        </p:txBody>
      </p:sp>
      <p:sp>
        <p:nvSpPr>
          <p:cNvPr id="700419" name="Rectangle 3">
            <a:extLst>
              <a:ext uri="{FF2B5EF4-FFF2-40B4-BE49-F238E27FC236}">
                <a16:creationId xmlns:a16="http://schemas.microsoft.com/office/drawing/2014/main" id="{E99A41E3-2940-616F-C3F0-6D358A0B2545}"/>
              </a:ext>
            </a:extLst>
          </p:cNvPr>
          <p:cNvSpPr>
            <a:spLocks noChangeArrowheads="1" noTextEdit="1"/>
          </p:cNvSpPr>
          <p:nvPr>
            <p:ph type="sldImg"/>
          </p:nvPr>
        </p:nvSpPr>
        <p:spPr>
          <a:ln cap="fla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FAED9832-5036-7B7F-3054-20CD220FB990}"/>
              </a:ext>
            </a:extLst>
          </p:cNvPr>
          <p:cNvSpPr>
            <a:spLocks noGrp="1" noChangeArrowheads="1"/>
          </p:cNvSpPr>
          <p:nvPr>
            <p:ph type="sldNum" sz="quarter" idx="5"/>
          </p:nvPr>
        </p:nvSpPr>
        <p:spPr>
          <a:ln/>
        </p:spPr>
        <p:txBody>
          <a:bodyPr/>
          <a:lstStyle/>
          <a:p>
            <a:fld id="{47B4C81A-B5D6-8849-A335-EA70974E1A03}" type="slidenum">
              <a:rPr lang="en-US" altLang="zh-CN"/>
              <a:pPr/>
              <a:t>34</a:t>
            </a:fld>
            <a:endParaRPr lang="en-US" altLang="zh-CN"/>
          </a:p>
        </p:txBody>
      </p:sp>
      <p:sp>
        <p:nvSpPr>
          <p:cNvPr id="702466" name="Rectangle 2">
            <a:extLst>
              <a:ext uri="{FF2B5EF4-FFF2-40B4-BE49-F238E27FC236}">
                <a16:creationId xmlns:a16="http://schemas.microsoft.com/office/drawing/2014/main" id="{790972C0-120D-2B05-2FFB-DDFCE27A2189}"/>
              </a:ext>
            </a:extLst>
          </p:cNvPr>
          <p:cNvSpPr>
            <a:spLocks noGrp="1" noChangeArrowheads="1"/>
          </p:cNvSpPr>
          <p:nvPr>
            <p:ph type="body" idx="1"/>
          </p:nvPr>
        </p:nvSpPr>
        <p:spPr>
          <a:noFill/>
          <a:ln/>
        </p:spPr>
        <p:txBody>
          <a:bodyPr/>
          <a:lstStyle/>
          <a:p>
            <a:r>
              <a:rPr lang="en-US" altLang="zh-CN"/>
              <a:t>ldhgf</a:t>
            </a:r>
          </a:p>
        </p:txBody>
      </p:sp>
      <p:sp>
        <p:nvSpPr>
          <p:cNvPr id="702467" name="Rectangle 3">
            <a:extLst>
              <a:ext uri="{FF2B5EF4-FFF2-40B4-BE49-F238E27FC236}">
                <a16:creationId xmlns:a16="http://schemas.microsoft.com/office/drawing/2014/main" id="{C8C1C384-9B9A-2442-72BB-4CC8AA010E05}"/>
              </a:ext>
            </a:extLst>
          </p:cNvPr>
          <p:cNvSpPr>
            <a:spLocks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3078" name="Group 6">
            <a:extLst>
              <a:ext uri="{FF2B5EF4-FFF2-40B4-BE49-F238E27FC236}">
                <a16:creationId xmlns:a16="http://schemas.microsoft.com/office/drawing/2014/main" id="{E00021B8-84D8-8B2D-4F73-13D5F8B77BF9}"/>
              </a:ext>
            </a:extLst>
          </p:cNvPr>
          <p:cNvGrpSpPr>
            <a:grpSpLocks/>
          </p:cNvGrpSpPr>
          <p:nvPr/>
        </p:nvGrpSpPr>
        <p:grpSpPr bwMode="auto">
          <a:xfrm>
            <a:off x="0" y="0"/>
            <a:ext cx="9539288" cy="6173788"/>
            <a:chOff x="0" y="0"/>
            <a:chExt cx="6009" cy="3889"/>
          </a:xfrm>
        </p:grpSpPr>
        <p:sp>
          <p:nvSpPr>
            <p:cNvPr id="3074" name="Freeform 2">
              <a:extLst>
                <a:ext uri="{FF2B5EF4-FFF2-40B4-BE49-F238E27FC236}">
                  <a16:creationId xmlns:a16="http://schemas.microsoft.com/office/drawing/2014/main" id="{F973AF34-0A0E-B30A-2ABB-ED106AE16AFA}"/>
                </a:ext>
              </a:extLst>
            </p:cNvPr>
            <p:cNvSpPr>
              <a:spLocks/>
            </p:cNvSpPr>
            <p:nvPr/>
          </p:nvSpPr>
          <p:spPr bwMode="ltGray">
            <a:xfrm>
              <a:off x="0" y="0"/>
              <a:ext cx="4346" cy="3889"/>
            </a:xfrm>
            <a:custGeom>
              <a:avLst/>
              <a:gdLst>
                <a:gd name="T0" fmla="*/ 4345 w 4346"/>
                <a:gd name="T1" fmla="*/ 3418 h 3889"/>
                <a:gd name="T2" fmla="*/ 514 w 4346"/>
                <a:gd name="T3" fmla="*/ 0 h 3889"/>
                <a:gd name="T4" fmla="*/ 0 w 4346"/>
                <a:gd name="T5" fmla="*/ 0 h 3889"/>
                <a:gd name="T6" fmla="*/ 0 w 4346"/>
                <a:gd name="T7" fmla="*/ 481 h 3889"/>
                <a:gd name="T8" fmla="*/ 3818 w 4346"/>
                <a:gd name="T9" fmla="*/ 3888 h 3889"/>
                <a:gd name="T10" fmla="*/ 4345 w 4346"/>
                <a:gd name="T11" fmla="*/ 3418 h 3889"/>
              </a:gdLst>
              <a:ahLst/>
              <a:cxnLst>
                <a:cxn ang="0">
                  <a:pos x="T0" y="T1"/>
                </a:cxn>
                <a:cxn ang="0">
                  <a:pos x="T2" y="T3"/>
                </a:cxn>
                <a:cxn ang="0">
                  <a:pos x="T4" y="T5"/>
                </a:cxn>
                <a:cxn ang="0">
                  <a:pos x="T6" y="T7"/>
                </a:cxn>
                <a:cxn ang="0">
                  <a:pos x="T8" y="T9"/>
                </a:cxn>
                <a:cxn ang="0">
                  <a:pos x="T10" y="T11"/>
                </a:cxn>
              </a:cxnLst>
              <a:rect l="0" t="0" r="r" b="b"/>
              <a:pathLst>
                <a:path w="4346" h="3889">
                  <a:moveTo>
                    <a:pt x="4345" y="3418"/>
                  </a:moveTo>
                  <a:lnTo>
                    <a:pt x="514" y="0"/>
                  </a:lnTo>
                  <a:lnTo>
                    <a:pt x="0" y="0"/>
                  </a:lnTo>
                  <a:lnTo>
                    <a:pt x="0" y="481"/>
                  </a:lnTo>
                  <a:lnTo>
                    <a:pt x="3818" y="3888"/>
                  </a:lnTo>
                  <a:lnTo>
                    <a:pt x="4345" y="3418"/>
                  </a:lnTo>
                </a:path>
              </a:pathLst>
            </a:custGeom>
            <a:solidFill>
              <a:schemeClr val="bg1">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5" name="Freeform 3">
              <a:extLst>
                <a:ext uri="{FF2B5EF4-FFF2-40B4-BE49-F238E27FC236}">
                  <a16:creationId xmlns:a16="http://schemas.microsoft.com/office/drawing/2014/main" id="{7F7E6F0E-AB07-8873-0E7C-413D3F4CD6B2}"/>
                </a:ext>
              </a:extLst>
            </p:cNvPr>
            <p:cNvSpPr>
              <a:spLocks/>
            </p:cNvSpPr>
            <p:nvPr/>
          </p:nvSpPr>
          <p:spPr bwMode="ltGray">
            <a:xfrm>
              <a:off x="967" y="0"/>
              <a:ext cx="3819" cy="3223"/>
            </a:xfrm>
            <a:custGeom>
              <a:avLst/>
              <a:gdLst>
                <a:gd name="T0" fmla="*/ 416 w 3819"/>
                <a:gd name="T1" fmla="*/ 0 h 3223"/>
                <a:gd name="T2" fmla="*/ 3818 w 3819"/>
                <a:gd name="T3" fmla="*/ 3036 h 3223"/>
                <a:gd name="T4" fmla="*/ 3609 w 3819"/>
                <a:gd name="T5" fmla="*/ 3222 h 3223"/>
                <a:gd name="T6" fmla="*/ 0 w 3819"/>
                <a:gd name="T7" fmla="*/ 0 h 3223"/>
                <a:gd name="T8" fmla="*/ 416 w 3819"/>
                <a:gd name="T9" fmla="*/ 0 h 3223"/>
              </a:gdLst>
              <a:ahLst/>
              <a:cxnLst>
                <a:cxn ang="0">
                  <a:pos x="T0" y="T1"/>
                </a:cxn>
                <a:cxn ang="0">
                  <a:pos x="T2" y="T3"/>
                </a:cxn>
                <a:cxn ang="0">
                  <a:pos x="T4" y="T5"/>
                </a:cxn>
                <a:cxn ang="0">
                  <a:pos x="T6" y="T7"/>
                </a:cxn>
                <a:cxn ang="0">
                  <a:pos x="T8" y="T9"/>
                </a:cxn>
              </a:cxnLst>
              <a:rect l="0" t="0" r="r" b="b"/>
              <a:pathLst>
                <a:path w="3819" h="3223">
                  <a:moveTo>
                    <a:pt x="416" y="0"/>
                  </a:moveTo>
                  <a:lnTo>
                    <a:pt x="3818" y="3036"/>
                  </a:lnTo>
                  <a:lnTo>
                    <a:pt x="3609" y="3222"/>
                  </a:lnTo>
                  <a:lnTo>
                    <a:pt x="0" y="0"/>
                  </a:lnTo>
                  <a:lnTo>
                    <a:pt x="416" y="0"/>
                  </a:lnTo>
                </a:path>
              </a:pathLst>
            </a:custGeom>
            <a:solidFill>
              <a:schemeClr val="bg1">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 name="Freeform 4">
              <a:extLst>
                <a:ext uri="{FF2B5EF4-FFF2-40B4-BE49-F238E27FC236}">
                  <a16:creationId xmlns:a16="http://schemas.microsoft.com/office/drawing/2014/main" id="{004C4747-39D9-EA8C-B3D9-A4FFA0C1742C}"/>
                </a:ext>
              </a:extLst>
            </p:cNvPr>
            <p:cNvSpPr>
              <a:spLocks/>
            </p:cNvSpPr>
            <p:nvPr/>
          </p:nvSpPr>
          <p:spPr bwMode="ltGray">
            <a:xfrm>
              <a:off x="2460" y="0"/>
              <a:ext cx="3217" cy="2556"/>
            </a:xfrm>
            <a:custGeom>
              <a:avLst/>
              <a:gdLst>
                <a:gd name="T0" fmla="*/ 708 w 3217"/>
                <a:gd name="T1" fmla="*/ 0 h 2556"/>
                <a:gd name="T2" fmla="*/ 3216 w 3217"/>
                <a:gd name="T3" fmla="*/ 2238 h 2556"/>
                <a:gd name="T4" fmla="*/ 2861 w 3217"/>
                <a:gd name="T5" fmla="*/ 2555 h 2556"/>
                <a:gd name="T6" fmla="*/ 0 w 3217"/>
                <a:gd name="T7" fmla="*/ 0 h 2556"/>
                <a:gd name="T8" fmla="*/ 708 w 3217"/>
                <a:gd name="T9" fmla="*/ 0 h 2556"/>
              </a:gdLst>
              <a:ahLst/>
              <a:cxnLst>
                <a:cxn ang="0">
                  <a:pos x="T0" y="T1"/>
                </a:cxn>
                <a:cxn ang="0">
                  <a:pos x="T2" y="T3"/>
                </a:cxn>
                <a:cxn ang="0">
                  <a:pos x="T4" y="T5"/>
                </a:cxn>
                <a:cxn ang="0">
                  <a:pos x="T6" y="T7"/>
                </a:cxn>
                <a:cxn ang="0">
                  <a:pos x="T8" y="T9"/>
                </a:cxn>
              </a:cxnLst>
              <a:rect l="0" t="0" r="r" b="b"/>
              <a:pathLst>
                <a:path w="3217" h="2556">
                  <a:moveTo>
                    <a:pt x="708" y="0"/>
                  </a:moveTo>
                  <a:lnTo>
                    <a:pt x="3216" y="2238"/>
                  </a:lnTo>
                  <a:lnTo>
                    <a:pt x="2861" y="2555"/>
                  </a:lnTo>
                  <a:lnTo>
                    <a:pt x="0" y="0"/>
                  </a:lnTo>
                  <a:lnTo>
                    <a:pt x="708" y="0"/>
                  </a:lnTo>
                </a:path>
              </a:pathLst>
            </a:custGeom>
            <a:solidFill>
              <a:schemeClr val="bg1">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 name="Freeform 5">
              <a:extLst>
                <a:ext uri="{FF2B5EF4-FFF2-40B4-BE49-F238E27FC236}">
                  <a16:creationId xmlns:a16="http://schemas.microsoft.com/office/drawing/2014/main" id="{280E720C-BE10-C0E0-97A8-E8BF5F3952D7}"/>
                </a:ext>
              </a:extLst>
            </p:cNvPr>
            <p:cNvSpPr>
              <a:spLocks/>
            </p:cNvSpPr>
            <p:nvPr/>
          </p:nvSpPr>
          <p:spPr bwMode="ltGray">
            <a:xfrm>
              <a:off x="3437" y="0"/>
              <a:ext cx="2572" cy="2121"/>
            </a:xfrm>
            <a:custGeom>
              <a:avLst/>
              <a:gdLst>
                <a:gd name="T0" fmla="*/ 0 w 2572"/>
                <a:gd name="T1" fmla="*/ 0 h 2121"/>
                <a:gd name="T2" fmla="*/ 2375 w 2572"/>
                <a:gd name="T3" fmla="*/ 2120 h 2121"/>
                <a:gd name="T4" fmla="*/ 2571 w 2572"/>
                <a:gd name="T5" fmla="*/ 1945 h 2121"/>
                <a:gd name="T6" fmla="*/ 391 w 2572"/>
                <a:gd name="T7" fmla="*/ 0 h 2121"/>
                <a:gd name="T8" fmla="*/ 0 w 2572"/>
                <a:gd name="T9" fmla="*/ 0 h 2121"/>
              </a:gdLst>
              <a:ahLst/>
              <a:cxnLst>
                <a:cxn ang="0">
                  <a:pos x="T0" y="T1"/>
                </a:cxn>
                <a:cxn ang="0">
                  <a:pos x="T2" y="T3"/>
                </a:cxn>
                <a:cxn ang="0">
                  <a:pos x="T4" y="T5"/>
                </a:cxn>
                <a:cxn ang="0">
                  <a:pos x="T6" y="T7"/>
                </a:cxn>
                <a:cxn ang="0">
                  <a:pos x="T8" y="T9"/>
                </a:cxn>
              </a:cxnLst>
              <a:rect l="0" t="0" r="r" b="b"/>
              <a:pathLst>
                <a:path w="2572" h="2121">
                  <a:moveTo>
                    <a:pt x="0" y="0"/>
                  </a:moveTo>
                  <a:lnTo>
                    <a:pt x="2375" y="2120"/>
                  </a:lnTo>
                  <a:lnTo>
                    <a:pt x="2571" y="1945"/>
                  </a:lnTo>
                  <a:lnTo>
                    <a:pt x="391" y="0"/>
                  </a:lnTo>
                  <a:lnTo>
                    <a:pt x="0" y="0"/>
                  </a:lnTo>
                </a:path>
              </a:pathLst>
            </a:custGeom>
            <a:solidFill>
              <a:schemeClr val="bg1">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79" name="Rectangle 7">
            <a:extLst>
              <a:ext uri="{FF2B5EF4-FFF2-40B4-BE49-F238E27FC236}">
                <a16:creationId xmlns:a16="http://schemas.microsoft.com/office/drawing/2014/main" id="{E6F0B6E1-E1FB-432A-1D5B-CF0187702143}"/>
              </a:ext>
            </a:extLst>
          </p:cNvPr>
          <p:cNvSpPr>
            <a:spLocks noGrp="1" noChangeArrowheads="1"/>
          </p:cNvSpPr>
          <p:nvPr>
            <p:ph type="ctrTitle" sz="quarter"/>
          </p:nvPr>
        </p:nvSpPr>
        <p:spPr>
          <a:xfrm>
            <a:off x="771525" y="1143000"/>
            <a:ext cx="8743950" cy="1143000"/>
          </a:xfrm>
        </p:spPr>
        <p:txBody>
          <a:bodyPr/>
          <a:lstStyle>
            <a:lvl1pPr>
              <a:defRPr/>
            </a:lvl1pPr>
          </a:lstStyle>
          <a:p>
            <a:pPr lvl="0"/>
            <a:r>
              <a:rPr lang="en-US" altLang="zh-CN" noProof="0"/>
              <a:t>Click to edit Master title style</a:t>
            </a:r>
          </a:p>
        </p:txBody>
      </p:sp>
      <p:sp>
        <p:nvSpPr>
          <p:cNvPr id="3080" name="Rectangle 8">
            <a:extLst>
              <a:ext uri="{FF2B5EF4-FFF2-40B4-BE49-F238E27FC236}">
                <a16:creationId xmlns:a16="http://schemas.microsoft.com/office/drawing/2014/main" id="{98041307-71A6-73F6-3686-559020D03D49}"/>
              </a:ext>
            </a:extLst>
          </p:cNvPr>
          <p:cNvSpPr>
            <a:spLocks noGrp="1" noChangeArrowheads="1"/>
          </p:cNvSpPr>
          <p:nvPr>
            <p:ph type="subTitle" sz="quarter" idx="1"/>
          </p:nvPr>
        </p:nvSpPr>
        <p:spPr>
          <a:xfrm>
            <a:off x="1543050" y="2819400"/>
            <a:ext cx="7200900" cy="1752600"/>
          </a:xfrm>
        </p:spPr>
        <p:txBody>
          <a:bodyPr/>
          <a:lstStyle>
            <a:lvl1pPr marL="0" indent="0" algn="ctr">
              <a:buFont typeface="Monotype Sorts" pitchFamily="2" charset="2"/>
              <a:buNone/>
              <a:defRPr/>
            </a:lvl1pPr>
          </a:lstStyle>
          <a:p>
            <a:pPr lvl="0"/>
            <a:r>
              <a:rPr lang="en-US" altLang="zh-CN" noProof="0"/>
              <a:t>Click to edit Master subtitle style</a:t>
            </a:r>
          </a:p>
        </p:txBody>
      </p:sp>
      <p:sp>
        <p:nvSpPr>
          <p:cNvPr id="3081" name="Rectangle 9">
            <a:extLst>
              <a:ext uri="{FF2B5EF4-FFF2-40B4-BE49-F238E27FC236}">
                <a16:creationId xmlns:a16="http://schemas.microsoft.com/office/drawing/2014/main" id="{D812B4E9-F5DE-F40C-8B3F-601D1BF44E78}"/>
              </a:ext>
            </a:extLst>
          </p:cNvPr>
          <p:cNvSpPr>
            <a:spLocks noGrp="1" noChangeArrowheads="1"/>
          </p:cNvSpPr>
          <p:nvPr>
            <p:ph type="dt" sz="quarter" idx="2"/>
          </p:nvPr>
        </p:nvSpPr>
        <p:spPr/>
        <p:txBody>
          <a:bodyPr/>
          <a:lstStyle>
            <a:lvl1pPr>
              <a:defRPr/>
            </a:lvl1pPr>
          </a:lstStyle>
          <a:p>
            <a:endParaRPr lang="en-US" altLang="zh-CN"/>
          </a:p>
        </p:txBody>
      </p:sp>
      <p:sp>
        <p:nvSpPr>
          <p:cNvPr id="3082" name="Rectangle 10">
            <a:extLst>
              <a:ext uri="{FF2B5EF4-FFF2-40B4-BE49-F238E27FC236}">
                <a16:creationId xmlns:a16="http://schemas.microsoft.com/office/drawing/2014/main" id="{0978C38D-73DC-0667-362E-05784F5B36A4}"/>
              </a:ext>
            </a:extLst>
          </p:cNvPr>
          <p:cNvSpPr>
            <a:spLocks noGrp="1" noChangeArrowheads="1"/>
          </p:cNvSpPr>
          <p:nvPr>
            <p:ph type="ftr" sz="quarter" idx="3"/>
          </p:nvPr>
        </p:nvSpPr>
        <p:spPr/>
        <p:txBody>
          <a:bodyPr/>
          <a:lstStyle>
            <a:lvl1pPr>
              <a:defRPr/>
            </a:lvl1pPr>
          </a:lstStyle>
          <a:p>
            <a:endParaRPr lang="en-US" altLang="zh-CN"/>
          </a:p>
        </p:txBody>
      </p:sp>
      <p:sp>
        <p:nvSpPr>
          <p:cNvPr id="3083" name="Rectangle 11">
            <a:extLst>
              <a:ext uri="{FF2B5EF4-FFF2-40B4-BE49-F238E27FC236}">
                <a16:creationId xmlns:a16="http://schemas.microsoft.com/office/drawing/2014/main" id="{96BFC167-B3B4-4FEE-7B40-E9C8142C9C4C}"/>
              </a:ext>
            </a:extLst>
          </p:cNvPr>
          <p:cNvSpPr>
            <a:spLocks noGrp="1" noChangeArrowheads="1"/>
          </p:cNvSpPr>
          <p:nvPr>
            <p:ph type="sldNum" sz="quarter" idx="4"/>
          </p:nvPr>
        </p:nvSpPr>
        <p:spPr/>
        <p:txBody>
          <a:bodyPr/>
          <a:lstStyle>
            <a:lvl1pPr>
              <a:defRPr/>
            </a:lvl1pPr>
          </a:lstStyle>
          <a:p>
            <a:fld id="{5FF886F3-1B23-4546-817E-D72CD702BB10}"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886EFC-1FFF-9EE0-A633-A2F780B4FC6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3CB1BE4-5ECE-164D-6017-4B4330F6F6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95CFAF8-483A-3555-9B57-CDD02E41953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14A2B3D-E3D4-D812-0D5F-4DEC2A656C9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A044C64-FC0D-2EE5-4F9C-DD39B8EAF0DD}"/>
              </a:ext>
            </a:extLst>
          </p:cNvPr>
          <p:cNvSpPr>
            <a:spLocks noGrp="1"/>
          </p:cNvSpPr>
          <p:nvPr>
            <p:ph type="sldNum" sz="quarter" idx="12"/>
          </p:nvPr>
        </p:nvSpPr>
        <p:spPr/>
        <p:txBody>
          <a:bodyPr/>
          <a:lstStyle>
            <a:lvl1pPr>
              <a:defRPr/>
            </a:lvl1pPr>
          </a:lstStyle>
          <a:p>
            <a:fld id="{0D40408C-EC80-F848-B7E2-4BBF5EC772D3}" type="slidenum">
              <a:rPr lang="en-US" altLang="zh-CN"/>
              <a:pPr/>
              <a:t>‹#›</a:t>
            </a:fld>
            <a:endParaRPr lang="en-US" altLang="zh-CN"/>
          </a:p>
        </p:txBody>
      </p:sp>
    </p:spTree>
    <p:extLst>
      <p:ext uri="{BB962C8B-B14F-4D97-AF65-F5344CB8AC3E}">
        <p14:creationId xmlns:p14="http://schemas.microsoft.com/office/powerpoint/2010/main" val="4243436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AD5EEC-906A-532B-FBF7-90C42EA97E00}"/>
              </a:ext>
            </a:extLst>
          </p:cNvPr>
          <p:cNvSpPr>
            <a:spLocks noGrp="1"/>
          </p:cNvSpPr>
          <p:nvPr>
            <p:ph type="title"/>
          </p:nvPr>
        </p:nvSpPr>
        <p:spPr>
          <a:xfrm>
            <a:off x="701675" y="1709738"/>
            <a:ext cx="8872538"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5699370-3364-F646-8387-4A20B105D554}"/>
              </a:ext>
            </a:extLst>
          </p:cNvPr>
          <p:cNvSpPr>
            <a:spLocks noGrp="1"/>
          </p:cNvSpPr>
          <p:nvPr>
            <p:ph type="body" idx="1"/>
          </p:nvPr>
        </p:nvSpPr>
        <p:spPr>
          <a:xfrm>
            <a:off x="701675" y="4589463"/>
            <a:ext cx="8872538"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CF6E95-0AEF-4BB0-0CED-875E94716D0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BD3E7D1-EFF6-F5C0-4F72-AD9591AEB359}"/>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37E8220-6030-8B37-33DE-33019E33E268}"/>
              </a:ext>
            </a:extLst>
          </p:cNvPr>
          <p:cNvSpPr>
            <a:spLocks noGrp="1"/>
          </p:cNvSpPr>
          <p:nvPr>
            <p:ph type="sldNum" sz="quarter" idx="12"/>
          </p:nvPr>
        </p:nvSpPr>
        <p:spPr/>
        <p:txBody>
          <a:bodyPr/>
          <a:lstStyle>
            <a:lvl1pPr>
              <a:defRPr/>
            </a:lvl1pPr>
          </a:lstStyle>
          <a:p>
            <a:fld id="{57B07205-3924-1547-B0B8-AEC053082B32}" type="slidenum">
              <a:rPr lang="en-US" altLang="zh-CN"/>
              <a:pPr/>
              <a:t>‹#›</a:t>
            </a:fld>
            <a:endParaRPr lang="en-US" altLang="zh-CN"/>
          </a:p>
        </p:txBody>
      </p:sp>
    </p:spTree>
    <p:extLst>
      <p:ext uri="{BB962C8B-B14F-4D97-AF65-F5344CB8AC3E}">
        <p14:creationId xmlns:p14="http://schemas.microsoft.com/office/powerpoint/2010/main" val="4100963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F917E-DAEE-A2B3-5B8E-657EA151C32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54E69D7-A1E6-695B-9391-F2119F86D4A7}"/>
              </a:ext>
            </a:extLst>
          </p:cNvPr>
          <p:cNvSpPr>
            <a:spLocks noGrp="1"/>
          </p:cNvSpPr>
          <p:nvPr>
            <p:ph sz="half" idx="1"/>
          </p:nvPr>
        </p:nvSpPr>
        <p:spPr>
          <a:xfrm>
            <a:off x="771525" y="1828800"/>
            <a:ext cx="4295775"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372C4DC-6A27-BA47-CE32-EA01D3FD22F9}"/>
              </a:ext>
            </a:extLst>
          </p:cNvPr>
          <p:cNvSpPr>
            <a:spLocks noGrp="1"/>
          </p:cNvSpPr>
          <p:nvPr>
            <p:ph sz="half" idx="2"/>
          </p:nvPr>
        </p:nvSpPr>
        <p:spPr>
          <a:xfrm>
            <a:off x="5219700" y="1828800"/>
            <a:ext cx="4295775"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8FFA985-9317-80AB-2AFE-69F07C28D09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86F618E-F038-F685-E2C6-19DBE39EB78E}"/>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2D795315-61B3-F104-E5B0-D8A2E8C1E2DB}"/>
              </a:ext>
            </a:extLst>
          </p:cNvPr>
          <p:cNvSpPr>
            <a:spLocks noGrp="1"/>
          </p:cNvSpPr>
          <p:nvPr>
            <p:ph type="sldNum" sz="quarter" idx="12"/>
          </p:nvPr>
        </p:nvSpPr>
        <p:spPr/>
        <p:txBody>
          <a:bodyPr/>
          <a:lstStyle>
            <a:lvl1pPr>
              <a:defRPr/>
            </a:lvl1pPr>
          </a:lstStyle>
          <a:p>
            <a:fld id="{A19534F2-25AE-664E-BC4A-3D01132C1CD8}" type="slidenum">
              <a:rPr lang="en-US" altLang="zh-CN"/>
              <a:pPr/>
              <a:t>‹#›</a:t>
            </a:fld>
            <a:endParaRPr lang="en-US" altLang="zh-CN"/>
          </a:p>
        </p:txBody>
      </p:sp>
    </p:spTree>
    <p:extLst>
      <p:ext uri="{BB962C8B-B14F-4D97-AF65-F5344CB8AC3E}">
        <p14:creationId xmlns:p14="http://schemas.microsoft.com/office/powerpoint/2010/main" val="3417705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872ABF-FF39-0596-E8D7-B69C611D9CD1}"/>
              </a:ext>
            </a:extLst>
          </p:cNvPr>
          <p:cNvSpPr>
            <a:spLocks noGrp="1"/>
          </p:cNvSpPr>
          <p:nvPr>
            <p:ph type="title"/>
          </p:nvPr>
        </p:nvSpPr>
        <p:spPr>
          <a:xfrm>
            <a:off x="708025" y="365125"/>
            <a:ext cx="8872538"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86676AB-9BFF-3E1D-072F-51A55C3C4542}"/>
              </a:ext>
            </a:extLst>
          </p:cNvPr>
          <p:cNvSpPr>
            <a:spLocks noGrp="1"/>
          </p:cNvSpPr>
          <p:nvPr>
            <p:ph type="body" idx="1"/>
          </p:nvPr>
        </p:nvSpPr>
        <p:spPr>
          <a:xfrm>
            <a:off x="708025" y="1681163"/>
            <a:ext cx="43529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879B0E7-81F5-0470-BD1F-7D27F5BEA8A3}"/>
              </a:ext>
            </a:extLst>
          </p:cNvPr>
          <p:cNvSpPr>
            <a:spLocks noGrp="1"/>
          </p:cNvSpPr>
          <p:nvPr>
            <p:ph sz="half" idx="2"/>
          </p:nvPr>
        </p:nvSpPr>
        <p:spPr>
          <a:xfrm>
            <a:off x="708025" y="2505075"/>
            <a:ext cx="4352925"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6D6FEE-1847-7BAC-2520-C5B864482D5A}"/>
              </a:ext>
            </a:extLst>
          </p:cNvPr>
          <p:cNvSpPr>
            <a:spLocks noGrp="1"/>
          </p:cNvSpPr>
          <p:nvPr>
            <p:ph type="body" sz="quarter" idx="3"/>
          </p:nvPr>
        </p:nvSpPr>
        <p:spPr>
          <a:xfrm>
            <a:off x="5208588" y="1681163"/>
            <a:ext cx="43719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5094C3F-7306-B6C7-1C64-70E417AC5A26}"/>
              </a:ext>
            </a:extLst>
          </p:cNvPr>
          <p:cNvSpPr>
            <a:spLocks noGrp="1"/>
          </p:cNvSpPr>
          <p:nvPr>
            <p:ph sz="quarter" idx="4"/>
          </p:nvPr>
        </p:nvSpPr>
        <p:spPr>
          <a:xfrm>
            <a:off x="5208588" y="2505075"/>
            <a:ext cx="4371975"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F69E03A-8389-8B33-054A-970C3E4426E0}"/>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82FF8483-DB26-0E6F-E6AB-3847893D2035}"/>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36CDC8C8-33F0-1A4A-7AAB-2B8C2E30EA63}"/>
              </a:ext>
            </a:extLst>
          </p:cNvPr>
          <p:cNvSpPr>
            <a:spLocks noGrp="1"/>
          </p:cNvSpPr>
          <p:nvPr>
            <p:ph type="sldNum" sz="quarter" idx="12"/>
          </p:nvPr>
        </p:nvSpPr>
        <p:spPr/>
        <p:txBody>
          <a:bodyPr/>
          <a:lstStyle>
            <a:lvl1pPr>
              <a:defRPr/>
            </a:lvl1pPr>
          </a:lstStyle>
          <a:p>
            <a:fld id="{45C0A4A0-C41D-E94B-98CA-2EA24292C535}" type="slidenum">
              <a:rPr lang="en-US" altLang="zh-CN"/>
              <a:pPr/>
              <a:t>‹#›</a:t>
            </a:fld>
            <a:endParaRPr lang="en-US" altLang="zh-CN"/>
          </a:p>
        </p:txBody>
      </p:sp>
    </p:spTree>
    <p:extLst>
      <p:ext uri="{BB962C8B-B14F-4D97-AF65-F5344CB8AC3E}">
        <p14:creationId xmlns:p14="http://schemas.microsoft.com/office/powerpoint/2010/main" val="2385641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D8B11-4797-F17B-9AF6-9D49F4F61BE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93CF29C-3C24-21E4-0D71-403A10A62895}"/>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DD086F2F-3898-9E33-EAD0-B77CCE49A336}"/>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B11088AC-E0C5-45B6-C730-17BAB073AF57}"/>
              </a:ext>
            </a:extLst>
          </p:cNvPr>
          <p:cNvSpPr>
            <a:spLocks noGrp="1"/>
          </p:cNvSpPr>
          <p:nvPr>
            <p:ph type="sldNum" sz="quarter" idx="12"/>
          </p:nvPr>
        </p:nvSpPr>
        <p:spPr/>
        <p:txBody>
          <a:bodyPr/>
          <a:lstStyle>
            <a:lvl1pPr>
              <a:defRPr/>
            </a:lvl1pPr>
          </a:lstStyle>
          <a:p>
            <a:fld id="{21B1F1A7-38F9-884C-914A-703318EC2095}" type="slidenum">
              <a:rPr lang="en-US" altLang="zh-CN"/>
              <a:pPr/>
              <a:t>‹#›</a:t>
            </a:fld>
            <a:endParaRPr lang="en-US" altLang="zh-CN"/>
          </a:p>
        </p:txBody>
      </p:sp>
    </p:spTree>
    <p:extLst>
      <p:ext uri="{BB962C8B-B14F-4D97-AF65-F5344CB8AC3E}">
        <p14:creationId xmlns:p14="http://schemas.microsoft.com/office/powerpoint/2010/main" val="1355541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FDD0E9E-A9F8-A818-6E1A-5E32FE9471E5}"/>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C3C234C7-76A6-8B0D-EE87-890645ACDFA3}"/>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B56EECF4-2A20-D4F2-8567-647065429B69}"/>
              </a:ext>
            </a:extLst>
          </p:cNvPr>
          <p:cNvSpPr>
            <a:spLocks noGrp="1"/>
          </p:cNvSpPr>
          <p:nvPr>
            <p:ph type="sldNum" sz="quarter" idx="12"/>
          </p:nvPr>
        </p:nvSpPr>
        <p:spPr/>
        <p:txBody>
          <a:bodyPr/>
          <a:lstStyle>
            <a:lvl1pPr>
              <a:defRPr/>
            </a:lvl1pPr>
          </a:lstStyle>
          <a:p>
            <a:fld id="{65CB4883-BC01-8B42-85B3-6CCD36690901}" type="slidenum">
              <a:rPr lang="en-US" altLang="zh-CN"/>
              <a:pPr/>
              <a:t>‹#›</a:t>
            </a:fld>
            <a:endParaRPr lang="en-US" altLang="zh-CN"/>
          </a:p>
        </p:txBody>
      </p:sp>
    </p:spTree>
    <p:extLst>
      <p:ext uri="{BB962C8B-B14F-4D97-AF65-F5344CB8AC3E}">
        <p14:creationId xmlns:p14="http://schemas.microsoft.com/office/powerpoint/2010/main" val="2924793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9C8914-B634-73EF-E03F-F95345AE1ED4}"/>
              </a:ext>
            </a:extLst>
          </p:cNvPr>
          <p:cNvSpPr>
            <a:spLocks noGrp="1"/>
          </p:cNvSpPr>
          <p:nvPr>
            <p:ph type="title"/>
          </p:nvPr>
        </p:nvSpPr>
        <p:spPr>
          <a:xfrm>
            <a:off x="708025" y="457200"/>
            <a:ext cx="33178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9214409-3DD6-7DD6-17E2-2B0FAE46503A}"/>
              </a:ext>
            </a:extLst>
          </p:cNvPr>
          <p:cNvSpPr>
            <a:spLocks noGrp="1"/>
          </p:cNvSpPr>
          <p:nvPr>
            <p:ph idx="1"/>
          </p:nvPr>
        </p:nvSpPr>
        <p:spPr>
          <a:xfrm>
            <a:off x="4373563" y="987425"/>
            <a:ext cx="52070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AE74C04-B301-F464-C20F-EFD5C89F9001}"/>
              </a:ext>
            </a:extLst>
          </p:cNvPr>
          <p:cNvSpPr>
            <a:spLocks noGrp="1"/>
          </p:cNvSpPr>
          <p:nvPr>
            <p:ph type="body" sz="half" idx="2"/>
          </p:nvPr>
        </p:nvSpPr>
        <p:spPr>
          <a:xfrm>
            <a:off x="708025" y="2057400"/>
            <a:ext cx="33178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5ED8691-CAE5-99E9-CAB8-1FB2BF1537AC}"/>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AFC16F02-E918-287E-1947-BE00A450D2B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679D2F99-E632-AB18-0850-DDC271236680}"/>
              </a:ext>
            </a:extLst>
          </p:cNvPr>
          <p:cNvSpPr>
            <a:spLocks noGrp="1"/>
          </p:cNvSpPr>
          <p:nvPr>
            <p:ph type="sldNum" sz="quarter" idx="12"/>
          </p:nvPr>
        </p:nvSpPr>
        <p:spPr/>
        <p:txBody>
          <a:bodyPr/>
          <a:lstStyle>
            <a:lvl1pPr>
              <a:defRPr/>
            </a:lvl1pPr>
          </a:lstStyle>
          <a:p>
            <a:fld id="{22673CED-0CE2-9340-AB70-9B7803941AB9}" type="slidenum">
              <a:rPr lang="en-US" altLang="zh-CN"/>
              <a:pPr/>
              <a:t>‹#›</a:t>
            </a:fld>
            <a:endParaRPr lang="en-US" altLang="zh-CN"/>
          </a:p>
        </p:txBody>
      </p:sp>
    </p:spTree>
    <p:extLst>
      <p:ext uri="{BB962C8B-B14F-4D97-AF65-F5344CB8AC3E}">
        <p14:creationId xmlns:p14="http://schemas.microsoft.com/office/powerpoint/2010/main" val="3595528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0EE594-73A1-F987-B58D-B6FBE9B6E0C2}"/>
              </a:ext>
            </a:extLst>
          </p:cNvPr>
          <p:cNvSpPr>
            <a:spLocks noGrp="1"/>
          </p:cNvSpPr>
          <p:nvPr>
            <p:ph type="title"/>
          </p:nvPr>
        </p:nvSpPr>
        <p:spPr>
          <a:xfrm>
            <a:off x="708025" y="457200"/>
            <a:ext cx="33178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097EFB8-FD63-77FE-9737-8D7ED34FD1F4}"/>
              </a:ext>
            </a:extLst>
          </p:cNvPr>
          <p:cNvSpPr>
            <a:spLocks noGrp="1"/>
          </p:cNvSpPr>
          <p:nvPr>
            <p:ph type="pic" idx="1"/>
          </p:nvPr>
        </p:nvSpPr>
        <p:spPr>
          <a:xfrm>
            <a:off x="4373563" y="987425"/>
            <a:ext cx="52070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2CDE4AA-DE81-B6F0-5F81-6D8951D9A120}"/>
              </a:ext>
            </a:extLst>
          </p:cNvPr>
          <p:cNvSpPr>
            <a:spLocks noGrp="1"/>
          </p:cNvSpPr>
          <p:nvPr>
            <p:ph type="body" sz="half" idx="2"/>
          </p:nvPr>
        </p:nvSpPr>
        <p:spPr>
          <a:xfrm>
            <a:off x="708025" y="2057400"/>
            <a:ext cx="33178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DCA8CBF-020C-F490-B30B-E63523AACF5C}"/>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067D775-9AD5-C2CF-F214-189AB09C1FCC}"/>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7236CBED-9FDF-8AC7-4B55-3AE3BC02E94F}"/>
              </a:ext>
            </a:extLst>
          </p:cNvPr>
          <p:cNvSpPr>
            <a:spLocks noGrp="1"/>
          </p:cNvSpPr>
          <p:nvPr>
            <p:ph type="sldNum" sz="quarter" idx="12"/>
          </p:nvPr>
        </p:nvSpPr>
        <p:spPr/>
        <p:txBody>
          <a:bodyPr/>
          <a:lstStyle>
            <a:lvl1pPr>
              <a:defRPr/>
            </a:lvl1pPr>
          </a:lstStyle>
          <a:p>
            <a:fld id="{01CB8C89-80CE-0541-BEDB-844F768EE481}" type="slidenum">
              <a:rPr lang="en-US" altLang="zh-CN"/>
              <a:pPr/>
              <a:t>‹#›</a:t>
            </a:fld>
            <a:endParaRPr lang="en-US" altLang="zh-CN"/>
          </a:p>
        </p:txBody>
      </p:sp>
    </p:spTree>
    <p:extLst>
      <p:ext uri="{BB962C8B-B14F-4D97-AF65-F5344CB8AC3E}">
        <p14:creationId xmlns:p14="http://schemas.microsoft.com/office/powerpoint/2010/main" val="3154035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2DD178-326B-D5F1-3AD6-9B26E8D46CA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59CE2B4-9D97-B392-CEAC-BF9ED3BFE22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7117F5-D770-1976-1163-37BF408B9F82}"/>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74F09E3C-14D8-AF37-0AF9-A8E0EF13D28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380DD0E-0425-B5C5-E8F9-9C2BDA9F25BE}"/>
              </a:ext>
            </a:extLst>
          </p:cNvPr>
          <p:cNvSpPr>
            <a:spLocks noGrp="1"/>
          </p:cNvSpPr>
          <p:nvPr>
            <p:ph type="sldNum" sz="quarter" idx="12"/>
          </p:nvPr>
        </p:nvSpPr>
        <p:spPr/>
        <p:txBody>
          <a:bodyPr/>
          <a:lstStyle>
            <a:lvl1pPr>
              <a:defRPr/>
            </a:lvl1pPr>
          </a:lstStyle>
          <a:p>
            <a:fld id="{29543949-D3B6-6F44-93EB-75610D702737}" type="slidenum">
              <a:rPr lang="en-US" altLang="zh-CN"/>
              <a:pPr/>
              <a:t>‹#›</a:t>
            </a:fld>
            <a:endParaRPr lang="en-US" altLang="zh-CN"/>
          </a:p>
        </p:txBody>
      </p:sp>
    </p:spTree>
    <p:extLst>
      <p:ext uri="{BB962C8B-B14F-4D97-AF65-F5344CB8AC3E}">
        <p14:creationId xmlns:p14="http://schemas.microsoft.com/office/powerpoint/2010/main" val="2070710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07AEB8A-888E-AFC0-9401-E4DB0A8E8A36}"/>
              </a:ext>
            </a:extLst>
          </p:cNvPr>
          <p:cNvSpPr>
            <a:spLocks noGrp="1"/>
          </p:cNvSpPr>
          <p:nvPr>
            <p:ph type="title" orient="vert"/>
          </p:nvPr>
        </p:nvSpPr>
        <p:spPr>
          <a:xfrm>
            <a:off x="7329488" y="228600"/>
            <a:ext cx="2185987" cy="57150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74824BD-7296-99B4-497F-D64F58BA69A3}"/>
              </a:ext>
            </a:extLst>
          </p:cNvPr>
          <p:cNvSpPr>
            <a:spLocks noGrp="1"/>
          </p:cNvSpPr>
          <p:nvPr>
            <p:ph type="body" orient="vert" idx="1"/>
          </p:nvPr>
        </p:nvSpPr>
        <p:spPr>
          <a:xfrm>
            <a:off x="771525" y="228600"/>
            <a:ext cx="6405563" cy="57150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78C781F-12BC-FFD2-AB94-F2B1BCDF371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1ABA3D85-CD2D-8325-FB45-F8D62BE692C9}"/>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D406CC4-E531-6BBA-44F9-BB4A6762A6F7}"/>
              </a:ext>
            </a:extLst>
          </p:cNvPr>
          <p:cNvSpPr>
            <a:spLocks noGrp="1"/>
          </p:cNvSpPr>
          <p:nvPr>
            <p:ph type="sldNum" sz="quarter" idx="12"/>
          </p:nvPr>
        </p:nvSpPr>
        <p:spPr/>
        <p:txBody>
          <a:bodyPr/>
          <a:lstStyle>
            <a:lvl1pPr>
              <a:defRPr/>
            </a:lvl1pPr>
          </a:lstStyle>
          <a:p>
            <a:fld id="{D23D5F5A-8F53-864F-8A10-2A3616899780}" type="slidenum">
              <a:rPr lang="en-US" altLang="zh-CN"/>
              <a:pPr/>
              <a:t>‹#›</a:t>
            </a:fld>
            <a:endParaRPr lang="en-US" altLang="zh-CN"/>
          </a:p>
        </p:txBody>
      </p:sp>
    </p:spTree>
    <p:extLst>
      <p:ext uri="{BB962C8B-B14F-4D97-AF65-F5344CB8AC3E}">
        <p14:creationId xmlns:p14="http://schemas.microsoft.com/office/powerpoint/2010/main" val="1437858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0D376AB-3A1D-BFE1-EFC8-DFCB7A6216FB}"/>
              </a:ext>
            </a:extLst>
          </p:cNvPr>
          <p:cNvSpPr>
            <a:spLocks noGrp="1"/>
          </p:cNvSpPr>
          <p:nvPr>
            <p:ph/>
          </p:nvPr>
        </p:nvSpPr>
        <p:spPr>
          <a:xfrm>
            <a:off x="771525" y="228600"/>
            <a:ext cx="8743950" cy="5715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99480751-65B7-057C-9516-2B434120C7BA}"/>
              </a:ext>
            </a:extLst>
          </p:cNvPr>
          <p:cNvSpPr>
            <a:spLocks noGrp="1"/>
          </p:cNvSpPr>
          <p:nvPr>
            <p:ph type="dt" sz="half" idx="10"/>
          </p:nvPr>
        </p:nvSpPr>
        <p:spPr>
          <a:xfrm>
            <a:off x="771525" y="6248400"/>
            <a:ext cx="2143125" cy="457200"/>
          </a:xfrm>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4147D85C-5793-3F2F-8798-42DCD13FC4FB}"/>
              </a:ext>
            </a:extLst>
          </p:cNvPr>
          <p:cNvSpPr>
            <a:spLocks noGrp="1"/>
          </p:cNvSpPr>
          <p:nvPr>
            <p:ph type="ftr" sz="quarter" idx="11"/>
          </p:nvPr>
        </p:nvSpPr>
        <p:spPr>
          <a:xfrm>
            <a:off x="3514725" y="6248400"/>
            <a:ext cx="325755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CB94DCD4-9277-B76A-E327-C1D2D4227F1C}"/>
              </a:ext>
            </a:extLst>
          </p:cNvPr>
          <p:cNvSpPr>
            <a:spLocks noGrp="1"/>
          </p:cNvSpPr>
          <p:nvPr>
            <p:ph type="sldNum" sz="quarter" idx="12"/>
          </p:nvPr>
        </p:nvSpPr>
        <p:spPr>
          <a:xfrm>
            <a:off x="7372350" y="6248400"/>
            <a:ext cx="2143125" cy="457200"/>
          </a:xfrm>
        </p:spPr>
        <p:txBody>
          <a:bodyPr/>
          <a:lstStyle>
            <a:lvl1pPr>
              <a:defRPr/>
            </a:lvl1pPr>
          </a:lstStyle>
          <a:p>
            <a:fld id="{58680315-5595-BA43-8E8F-21B6F2A8A9CD}" type="slidenum">
              <a:rPr lang="en-US" altLang="zh-CN"/>
              <a:pPr/>
              <a:t>‹#›</a:t>
            </a:fld>
            <a:endParaRPr lang="en-US" altLang="zh-CN"/>
          </a:p>
        </p:txBody>
      </p:sp>
    </p:spTree>
    <p:extLst>
      <p:ext uri="{BB962C8B-B14F-4D97-AF65-F5344CB8AC3E}">
        <p14:creationId xmlns:p14="http://schemas.microsoft.com/office/powerpoint/2010/main" val="470311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BC9359-3B46-7074-FD35-E0BC1DF5EA92}"/>
              </a:ext>
            </a:extLst>
          </p:cNvPr>
          <p:cNvSpPr>
            <a:spLocks noGrp="1"/>
          </p:cNvSpPr>
          <p:nvPr>
            <p:ph type="title"/>
          </p:nvPr>
        </p:nvSpPr>
        <p:spPr>
          <a:xfrm>
            <a:off x="771525" y="228600"/>
            <a:ext cx="8743950" cy="12192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CC550EA-6DF0-EF6B-78C2-B1B22F4B0AB3}"/>
              </a:ext>
            </a:extLst>
          </p:cNvPr>
          <p:cNvSpPr>
            <a:spLocks noGrp="1"/>
          </p:cNvSpPr>
          <p:nvPr>
            <p:ph type="body" sz="half" idx="1"/>
          </p:nvPr>
        </p:nvSpPr>
        <p:spPr>
          <a:xfrm>
            <a:off x="771525" y="1828800"/>
            <a:ext cx="4295775"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D04DFA2-B9C3-73ED-3AD0-B14311022A60}"/>
              </a:ext>
            </a:extLst>
          </p:cNvPr>
          <p:cNvSpPr>
            <a:spLocks noGrp="1"/>
          </p:cNvSpPr>
          <p:nvPr>
            <p:ph sz="half" idx="2"/>
          </p:nvPr>
        </p:nvSpPr>
        <p:spPr>
          <a:xfrm>
            <a:off x="5219700" y="1828800"/>
            <a:ext cx="4295775"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3B3EB7C-BFF6-91C6-E80C-DAC5705A173B}"/>
              </a:ext>
            </a:extLst>
          </p:cNvPr>
          <p:cNvSpPr>
            <a:spLocks noGrp="1"/>
          </p:cNvSpPr>
          <p:nvPr>
            <p:ph type="dt" sz="half" idx="10"/>
          </p:nvPr>
        </p:nvSpPr>
        <p:spPr>
          <a:xfrm>
            <a:off x="771525" y="6248400"/>
            <a:ext cx="2143125" cy="457200"/>
          </a:xfrm>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A9AFCAE-8971-625D-7EFE-4FAE6143739E}"/>
              </a:ext>
            </a:extLst>
          </p:cNvPr>
          <p:cNvSpPr>
            <a:spLocks noGrp="1"/>
          </p:cNvSpPr>
          <p:nvPr>
            <p:ph type="ftr" sz="quarter" idx="11"/>
          </p:nvPr>
        </p:nvSpPr>
        <p:spPr>
          <a:xfrm>
            <a:off x="3514725" y="6248400"/>
            <a:ext cx="325755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22B13F25-02C1-86D5-20C1-D85B45444FE4}"/>
              </a:ext>
            </a:extLst>
          </p:cNvPr>
          <p:cNvSpPr>
            <a:spLocks noGrp="1"/>
          </p:cNvSpPr>
          <p:nvPr>
            <p:ph type="sldNum" sz="quarter" idx="12"/>
          </p:nvPr>
        </p:nvSpPr>
        <p:spPr>
          <a:xfrm>
            <a:off x="7372350" y="6248400"/>
            <a:ext cx="2143125" cy="457200"/>
          </a:xfrm>
        </p:spPr>
        <p:txBody>
          <a:bodyPr/>
          <a:lstStyle>
            <a:lvl1pPr>
              <a:defRPr/>
            </a:lvl1pPr>
          </a:lstStyle>
          <a:p>
            <a:fld id="{9AF8A36A-BD22-9C4B-9DA5-B6F63920AD22}" type="slidenum">
              <a:rPr lang="en-US" altLang="zh-CN"/>
              <a:pPr/>
              <a:t>‹#›</a:t>
            </a:fld>
            <a:endParaRPr lang="en-US" altLang="zh-CN"/>
          </a:p>
        </p:txBody>
      </p:sp>
    </p:spTree>
    <p:extLst>
      <p:ext uri="{BB962C8B-B14F-4D97-AF65-F5344CB8AC3E}">
        <p14:creationId xmlns:p14="http://schemas.microsoft.com/office/powerpoint/2010/main" val="3322209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1AC940-A557-AD0B-3BDA-611EA5D85EF6}"/>
              </a:ext>
            </a:extLst>
          </p:cNvPr>
          <p:cNvSpPr>
            <a:spLocks noGrp="1"/>
          </p:cNvSpPr>
          <p:nvPr>
            <p:ph type="title"/>
          </p:nvPr>
        </p:nvSpPr>
        <p:spPr>
          <a:xfrm>
            <a:off x="771525" y="228600"/>
            <a:ext cx="8743950" cy="12192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A5903D0-5623-BA29-42A2-11CACE966E13}"/>
              </a:ext>
            </a:extLst>
          </p:cNvPr>
          <p:cNvSpPr>
            <a:spLocks noGrp="1"/>
          </p:cNvSpPr>
          <p:nvPr>
            <p:ph type="body" sz="half" idx="1"/>
          </p:nvPr>
        </p:nvSpPr>
        <p:spPr>
          <a:xfrm>
            <a:off x="771525" y="1828800"/>
            <a:ext cx="4295775"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9EB4C9E-01BE-E58A-6D91-79444F3438CC}"/>
              </a:ext>
            </a:extLst>
          </p:cNvPr>
          <p:cNvSpPr>
            <a:spLocks noGrp="1"/>
          </p:cNvSpPr>
          <p:nvPr>
            <p:ph sz="quarter" idx="2"/>
          </p:nvPr>
        </p:nvSpPr>
        <p:spPr>
          <a:xfrm>
            <a:off x="5219700" y="1828800"/>
            <a:ext cx="4295775"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6C481076-7A0F-621C-FFE5-BBBD245AA2AC}"/>
              </a:ext>
            </a:extLst>
          </p:cNvPr>
          <p:cNvSpPr>
            <a:spLocks noGrp="1"/>
          </p:cNvSpPr>
          <p:nvPr>
            <p:ph sz="quarter" idx="3"/>
          </p:nvPr>
        </p:nvSpPr>
        <p:spPr>
          <a:xfrm>
            <a:off x="5219700" y="3962400"/>
            <a:ext cx="4295775"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日期占位符 5">
            <a:extLst>
              <a:ext uri="{FF2B5EF4-FFF2-40B4-BE49-F238E27FC236}">
                <a16:creationId xmlns:a16="http://schemas.microsoft.com/office/drawing/2014/main" id="{A7AAFE77-6B1E-A37F-9A93-9ABC13A140A0}"/>
              </a:ext>
            </a:extLst>
          </p:cNvPr>
          <p:cNvSpPr>
            <a:spLocks noGrp="1"/>
          </p:cNvSpPr>
          <p:nvPr>
            <p:ph type="dt" sz="half" idx="10"/>
          </p:nvPr>
        </p:nvSpPr>
        <p:spPr>
          <a:xfrm>
            <a:off x="771525" y="6248400"/>
            <a:ext cx="2143125" cy="457200"/>
          </a:xfrm>
        </p:spPr>
        <p:txBody>
          <a:bodyPr/>
          <a:lstStyle>
            <a:lvl1pPr>
              <a:defRPr/>
            </a:lvl1pPr>
          </a:lstStyle>
          <a:p>
            <a:endParaRPr lang="en-US" altLang="zh-CN"/>
          </a:p>
        </p:txBody>
      </p:sp>
      <p:sp>
        <p:nvSpPr>
          <p:cNvPr id="7" name="页脚占位符 6">
            <a:extLst>
              <a:ext uri="{FF2B5EF4-FFF2-40B4-BE49-F238E27FC236}">
                <a16:creationId xmlns:a16="http://schemas.microsoft.com/office/drawing/2014/main" id="{DD258EB8-07F4-D65D-F800-FF34008528C4}"/>
              </a:ext>
            </a:extLst>
          </p:cNvPr>
          <p:cNvSpPr>
            <a:spLocks noGrp="1"/>
          </p:cNvSpPr>
          <p:nvPr>
            <p:ph type="ftr" sz="quarter" idx="11"/>
          </p:nvPr>
        </p:nvSpPr>
        <p:spPr>
          <a:xfrm>
            <a:off x="3514725" y="6248400"/>
            <a:ext cx="3257550" cy="457200"/>
          </a:xfrm>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EC190874-4027-070A-4E06-D91941C2884B}"/>
              </a:ext>
            </a:extLst>
          </p:cNvPr>
          <p:cNvSpPr>
            <a:spLocks noGrp="1"/>
          </p:cNvSpPr>
          <p:nvPr>
            <p:ph type="sldNum" sz="quarter" idx="12"/>
          </p:nvPr>
        </p:nvSpPr>
        <p:spPr>
          <a:xfrm>
            <a:off x="7372350" y="6248400"/>
            <a:ext cx="2143125" cy="457200"/>
          </a:xfrm>
        </p:spPr>
        <p:txBody>
          <a:bodyPr/>
          <a:lstStyle>
            <a:lvl1pPr>
              <a:defRPr/>
            </a:lvl1pPr>
          </a:lstStyle>
          <a:p>
            <a:fld id="{A35D0E9F-F58E-9F40-982C-022301CFBBFE}" type="slidenum">
              <a:rPr lang="en-US" altLang="zh-CN"/>
              <a:pPr/>
              <a:t>‹#›</a:t>
            </a:fld>
            <a:endParaRPr lang="en-US" altLang="zh-CN"/>
          </a:p>
        </p:txBody>
      </p:sp>
    </p:spTree>
    <p:extLst>
      <p:ext uri="{BB962C8B-B14F-4D97-AF65-F5344CB8AC3E}">
        <p14:creationId xmlns:p14="http://schemas.microsoft.com/office/powerpoint/2010/main" val="261352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1030" name="Group 6">
            <a:extLst>
              <a:ext uri="{FF2B5EF4-FFF2-40B4-BE49-F238E27FC236}">
                <a16:creationId xmlns:a16="http://schemas.microsoft.com/office/drawing/2014/main" id="{320869F0-7268-1A67-22DD-A25B86946A16}"/>
              </a:ext>
            </a:extLst>
          </p:cNvPr>
          <p:cNvGrpSpPr>
            <a:grpSpLocks/>
          </p:cNvGrpSpPr>
          <p:nvPr/>
        </p:nvGrpSpPr>
        <p:grpSpPr bwMode="auto">
          <a:xfrm>
            <a:off x="0" y="0"/>
            <a:ext cx="9539288" cy="6173788"/>
            <a:chOff x="0" y="0"/>
            <a:chExt cx="6009" cy="3889"/>
          </a:xfrm>
        </p:grpSpPr>
        <p:sp>
          <p:nvSpPr>
            <p:cNvPr id="1026" name="Freeform 2">
              <a:extLst>
                <a:ext uri="{FF2B5EF4-FFF2-40B4-BE49-F238E27FC236}">
                  <a16:creationId xmlns:a16="http://schemas.microsoft.com/office/drawing/2014/main" id="{5805A7D5-1D67-F3EF-9F80-3184077773A3}"/>
                </a:ext>
              </a:extLst>
            </p:cNvPr>
            <p:cNvSpPr>
              <a:spLocks/>
            </p:cNvSpPr>
            <p:nvPr/>
          </p:nvSpPr>
          <p:spPr bwMode="ltGray">
            <a:xfrm>
              <a:off x="0" y="0"/>
              <a:ext cx="4346" cy="3889"/>
            </a:xfrm>
            <a:custGeom>
              <a:avLst/>
              <a:gdLst>
                <a:gd name="T0" fmla="*/ 4345 w 4346"/>
                <a:gd name="T1" fmla="*/ 3418 h 3889"/>
                <a:gd name="T2" fmla="*/ 514 w 4346"/>
                <a:gd name="T3" fmla="*/ 0 h 3889"/>
                <a:gd name="T4" fmla="*/ 0 w 4346"/>
                <a:gd name="T5" fmla="*/ 0 h 3889"/>
                <a:gd name="T6" fmla="*/ 0 w 4346"/>
                <a:gd name="T7" fmla="*/ 481 h 3889"/>
                <a:gd name="T8" fmla="*/ 3818 w 4346"/>
                <a:gd name="T9" fmla="*/ 3888 h 3889"/>
                <a:gd name="T10" fmla="*/ 4345 w 4346"/>
                <a:gd name="T11" fmla="*/ 3418 h 3889"/>
              </a:gdLst>
              <a:ahLst/>
              <a:cxnLst>
                <a:cxn ang="0">
                  <a:pos x="T0" y="T1"/>
                </a:cxn>
                <a:cxn ang="0">
                  <a:pos x="T2" y="T3"/>
                </a:cxn>
                <a:cxn ang="0">
                  <a:pos x="T4" y="T5"/>
                </a:cxn>
                <a:cxn ang="0">
                  <a:pos x="T6" y="T7"/>
                </a:cxn>
                <a:cxn ang="0">
                  <a:pos x="T8" y="T9"/>
                </a:cxn>
                <a:cxn ang="0">
                  <a:pos x="T10" y="T11"/>
                </a:cxn>
              </a:cxnLst>
              <a:rect l="0" t="0" r="r" b="b"/>
              <a:pathLst>
                <a:path w="4346" h="3889">
                  <a:moveTo>
                    <a:pt x="4345" y="3418"/>
                  </a:moveTo>
                  <a:lnTo>
                    <a:pt x="514" y="0"/>
                  </a:lnTo>
                  <a:lnTo>
                    <a:pt x="0" y="0"/>
                  </a:lnTo>
                  <a:lnTo>
                    <a:pt x="0" y="481"/>
                  </a:lnTo>
                  <a:lnTo>
                    <a:pt x="3818" y="3888"/>
                  </a:lnTo>
                  <a:lnTo>
                    <a:pt x="4345" y="3418"/>
                  </a:lnTo>
                </a:path>
              </a:pathLst>
            </a:custGeom>
            <a:solidFill>
              <a:schemeClr val="bg1">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 name="Freeform 3">
              <a:extLst>
                <a:ext uri="{FF2B5EF4-FFF2-40B4-BE49-F238E27FC236}">
                  <a16:creationId xmlns:a16="http://schemas.microsoft.com/office/drawing/2014/main" id="{D40E921F-841E-4FEE-9FF1-44158A8456C4}"/>
                </a:ext>
              </a:extLst>
            </p:cNvPr>
            <p:cNvSpPr>
              <a:spLocks/>
            </p:cNvSpPr>
            <p:nvPr/>
          </p:nvSpPr>
          <p:spPr bwMode="ltGray">
            <a:xfrm>
              <a:off x="967" y="0"/>
              <a:ext cx="3819" cy="3223"/>
            </a:xfrm>
            <a:custGeom>
              <a:avLst/>
              <a:gdLst>
                <a:gd name="T0" fmla="*/ 416 w 3819"/>
                <a:gd name="T1" fmla="*/ 0 h 3223"/>
                <a:gd name="T2" fmla="*/ 3818 w 3819"/>
                <a:gd name="T3" fmla="*/ 3036 h 3223"/>
                <a:gd name="T4" fmla="*/ 3609 w 3819"/>
                <a:gd name="T5" fmla="*/ 3222 h 3223"/>
                <a:gd name="T6" fmla="*/ 0 w 3819"/>
                <a:gd name="T7" fmla="*/ 0 h 3223"/>
                <a:gd name="T8" fmla="*/ 416 w 3819"/>
                <a:gd name="T9" fmla="*/ 0 h 3223"/>
              </a:gdLst>
              <a:ahLst/>
              <a:cxnLst>
                <a:cxn ang="0">
                  <a:pos x="T0" y="T1"/>
                </a:cxn>
                <a:cxn ang="0">
                  <a:pos x="T2" y="T3"/>
                </a:cxn>
                <a:cxn ang="0">
                  <a:pos x="T4" y="T5"/>
                </a:cxn>
                <a:cxn ang="0">
                  <a:pos x="T6" y="T7"/>
                </a:cxn>
                <a:cxn ang="0">
                  <a:pos x="T8" y="T9"/>
                </a:cxn>
              </a:cxnLst>
              <a:rect l="0" t="0" r="r" b="b"/>
              <a:pathLst>
                <a:path w="3819" h="3223">
                  <a:moveTo>
                    <a:pt x="416" y="0"/>
                  </a:moveTo>
                  <a:lnTo>
                    <a:pt x="3818" y="3036"/>
                  </a:lnTo>
                  <a:lnTo>
                    <a:pt x="3609" y="3222"/>
                  </a:lnTo>
                  <a:lnTo>
                    <a:pt x="0" y="0"/>
                  </a:lnTo>
                  <a:lnTo>
                    <a:pt x="416" y="0"/>
                  </a:lnTo>
                </a:path>
              </a:pathLst>
            </a:custGeom>
            <a:solidFill>
              <a:schemeClr val="bg1">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8" name="Freeform 4">
              <a:extLst>
                <a:ext uri="{FF2B5EF4-FFF2-40B4-BE49-F238E27FC236}">
                  <a16:creationId xmlns:a16="http://schemas.microsoft.com/office/drawing/2014/main" id="{E26D21D8-D9A7-09C6-5A4F-7F1C7F723D8B}"/>
                </a:ext>
              </a:extLst>
            </p:cNvPr>
            <p:cNvSpPr>
              <a:spLocks/>
            </p:cNvSpPr>
            <p:nvPr/>
          </p:nvSpPr>
          <p:spPr bwMode="ltGray">
            <a:xfrm>
              <a:off x="2460" y="0"/>
              <a:ext cx="3217" cy="2556"/>
            </a:xfrm>
            <a:custGeom>
              <a:avLst/>
              <a:gdLst>
                <a:gd name="T0" fmla="*/ 708 w 3217"/>
                <a:gd name="T1" fmla="*/ 0 h 2556"/>
                <a:gd name="T2" fmla="*/ 3216 w 3217"/>
                <a:gd name="T3" fmla="*/ 2238 h 2556"/>
                <a:gd name="T4" fmla="*/ 2861 w 3217"/>
                <a:gd name="T5" fmla="*/ 2555 h 2556"/>
                <a:gd name="T6" fmla="*/ 0 w 3217"/>
                <a:gd name="T7" fmla="*/ 0 h 2556"/>
                <a:gd name="T8" fmla="*/ 708 w 3217"/>
                <a:gd name="T9" fmla="*/ 0 h 2556"/>
              </a:gdLst>
              <a:ahLst/>
              <a:cxnLst>
                <a:cxn ang="0">
                  <a:pos x="T0" y="T1"/>
                </a:cxn>
                <a:cxn ang="0">
                  <a:pos x="T2" y="T3"/>
                </a:cxn>
                <a:cxn ang="0">
                  <a:pos x="T4" y="T5"/>
                </a:cxn>
                <a:cxn ang="0">
                  <a:pos x="T6" y="T7"/>
                </a:cxn>
                <a:cxn ang="0">
                  <a:pos x="T8" y="T9"/>
                </a:cxn>
              </a:cxnLst>
              <a:rect l="0" t="0" r="r" b="b"/>
              <a:pathLst>
                <a:path w="3217" h="2556">
                  <a:moveTo>
                    <a:pt x="708" y="0"/>
                  </a:moveTo>
                  <a:lnTo>
                    <a:pt x="3216" y="2238"/>
                  </a:lnTo>
                  <a:lnTo>
                    <a:pt x="2861" y="2555"/>
                  </a:lnTo>
                  <a:lnTo>
                    <a:pt x="0" y="0"/>
                  </a:lnTo>
                  <a:lnTo>
                    <a:pt x="708" y="0"/>
                  </a:lnTo>
                </a:path>
              </a:pathLst>
            </a:custGeom>
            <a:solidFill>
              <a:schemeClr val="bg1">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 name="Freeform 5">
              <a:extLst>
                <a:ext uri="{FF2B5EF4-FFF2-40B4-BE49-F238E27FC236}">
                  <a16:creationId xmlns:a16="http://schemas.microsoft.com/office/drawing/2014/main" id="{965A1FFD-43A6-5EDB-8A87-A068C6AD1F4E}"/>
                </a:ext>
              </a:extLst>
            </p:cNvPr>
            <p:cNvSpPr>
              <a:spLocks/>
            </p:cNvSpPr>
            <p:nvPr/>
          </p:nvSpPr>
          <p:spPr bwMode="ltGray">
            <a:xfrm>
              <a:off x="3437" y="0"/>
              <a:ext cx="2572" cy="2121"/>
            </a:xfrm>
            <a:custGeom>
              <a:avLst/>
              <a:gdLst>
                <a:gd name="T0" fmla="*/ 0 w 2572"/>
                <a:gd name="T1" fmla="*/ 0 h 2121"/>
                <a:gd name="T2" fmla="*/ 2375 w 2572"/>
                <a:gd name="T3" fmla="*/ 2120 h 2121"/>
                <a:gd name="T4" fmla="*/ 2571 w 2572"/>
                <a:gd name="T5" fmla="*/ 1945 h 2121"/>
                <a:gd name="T6" fmla="*/ 391 w 2572"/>
                <a:gd name="T7" fmla="*/ 0 h 2121"/>
                <a:gd name="T8" fmla="*/ 0 w 2572"/>
                <a:gd name="T9" fmla="*/ 0 h 2121"/>
              </a:gdLst>
              <a:ahLst/>
              <a:cxnLst>
                <a:cxn ang="0">
                  <a:pos x="T0" y="T1"/>
                </a:cxn>
                <a:cxn ang="0">
                  <a:pos x="T2" y="T3"/>
                </a:cxn>
                <a:cxn ang="0">
                  <a:pos x="T4" y="T5"/>
                </a:cxn>
                <a:cxn ang="0">
                  <a:pos x="T6" y="T7"/>
                </a:cxn>
                <a:cxn ang="0">
                  <a:pos x="T8" y="T9"/>
                </a:cxn>
              </a:cxnLst>
              <a:rect l="0" t="0" r="r" b="b"/>
              <a:pathLst>
                <a:path w="2572" h="2121">
                  <a:moveTo>
                    <a:pt x="0" y="0"/>
                  </a:moveTo>
                  <a:lnTo>
                    <a:pt x="2375" y="2120"/>
                  </a:lnTo>
                  <a:lnTo>
                    <a:pt x="2571" y="1945"/>
                  </a:lnTo>
                  <a:lnTo>
                    <a:pt x="391" y="0"/>
                  </a:lnTo>
                  <a:lnTo>
                    <a:pt x="0" y="0"/>
                  </a:lnTo>
                </a:path>
              </a:pathLst>
            </a:custGeom>
            <a:solidFill>
              <a:schemeClr val="bg1">
                <a:alpha val="50000"/>
              </a:schemeClr>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31" name="Rectangle 7">
            <a:extLst>
              <a:ext uri="{FF2B5EF4-FFF2-40B4-BE49-F238E27FC236}">
                <a16:creationId xmlns:a16="http://schemas.microsoft.com/office/drawing/2014/main" id="{FC244DC2-5735-E3D9-9513-9ACCB5D3D36D}"/>
              </a:ext>
            </a:extLst>
          </p:cNvPr>
          <p:cNvSpPr>
            <a:spLocks noGrp="1" noChangeArrowheads="1"/>
          </p:cNvSpPr>
          <p:nvPr>
            <p:ph type="title"/>
          </p:nvPr>
        </p:nvSpPr>
        <p:spPr bwMode="auto">
          <a:xfrm>
            <a:off x="771525" y="228600"/>
            <a:ext cx="874395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zh-CN"/>
              <a:t>Click to edit Master title style</a:t>
            </a:r>
          </a:p>
        </p:txBody>
      </p:sp>
      <p:sp>
        <p:nvSpPr>
          <p:cNvPr id="1032" name="Rectangle 8">
            <a:extLst>
              <a:ext uri="{FF2B5EF4-FFF2-40B4-BE49-F238E27FC236}">
                <a16:creationId xmlns:a16="http://schemas.microsoft.com/office/drawing/2014/main" id="{C554DFD8-6902-42D5-CB08-F57E3D6A925E}"/>
              </a:ext>
            </a:extLst>
          </p:cNvPr>
          <p:cNvSpPr>
            <a:spLocks noGrp="1" noChangeArrowheads="1"/>
          </p:cNvSpPr>
          <p:nvPr>
            <p:ph type="body" idx="1"/>
          </p:nvPr>
        </p:nvSpPr>
        <p:spPr bwMode="auto">
          <a:xfrm>
            <a:off x="771525" y="1828800"/>
            <a:ext cx="87439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33" name="Rectangle 9">
            <a:extLst>
              <a:ext uri="{FF2B5EF4-FFF2-40B4-BE49-F238E27FC236}">
                <a16:creationId xmlns:a16="http://schemas.microsoft.com/office/drawing/2014/main" id="{3E38D75D-2A1F-0824-D9BD-1ED299F0001A}"/>
              </a:ext>
            </a:extLst>
          </p:cNvPr>
          <p:cNvSpPr>
            <a:spLocks noGrp="1" noChangeArrowheads="1"/>
          </p:cNvSpPr>
          <p:nvPr>
            <p:ph type="dt" sz="half" idx="2"/>
          </p:nvPr>
        </p:nvSpPr>
        <p:spPr bwMode="auto">
          <a:xfrm>
            <a:off x="771525" y="6248400"/>
            <a:ext cx="2143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eaLnBrk="0" hangingPunct="0">
              <a:defRPr sz="1400"/>
            </a:lvl1pPr>
          </a:lstStyle>
          <a:p>
            <a:endParaRPr lang="en-US" altLang="zh-CN"/>
          </a:p>
        </p:txBody>
      </p:sp>
      <p:sp>
        <p:nvSpPr>
          <p:cNvPr id="1034" name="Rectangle 10">
            <a:extLst>
              <a:ext uri="{FF2B5EF4-FFF2-40B4-BE49-F238E27FC236}">
                <a16:creationId xmlns:a16="http://schemas.microsoft.com/office/drawing/2014/main" id="{28297DC6-DA38-7CD5-0170-222C84C13597}"/>
              </a:ext>
            </a:extLst>
          </p:cNvPr>
          <p:cNvSpPr>
            <a:spLocks noGrp="1" noChangeArrowheads="1"/>
          </p:cNvSpPr>
          <p:nvPr>
            <p:ph type="ftr" sz="quarter" idx="3"/>
          </p:nvPr>
        </p:nvSpPr>
        <p:spPr bwMode="auto">
          <a:xfrm>
            <a:off x="3514725" y="6248400"/>
            <a:ext cx="3257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0" hangingPunct="0">
              <a:defRPr sz="1400"/>
            </a:lvl1pPr>
          </a:lstStyle>
          <a:p>
            <a:endParaRPr lang="en-US" altLang="zh-CN"/>
          </a:p>
        </p:txBody>
      </p:sp>
      <p:sp>
        <p:nvSpPr>
          <p:cNvPr id="1035" name="Rectangle 11">
            <a:extLst>
              <a:ext uri="{FF2B5EF4-FFF2-40B4-BE49-F238E27FC236}">
                <a16:creationId xmlns:a16="http://schemas.microsoft.com/office/drawing/2014/main" id="{F47AA9F9-AF96-A81D-6A9E-9D84C74137AB}"/>
              </a:ext>
            </a:extLst>
          </p:cNvPr>
          <p:cNvSpPr>
            <a:spLocks noGrp="1" noChangeArrowheads="1"/>
          </p:cNvSpPr>
          <p:nvPr>
            <p:ph type="sldNum" sz="quarter" idx="4"/>
          </p:nvPr>
        </p:nvSpPr>
        <p:spPr bwMode="auto">
          <a:xfrm>
            <a:off x="7372350" y="6248400"/>
            <a:ext cx="2143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eaLnBrk="0" hangingPunct="0">
              <a:defRPr sz="1400"/>
            </a:lvl1pPr>
          </a:lstStyle>
          <a:p>
            <a:fld id="{577191DF-FE3B-9148-8F08-5F8B81EE9B14}" type="slidenum">
              <a:rPr lang="en-US" altLang="zh-CN"/>
              <a:pPr/>
              <a:t>‹#›</a:t>
            </a:fld>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fontAlgn="base">
        <a:spcBef>
          <a:spcPct val="0"/>
        </a:spcBef>
        <a:spcAft>
          <a:spcPct val="0"/>
        </a:spcAft>
        <a:defRPr kumimoji="1"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lr>
          <a:schemeClr val="tx2"/>
        </a:buClr>
        <a:buSzPct val="75000"/>
        <a:buFont typeface="Monotype Sorts" pitchFamily="2" charset="2"/>
        <a:buChar char="n"/>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tx1"/>
        </a:buClr>
        <a:buChar char="–"/>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fontAlgn="base">
        <a:spcBef>
          <a:spcPct val="20000"/>
        </a:spcBef>
        <a:spcAft>
          <a:spcPct val="0"/>
        </a:spcAft>
        <a:buClr>
          <a:schemeClr val="tx1"/>
        </a:buClr>
        <a:buChar char="»"/>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fontAlgn="base">
        <a:spcBef>
          <a:spcPct val="20000"/>
        </a:spcBef>
        <a:spcAft>
          <a:spcPct val="0"/>
        </a:spcAft>
        <a:buClr>
          <a:schemeClr val="tx2"/>
        </a:buClr>
        <a:buSzPct val="63000"/>
        <a:buFont typeface="Monotype Sorts" pitchFamily="2" charset="2"/>
        <a:buChar char="n"/>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fontAlgn="base">
        <a:spcBef>
          <a:spcPct val="20000"/>
        </a:spcBef>
        <a:spcAft>
          <a:spcPct val="0"/>
        </a:spcAft>
        <a:buClr>
          <a:schemeClr val="tx1"/>
        </a:buClr>
        <a:buChar char="–"/>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18.emf"/><Relationship Id="rId5" Type="http://schemas.openxmlformats.org/officeDocument/2006/relationships/oleObject" Target="../embeddings/oleObject5.bin"/><Relationship Id="rId4" Type="http://schemas.openxmlformats.org/officeDocument/2006/relationships/image" Target="../media/image17.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24.emf"/><Relationship Id="rId5" Type="http://schemas.openxmlformats.org/officeDocument/2006/relationships/oleObject" Target="../embeddings/oleObject9.bin"/><Relationship Id="rId4" Type="http://schemas.openxmlformats.org/officeDocument/2006/relationships/image" Target="../media/image17.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oleObject" Target="../embeddings/oleObject11.bin"/><Relationship Id="rId7"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27.emf"/><Relationship Id="rId5" Type="http://schemas.openxmlformats.org/officeDocument/2006/relationships/oleObject" Target="../embeddings/oleObject12.bin"/><Relationship Id="rId4" Type="http://schemas.openxmlformats.org/officeDocument/2006/relationships/image" Target="../media/image26.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1026">
            <a:extLst>
              <a:ext uri="{FF2B5EF4-FFF2-40B4-BE49-F238E27FC236}">
                <a16:creationId xmlns:a16="http://schemas.microsoft.com/office/drawing/2014/main" id="{C326C2C5-9875-2916-3D35-CF5CC8B10EF9}"/>
              </a:ext>
            </a:extLst>
          </p:cNvPr>
          <p:cNvSpPr>
            <a:spLocks noGrp="1" noChangeArrowheads="1"/>
          </p:cNvSpPr>
          <p:nvPr>
            <p:ph type="title"/>
          </p:nvPr>
        </p:nvSpPr>
        <p:spPr>
          <a:xfrm>
            <a:off x="762000" y="838200"/>
            <a:ext cx="8763000" cy="4724400"/>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a:lstStyle/>
          <a:p>
            <a:pPr eaLnBrk="0" hangingPunct="0"/>
            <a:r>
              <a:rPr kumimoji="0" lang="zh-CN" altLang="en-US" sz="5400">
                <a:solidFill>
                  <a:srgbClr val="FF9933"/>
                </a:solidFill>
                <a:ea typeface="隶书" pitchFamily="49" charset="-122"/>
              </a:rPr>
              <a:t>第三章</a:t>
            </a:r>
            <a:br>
              <a:rPr kumimoji="0" lang="zh-CN" altLang="en-US" sz="5400">
                <a:solidFill>
                  <a:srgbClr val="FF9933"/>
                </a:solidFill>
                <a:ea typeface="隶书" pitchFamily="49" charset="-122"/>
              </a:rPr>
            </a:br>
            <a:br>
              <a:rPr kumimoji="0" lang="zh-CN" altLang="en-US" sz="5400">
                <a:solidFill>
                  <a:srgbClr val="FF9933"/>
                </a:solidFill>
                <a:ea typeface="隶书" pitchFamily="49" charset="-122"/>
              </a:rPr>
            </a:br>
            <a:r>
              <a:rPr kumimoji="0" lang="zh-CN" altLang="en-US" sz="5400">
                <a:solidFill>
                  <a:srgbClr val="FF9933"/>
                </a:solidFill>
                <a:ea typeface="隶书" pitchFamily="49" charset="-122"/>
              </a:rPr>
              <a:t>图象增强技术</a:t>
            </a:r>
          </a:p>
        </p:txBody>
      </p:sp>
    </p:spTree>
  </p:cSld>
  <p:clrMapOvr>
    <a:overrideClrMapping bg1="dk2" tx1="lt1" bg2="dk1" tx2="lt2" accent1="accent1" accent2="accent2" accent3="accent3" accent4="accent4" accent5="accent5" accent6="accent6" hlink="hlink" folHlink="folHlink"/>
  </p:clrMapOvr>
  <p:transition advTm="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1026">
            <a:extLst>
              <a:ext uri="{FF2B5EF4-FFF2-40B4-BE49-F238E27FC236}">
                <a16:creationId xmlns:a16="http://schemas.microsoft.com/office/drawing/2014/main" id="{958B5A3F-15F3-B217-7352-0A47D5535438}"/>
              </a:ext>
            </a:extLst>
          </p:cNvPr>
          <p:cNvSpPr>
            <a:spLocks noGrp="1" noChangeArrowheads="1"/>
          </p:cNvSpPr>
          <p:nvPr>
            <p:ph type="title"/>
          </p:nvPr>
        </p:nvSpPr>
        <p:spPr>
          <a:xfrm>
            <a:off x="762000" y="152400"/>
            <a:ext cx="7315200" cy="609600"/>
          </a:xfrm>
          <a:noFill/>
          <a:ln/>
        </p:spPr>
        <p:txBody>
          <a:bodyPr/>
          <a:lstStyle/>
          <a:p>
            <a:pPr algn="l" eaLnBrk="0" hangingPunct="0">
              <a:buSzPct val="120000"/>
              <a:buFont typeface="Times New Roman" panose="02020603050405020304" pitchFamily="18" charset="0"/>
              <a:buChar char="§"/>
            </a:pPr>
            <a:r>
              <a:rPr lang="en-US" altLang="zh-CN" sz="3600" b="1">
                <a:solidFill>
                  <a:srgbClr val="EF9100"/>
                </a:solidFill>
                <a:ea typeface="隶书" pitchFamily="49" charset="-122"/>
              </a:rPr>
              <a:t>  3.4   </a:t>
            </a:r>
            <a:r>
              <a:rPr lang="zh-CN" altLang="en-US" sz="3600" b="1">
                <a:solidFill>
                  <a:srgbClr val="EF9100"/>
                </a:solidFill>
                <a:ea typeface="隶书" pitchFamily="49" charset="-122"/>
              </a:rPr>
              <a:t>频域滤波增强</a:t>
            </a:r>
            <a:endParaRPr lang="zh-CN" altLang="en-US" b="1"/>
          </a:p>
        </p:txBody>
      </p:sp>
      <p:sp>
        <p:nvSpPr>
          <p:cNvPr id="389124" name="Rectangle 1028">
            <a:extLst>
              <a:ext uri="{FF2B5EF4-FFF2-40B4-BE49-F238E27FC236}">
                <a16:creationId xmlns:a16="http://schemas.microsoft.com/office/drawing/2014/main" id="{7625151C-B783-A570-2B0A-AFCFFC7D67DE}"/>
              </a:ext>
            </a:extLst>
          </p:cNvPr>
          <p:cNvSpPr>
            <a:spLocks noChangeArrowheads="1"/>
          </p:cNvSpPr>
          <p:nvPr/>
        </p:nvSpPr>
        <p:spPr bwMode="auto">
          <a:xfrm>
            <a:off x="247650" y="836613"/>
            <a:ext cx="2971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  3.</a:t>
            </a:r>
            <a:r>
              <a:rPr lang="en-US" altLang="zh-CN" b="1">
                <a:solidFill>
                  <a:srgbClr val="34F7F2"/>
                </a:solidFill>
                <a:effectLst>
                  <a:outerShdw blurRad="38100" dist="38100" dir="2700000" algn="tl">
                    <a:srgbClr val="000000"/>
                  </a:outerShdw>
                </a:effectLst>
              </a:rPr>
              <a:t>4.1 </a:t>
            </a:r>
            <a:r>
              <a:rPr lang="zh-CN" altLang="en-US" b="1">
                <a:solidFill>
                  <a:srgbClr val="34F7F2"/>
                </a:solidFill>
                <a:effectLst>
                  <a:outerShdw blurRad="38100" dist="38100" dir="2700000" algn="tl">
                    <a:srgbClr val="000000"/>
                  </a:outerShdw>
                </a:effectLst>
              </a:rPr>
              <a:t>概述</a:t>
            </a:r>
            <a:endParaRPr lang="zh-CN" altLang="en-US" b="1">
              <a:effectLst>
                <a:outerShdw blurRad="38100" dist="38100" dir="2700000" algn="tl">
                  <a:srgbClr val="000000"/>
                </a:outerShdw>
              </a:effectLst>
            </a:endParaRPr>
          </a:p>
        </p:txBody>
      </p:sp>
      <p:sp>
        <p:nvSpPr>
          <p:cNvPr id="389126" name="Rectangle 1030">
            <a:extLst>
              <a:ext uri="{FF2B5EF4-FFF2-40B4-BE49-F238E27FC236}">
                <a16:creationId xmlns:a16="http://schemas.microsoft.com/office/drawing/2014/main" id="{CF47FDFC-4683-456E-422B-694E515ADA8C}"/>
              </a:ext>
            </a:extLst>
          </p:cNvPr>
          <p:cNvSpPr>
            <a:spLocks noChangeArrowheads="1"/>
          </p:cNvSpPr>
          <p:nvPr/>
        </p:nvSpPr>
        <p:spPr bwMode="auto">
          <a:xfrm>
            <a:off x="304800" y="1524000"/>
            <a:ext cx="381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FFFF00"/>
                </a:solidFill>
                <a:effectLst>
                  <a:outerShdw blurRad="38100" dist="38100" dir="2700000" algn="tl">
                    <a:srgbClr val="000000"/>
                  </a:outerShdw>
                </a:effectLst>
              </a:rPr>
              <a:t>频域滤波处理的一般方法：</a:t>
            </a:r>
            <a:endParaRPr lang="zh-CN" altLang="en-US" sz="2000" b="1">
              <a:effectLst>
                <a:outerShdw blurRad="38100" dist="38100" dir="2700000" algn="tl">
                  <a:srgbClr val="000000"/>
                </a:outerShdw>
              </a:effectLst>
            </a:endParaRPr>
          </a:p>
        </p:txBody>
      </p:sp>
      <p:sp>
        <p:nvSpPr>
          <p:cNvPr id="389128" name="Rectangle 1032">
            <a:extLst>
              <a:ext uri="{FF2B5EF4-FFF2-40B4-BE49-F238E27FC236}">
                <a16:creationId xmlns:a16="http://schemas.microsoft.com/office/drawing/2014/main" id="{DAA353A5-DF67-1EA9-6BE5-F386B3AA6ECA}"/>
              </a:ext>
            </a:extLst>
          </p:cNvPr>
          <p:cNvSpPr>
            <a:spLocks noChangeArrowheads="1"/>
          </p:cNvSpPr>
          <p:nvPr/>
        </p:nvSpPr>
        <p:spPr bwMode="auto">
          <a:xfrm>
            <a:off x="3810000" y="3505200"/>
            <a:ext cx="2743200" cy="579438"/>
          </a:xfrm>
          <a:prstGeom prst="rect">
            <a:avLst/>
          </a:prstGeom>
          <a:noFill/>
          <a:ln w="12700">
            <a:solidFill>
              <a:srgbClr val="FF66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71500" indent="-571500">
              <a:defRPr kumimoji="1" sz="2400">
                <a:solidFill>
                  <a:schemeClr val="tx1"/>
                </a:solidFill>
                <a:latin typeface="Times New Roman" panose="02020603050405020304" pitchFamily="18" charset="0"/>
                <a:ea typeface="宋体" panose="02010600030101010101" pitchFamily="2" charset="-122"/>
              </a:defRPr>
            </a:lvl1pPr>
            <a:lvl2pPr marL="863600">
              <a:defRPr kumimoji="1" sz="2400">
                <a:solidFill>
                  <a:schemeClr val="tx1"/>
                </a:solidFill>
                <a:latin typeface="Times New Roman" panose="02020603050405020304" pitchFamily="18" charset="0"/>
                <a:ea typeface="宋体" panose="02010600030101010101" pitchFamily="2" charset="-122"/>
              </a:defRPr>
            </a:lvl2pPr>
            <a:lvl3pPr marL="10541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i="1">
                <a:effectLst>
                  <a:outerShdw blurRad="38100" dist="38100" dir="2700000" algn="tl">
                    <a:srgbClr val="000000"/>
                  </a:outerShdw>
                </a:effectLst>
              </a:rPr>
              <a:t>G(u,v)=H(u,v)F(u,v)</a:t>
            </a:r>
          </a:p>
        </p:txBody>
      </p:sp>
      <p:sp>
        <p:nvSpPr>
          <p:cNvPr id="389129" name="Text Box 1033">
            <a:extLst>
              <a:ext uri="{FF2B5EF4-FFF2-40B4-BE49-F238E27FC236}">
                <a16:creationId xmlns:a16="http://schemas.microsoft.com/office/drawing/2014/main" id="{11261271-4C46-4035-6891-1259578DD702}"/>
              </a:ext>
            </a:extLst>
          </p:cNvPr>
          <p:cNvSpPr txBox="1">
            <a:spLocks noChangeArrowheads="1"/>
          </p:cNvSpPr>
          <p:nvPr/>
        </p:nvSpPr>
        <p:spPr bwMode="auto">
          <a:xfrm>
            <a:off x="762000" y="2362200"/>
            <a:ext cx="936625" cy="531813"/>
          </a:xfrm>
          <a:prstGeom prst="rect">
            <a:avLst/>
          </a:prstGeom>
          <a:noFill/>
          <a:ln w="12700">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ffectLst>
                  <a:outerShdw blurRad="38100" dist="38100" dir="2700000" algn="tl">
                    <a:srgbClr val="000000"/>
                  </a:outerShdw>
                </a:effectLst>
              </a:rPr>
              <a:t>f(x,y)</a:t>
            </a:r>
          </a:p>
        </p:txBody>
      </p:sp>
      <p:sp>
        <p:nvSpPr>
          <p:cNvPr id="389130" name="Text Box 1034">
            <a:extLst>
              <a:ext uri="{FF2B5EF4-FFF2-40B4-BE49-F238E27FC236}">
                <a16:creationId xmlns:a16="http://schemas.microsoft.com/office/drawing/2014/main" id="{37CC4D7E-BEC1-4B3D-C76F-D666827A6827}"/>
              </a:ext>
            </a:extLst>
          </p:cNvPr>
          <p:cNvSpPr txBox="1">
            <a:spLocks noChangeArrowheads="1"/>
          </p:cNvSpPr>
          <p:nvPr/>
        </p:nvSpPr>
        <p:spPr bwMode="auto">
          <a:xfrm>
            <a:off x="3276600" y="2362200"/>
            <a:ext cx="1077913" cy="531813"/>
          </a:xfrm>
          <a:prstGeom prst="rect">
            <a:avLst/>
          </a:prstGeom>
          <a:noFill/>
          <a:ln w="12700">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ffectLst>
                  <a:outerShdw blurRad="38100" dist="38100" dir="2700000" algn="tl">
                    <a:srgbClr val="000000"/>
                  </a:outerShdw>
                </a:effectLst>
              </a:rPr>
              <a:t>F(u,v)</a:t>
            </a:r>
          </a:p>
        </p:txBody>
      </p:sp>
      <p:sp>
        <p:nvSpPr>
          <p:cNvPr id="389131" name="Text Box 1035">
            <a:extLst>
              <a:ext uri="{FF2B5EF4-FFF2-40B4-BE49-F238E27FC236}">
                <a16:creationId xmlns:a16="http://schemas.microsoft.com/office/drawing/2014/main" id="{1AFE7877-2874-69B2-1B37-109E149BEEBF}"/>
              </a:ext>
            </a:extLst>
          </p:cNvPr>
          <p:cNvSpPr txBox="1">
            <a:spLocks noChangeArrowheads="1"/>
          </p:cNvSpPr>
          <p:nvPr/>
        </p:nvSpPr>
        <p:spPr bwMode="auto">
          <a:xfrm>
            <a:off x="5943600" y="2362200"/>
            <a:ext cx="1116013" cy="531813"/>
          </a:xfrm>
          <a:prstGeom prst="rect">
            <a:avLst/>
          </a:prstGeom>
          <a:noFill/>
          <a:ln w="12700">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ffectLst>
                  <a:outerShdw blurRad="38100" dist="38100" dir="2700000" algn="tl">
                    <a:srgbClr val="000000"/>
                  </a:outerShdw>
                </a:effectLst>
              </a:rPr>
              <a:t>G(u,v)</a:t>
            </a:r>
          </a:p>
        </p:txBody>
      </p:sp>
      <p:sp>
        <p:nvSpPr>
          <p:cNvPr id="389132" name="Text Box 1036">
            <a:extLst>
              <a:ext uri="{FF2B5EF4-FFF2-40B4-BE49-F238E27FC236}">
                <a16:creationId xmlns:a16="http://schemas.microsoft.com/office/drawing/2014/main" id="{92B2C9FA-67D4-6F23-594B-F29ABB6C939A}"/>
              </a:ext>
            </a:extLst>
          </p:cNvPr>
          <p:cNvSpPr txBox="1">
            <a:spLocks noChangeArrowheads="1"/>
          </p:cNvSpPr>
          <p:nvPr/>
        </p:nvSpPr>
        <p:spPr bwMode="auto">
          <a:xfrm>
            <a:off x="8686800" y="2362200"/>
            <a:ext cx="1016000" cy="531813"/>
          </a:xfrm>
          <a:prstGeom prst="rect">
            <a:avLst/>
          </a:prstGeom>
          <a:noFill/>
          <a:ln w="12700">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ffectLst>
                  <a:outerShdw blurRad="38100" dist="38100" dir="2700000" algn="tl">
                    <a:srgbClr val="000000"/>
                  </a:outerShdw>
                </a:effectLst>
              </a:rPr>
              <a:t>g(x,y)</a:t>
            </a:r>
          </a:p>
        </p:txBody>
      </p:sp>
      <p:grpSp>
        <p:nvGrpSpPr>
          <p:cNvPr id="389141" name="Group 1045">
            <a:extLst>
              <a:ext uri="{FF2B5EF4-FFF2-40B4-BE49-F238E27FC236}">
                <a16:creationId xmlns:a16="http://schemas.microsoft.com/office/drawing/2014/main" id="{2D3ABB0E-4070-8100-A9AB-01F57D62B95A}"/>
              </a:ext>
            </a:extLst>
          </p:cNvPr>
          <p:cNvGrpSpPr>
            <a:grpSpLocks/>
          </p:cNvGrpSpPr>
          <p:nvPr/>
        </p:nvGrpSpPr>
        <p:grpSpPr bwMode="auto">
          <a:xfrm>
            <a:off x="1752600" y="2057400"/>
            <a:ext cx="1524000" cy="533400"/>
            <a:chOff x="1104" y="1296"/>
            <a:chExt cx="960" cy="336"/>
          </a:xfrm>
        </p:grpSpPr>
        <p:sp>
          <p:nvSpPr>
            <p:cNvPr id="389133" name="Line 1037">
              <a:extLst>
                <a:ext uri="{FF2B5EF4-FFF2-40B4-BE49-F238E27FC236}">
                  <a16:creationId xmlns:a16="http://schemas.microsoft.com/office/drawing/2014/main" id="{38154F52-D7AF-E95E-2498-F8B6C4F26B2A}"/>
                </a:ext>
              </a:extLst>
            </p:cNvPr>
            <p:cNvSpPr>
              <a:spLocks noChangeShapeType="1"/>
            </p:cNvSpPr>
            <p:nvPr/>
          </p:nvSpPr>
          <p:spPr bwMode="auto">
            <a:xfrm>
              <a:off x="1104" y="1632"/>
              <a:ext cx="960"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6" name="Text Box 1040">
              <a:extLst>
                <a:ext uri="{FF2B5EF4-FFF2-40B4-BE49-F238E27FC236}">
                  <a16:creationId xmlns:a16="http://schemas.microsoft.com/office/drawing/2014/main" id="{4B202CBC-E08D-0C53-91F8-AC9A3C745B5B}"/>
                </a:ext>
              </a:extLst>
            </p:cNvPr>
            <p:cNvSpPr txBox="1">
              <a:spLocks noChangeArrowheads="1"/>
            </p:cNvSpPr>
            <p:nvPr/>
          </p:nvSpPr>
          <p:spPr bwMode="auto">
            <a:xfrm>
              <a:off x="1296" y="1296"/>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effectLst>
                    <a:outerShdw blurRad="38100" dist="38100" dir="2700000" algn="tl">
                      <a:srgbClr val="000000"/>
                    </a:outerShdw>
                  </a:effectLst>
                </a:rPr>
                <a:t>变换</a:t>
              </a:r>
            </a:p>
          </p:txBody>
        </p:sp>
      </p:grpSp>
      <p:grpSp>
        <p:nvGrpSpPr>
          <p:cNvPr id="389142" name="Group 1046">
            <a:extLst>
              <a:ext uri="{FF2B5EF4-FFF2-40B4-BE49-F238E27FC236}">
                <a16:creationId xmlns:a16="http://schemas.microsoft.com/office/drawing/2014/main" id="{6C8EB524-7861-12D5-BA70-54B6EEC05F41}"/>
              </a:ext>
            </a:extLst>
          </p:cNvPr>
          <p:cNvGrpSpPr>
            <a:grpSpLocks/>
          </p:cNvGrpSpPr>
          <p:nvPr/>
        </p:nvGrpSpPr>
        <p:grpSpPr bwMode="auto">
          <a:xfrm>
            <a:off x="4343400" y="2057400"/>
            <a:ext cx="1600200" cy="533400"/>
            <a:chOff x="2736" y="1296"/>
            <a:chExt cx="1008" cy="336"/>
          </a:xfrm>
        </p:grpSpPr>
        <p:sp>
          <p:nvSpPr>
            <p:cNvPr id="389134" name="Line 1038">
              <a:extLst>
                <a:ext uri="{FF2B5EF4-FFF2-40B4-BE49-F238E27FC236}">
                  <a16:creationId xmlns:a16="http://schemas.microsoft.com/office/drawing/2014/main" id="{79F00432-8698-4C60-A453-14A823B9DCFC}"/>
                </a:ext>
              </a:extLst>
            </p:cNvPr>
            <p:cNvSpPr>
              <a:spLocks noChangeShapeType="1"/>
            </p:cNvSpPr>
            <p:nvPr/>
          </p:nvSpPr>
          <p:spPr bwMode="auto">
            <a:xfrm>
              <a:off x="2736" y="1632"/>
              <a:ext cx="1008"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7" name="Text Box 1041">
              <a:extLst>
                <a:ext uri="{FF2B5EF4-FFF2-40B4-BE49-F238E27FC236}">
                  <a16:creationId xmlns:a16="http://schemas.microsoft.com/office/drawing/2014/main" id="{5DF9E860-194C-ACDD-09C7-DE03A1874F5C}"/>
                </a:ext>
              </a:extLst>
            </p:cNvPr>
            <p:cNvSpPr txBox="1">
              <a:spLocks noChangeArrowheads="1"/>
            </p:cNvSpPr>
            <p:nvPr/>
          </p:nvSpPr>
          <p:spPr bwMode="auto">
            <a:xfrm>
              <a:off x="2784" y="1296"/>
              <a:ext cx="94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effectLst>
                    <a:outerShdw blurRad="38100" dist="38100" dir="2700000" algn="tl">
                      <a:srgbClr val="000000"/>
                    </a:outerShdw>
                  </a:effectLst>
                </a:rPr>
                <a:t>乘</a:t>
              </a:r>
              <a:r>
                <a:rPr lang="en-US" altLang="zh-CN" b="1" i="1">
                  <a:effectLst>
                    <a:outerShdw blurRad="38100" dist="38100" dir="2700000" algn="tl">
                      <a:srgbClr val="000000"/>
                    </a:outerShdw>
                  </a:effectLst>
                </a:rPr>
                <a:t>H(u,v)</a:t>
              </a:r>
            </a:p>
          </p:txBody>
        </p:sp>
      </p:grpSp>
      <p:grpSp>
        <p:nvGrpSpPr>
          <p:cNvPr id="389143" name="Group 1047">
            <a:extLst>
              <a:ext uri="{FF2B5EF4-FFF2-40B4-BE49-F238E27FC236}">
                <a16:creationId xmlns:a16="http://schemas.microsoft.com/office/drawing/2014/main" id="{34C9D08E-7B60-3079-E556-A43AB8B06D37}"/>
              </a:ext>
            </a:extLst>
          </p:cNvPr>
          <p:cNvGrpSpPr>
            <a:grpSpLocks/>
          </p:cNvGrpSpPr>
          <p:nvPr/>
        </p:nvGrpSpPr>
        <p:grpSpPr bwMode="auto">
          <a:xfrm>
            <a:off x="7086600" y="2057400"/>
            <a:ext cx="1600200" cy="533400"/>
            <a:chOff x="4464" y="1296"/>
            <a:chExt cx="1008" cy="336"/>
          </a:xfrm>
        </p:grpSpPr>
        <p:sp>
          <p:nvSpPr>
            <p:cNvPr id="389135" name="Line 1039">
              <a:extLst>
                <a:ext uri="{FF2B5EF4-FFF2-40B4-BE49-F238E27FC236}">
                  <a16:creationId xmlns:a16="http://schemas.microsoft.com/office/drawing/2014/main" id="{FCC3643C-E004-8A7E-5B14-7B53477034BC}"/>
                </a:ext>
              </a:extLst>
            </p:cNvPr>
            <p:cNvSpPr>
              <a:spLocks noChangeShapeType="1"/>
            </p:cNvSpPr>
            <p:nvPr/>
          </p:nvSpPr>
          <p:spPr bwMode="auto">
            <a:xfrm>
              <a:off x="4464" y="1632"/>
              <a:ext cx="1008" cy="0"/>
            </a:xfrm>
            <a:prstGeom prst="line">
              <a:avLst/>
            </a:prstGeom>
            <a:noFill/>
            <a:ln w="127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8" name="Text Box 1042">
              <a:extLst>
                <a:ext uri="{FF2B5EF4-FFF2-40B4-BE49-F238E27FC236}">
                  <a16:creationId xmlns:a16="http://schemas.microsoft.com/office/drawing/2014/main" id="{845830FA-0B2E-1B80-FEAE-467282B1E71F}"/>
                </a:ext>
              </a:extLst>
            </p:cNvPr>
            <p:cNvSpPr txBox="1">
              <a:spLocks noChangeArrowheads="1"/>
            </p:cNvSpPr>
            <p:nvPr/>
          </p:nvSpPr>
          <p:spPr bwMode="auto">
            <a:xfrm>
              <a:off x="4560" y="1296"/>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effectLst>
                    <a:outerShdw blurRad="38100" dist="38100" dir="2700000" algn="tl">
                      <a:srgbClr val="000000"/>
                    </a:outerShdw>
                  </a:effectLst>
                </a:rPr>
                <a:t>反变换</a:t>
              </a:r>
            </a:p>
          </p:txBody>
        </p:sp>
      </p:grpSp>
      <p:sp>
        <p:nvSpPr>
          <p:cNvPr id="389139" name="AutoShape 1043">
            <a:extLst>
              <a:ext uri="{FF2B5EF4-FFF2-40B4-BE49-F238E27FC236}">
                <a16:creationId xmlns:a16="http://schemas.microsoft.com/office/drawing/2014/main" id="{E222200A-6FA1-0804-A8DD-28D279374E68}"/>
              </a:ext>
            </a:extLst>
          </p:cNvPr>
          <p:cNvSpPr>
            <a:spLocks noChangeArrowheads="1"/>
          </p:cNvSpPr>
          <p:nvPr/>
        </p:nvSpPr>
        <p:spPr bwMode="auto">
          <a:xfrm>
            <a:off x="5029200" y="2971800"/>
            <a:ext cx="152400" cy="381000"/>
          </a:xfrm>
          <a:prstGeom prst="downArrow">
            <a:avLst>
              <a:gd name="adj1" fmla="val 50000"/>
              <a:gd name="adj2" fmla="val 62500"/>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389140" name="Rectangle 1044">
            <a:extLst>
              <a:ext uri="{FF2B5EF4-FFF2-40B4-BE49-F238E27FC236}">
                <a16:creationId xmlns:a16="http://schemas.microsoft.com/office/drawing/2014/main" id="{E3FA2A81-46BE-3EAF-B35E-555972298925}"/>
              </a:ext>
            </a:extLst>
          </p:cNvPr>
          <p:cNvSpPr>
            <a:spLocks noChangeArrowheads="1"/>
          </p:cNvSpPr>
          <p:nvPr/>
        </p:nvSpPr>
        <p:spPr bwMode="auto">
          <a:xfrm>
            <a:off x="381000" y="464820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FFFF00"/>
                </a:solidFill>
                <a:effectLst>
                  <a:outerShdw blurRad="38100" dist="38100" dir="2700000" algn="tl">
                    <a:srgbClr val="000000"/>
                  </a:outerShdw>
                </a:effectLst>
                <a:latin typeface="楷体_GB2312" pitchFamily="49" charset="-122"/>
                <a:ea typeface="楷体_GB2312" pitchFamily="49" charset="-122"/>
              </a:rPr>
              <a:t>因此：频域滤波处理的关键是选取合适的滤波器函数 </a:t>
            </a:r>
            <a:r>
              <a:rPr lang="en-US" altLang="zh-CN" sz="2400" i="1">
                <a:solidFill>
                  <a:srgbClr val="FFFF00"/>
                </a:solidFill>
                <a:effectLst>
                  <a:outerShdw blurRad="38100" dist="38100" dir="2700000" algn="tl">
                    <a:srgbClr val="000000"/>
                  </a:outerShdw>
                </a:effectLst>
                <a:ea typeface="楷体_GB2312" pitchFamily="49" charset="-122"/>
              </a:rPr>
              <a:t>H(u,v) </a:t>
            </a:r>
            <a:r>
              <a:rPr lang="en-US" altLang="zh-CN" sz="2400" b="1">
                <a:solidFill>
                  <a:srgbClr val="FFFF00"/>
                </a:solidFill>
                <a:effectLst>
                  <a:outerShdw blurRad="38100" dist="38100" dir="2700000" algn="tl">
                    <a:srgbClr val="000000"/>
                  </a:outerShdw>
                </a:effectLst>
                <a:latin typeface="宋体" panose="02010600030101010101" pitchFamily="2" charset="-122"/>
              </a:rPr>
              <a:t>!</a:t>
            </a:r>
            <a:endParaRPr lang="en-US" altLang="zh-CN" sz="2400" b="1">
              <a:effectLst>
                <a:outerShdw blurRad="38100" dist="38100" dir="2700000" algn="tl">
                  <a:srgbClr val="000000"/>
                </a:outerShdw>
              </a:effectLst>
              <a:latin typeface="宋体" panose="02010600030101010101" pitchFamily="2" charset="-122"/>
            </a:endParaRPr>
          </a:p>
        </p:txBody>
      </p:sp>
    </p:spTree>
  </p:cSld>
  <p:clrMapOvr>
    <a:masterClrMapping/>
  </p:clrMapOvr>
  <p:transition advTm="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6" name="Rectangle 36">
            <a:extLst>
              <a:ext uri="{FF2B5EF4-FFF2-40B4-BE49-F238E27FC236}">
                <a16:creationId xmlns:a16="http://schemas.microsoft.com/office/drawing/2014/main" id="{19AFA9B7-7FBC-38B7-4169-6A0BC9944459}"/>
              </a:ext>
            </a:extLst>
          </p:cNvPr>
          <p:cNvSpPr>
            <a:spLocks noChangeArrowheads="1"/>
          </p:cNvSpPr>
          <p:nvPr/>
        </p:nvSpPr>
        <p:spPr bwMode="auto">
          <a:xfrm>
            <a:off x="247650" y="188913"/>
            <a:ext cx="46085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3.4.2  </a:t>
            </a:r>
            <a:r>
              <a:rPr lang="zh-CN" altLang="en-US" b="1">
                <a:solidFill>
                  <a:schemeClr val="accent1"/>
                </a:solidFill>
                <a:effectLst>
                  <a:outerShdw blurRad="38100" dist="38100" dir="2700000" algn="tl">
                    <a:srgbClr val="000000"/>
                  </a:outerShdw>
                </a:effectLst>
              </a:rPr>
              <a:t>低通滤波</a:t>
            </a:r>
          </a:p>
        </p:txBody>
      </p:sp>
      <p:grpSp>
        <p:nvGrpSpPr>
          <p:cNvPr id="337980" name="Group 60">
            <a:extLst>
              <a:ext uri="{FF2B5EF4-FFF2-40B4-BE49-F238E27FC236}">
                <a16:creationId xmlns:a16="http://schemas.microsoft.com/office/drawing/2014/main" id="{ADA2B954-AD60-8169-5CAC-4B561C52856A}"/>
              </a:ext>
            </a:extLst>
          </p:cNvPr>
          <p:cNvGrpSpPr>
            <a:grpSpLocks/>
          </p:cNvGrpSpPr>
          <p:nvPr/>
        </p:nvGrpSpPr>
        <p:grpSpPr bwMode="auto">
          <a:xfrm>
            <a:off x="319088" y="779463"/>
            <a:ext cx="9648825" cy="2362200"/>
            <a:chOff x="201" y="288"/>
            <a:chExt cx="6078" cy="1488"/>
          </a:xfrm>
        </p:grpSpPr>
        <p:sp>
          <p:nvSpPr>
            <p:cNvPr id="337957" name="Rectangle 37">
              <a:extLst>
                <a:ext uri="{FF2B5EF4-FFF2-40B4-BE49-F238E27FC236}">
                  <a16:creationId xmlns:a16="http://schemas.microsoft.com/office/drawing/2014/main" id="{B4C59BE7-13E6-998C-DE58-4A0DE91056CF}"/>
                </a:ext>
              </a:extLst>
            </p:cNvPr>
            <p:cNvSpPr>
              <a:spLocks noChangeArrowheads="1"/>
            </p:cNvSpPr>
            <p:nvPr/>
          </p:nvSpPr>
          <p:spPr bwMode="auto">
            <a:xfrm>
              <a:off x="288" y="288"/>
              <a:ext cx="48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chemeClr val="tx2"/>
                  </a:solidFill>
                  <a:effectLst>
                    <a:outerShdw blurRad="38100" dist="38100" dir="2700000" algn="tl">
                      <a:srgbClr val="000000"/>
                    </a:outerShdw>
                  </a:effectLst>
                </a:rPr>
                <a:t>一、理想低通滤波器</a:t>
              </a:r>
            </a:p>
          </p:txBody>
        </p:sp>
        <p:sp>
          <p:nvSpPr>
            <p:cNvPr id="337958" name="Rectangle 38">
              <a:extLst>
                <a:ext uri="{FF2B5EF4-FFF2-40B4-BE49-F238E27FC236}">
                  <a16:creationId xmlns:a16="http://schemas.microsoft.com/office/drawing/2014/main" id="{EE2B1209-E4F6-2265-4B7D-C1BCFF9094B7}"/>
                </a:ext>
              </a:extLst>
            </p:cNvPr>
            <p:cNvSpPr>
              <a:spLocks noChangeArrowheads="1"/>
            </p:cNvSpPr>
            <p:nvPr/>
          </p:nvSpPr>
          <p:spPr bwMode="auto">
            <a:xfrm>
              <a:off x="1488" y="624"/>
              <a:ext cx="67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2000" indent="-762000">
                <a:defRPr kumimoji="1" sz="2400">
                  <a:solidFill>
                    <a:schemeClr val="tx1"/>
                  </a:solidFill>
                  <a:latin typeface="Times New Roman" panose="02020603050405020304" pitchFamily="18" charset="0"/>
                  <a:ea typeface="宋体" panose="02010600030101010101" pitchFamily="2" charset="-122"/>
                </a:defRPr>
              </a:lvl1pPr>
              <a:lvl2pPr marL="952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2000">
                  <a:effectLst>
                    <a:outerShdw blurRad="38100" dist="38100" dir="2700000" algn="tl">
                      <a:srgbClr val="000000"/>
                    </a:outerShdw>
                  </a:effectLst>
                </a:rPr>
                <a:t>H(u,v) =</a:t>
              </a:r>
            </a:p>
          </p:txBody>
        </p:sp>
        <p:sp>
          <p:nvSpPr>
            <p:cNvPr id="337959" name="Rectangle 39">
              <a:extLst>
                <a:ext uri="{FF2B5EF4-FFF2-40B4-BE49-F238E27FC236}">
                  <a16:creationId xmlns:a16="http://schemas.microsoft.com/office/drawing/2014/main" id="{D060A78F-8C8B-CFB7-1CF5-3B0D361F8C4B}"/>
                </a:ext>
              </a:extLst>
            </p:cNvPr>
            <p:cNvSpPr>
              <a:spLocks noChangeArrowheads="1"/>
            </p:cNvSpPr>
            <p:nvPr/>
          </p:nvSpPr>
          <p:spPr bwMode="auto">
            <a:xfrm>
              <a:off x="201" y="1200"/>
              <a:ext cx="607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2000" indent="-762000">
                <a:defRPr kumimoji="1" sz="2400">
                  <a:solidFill>
                    <a:schemeClr val="tx1"/>
                  </a:solidFill>
                  <a:latin typeface="Times New Roman" panose="02020603050405020304" pitchFamily="18" charset="0"/>
                  <a:ea typeface="宋体" panose="02010600030101010101" pitchFamily="2" charset="-122"/>
                </a:defRPr>
              </a:lvl1pPr>
              <a:lvl2pPr marL="952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000" b="1">
                  <a:solidFill>
                    <a:srgbClr val="B3E5BB"/>
                  </a:solidFill>
                  <a:effectLst>
                    <a:outerShdw blurRad="38100" dist="38100" dir="2700000" algn="tl">
                      <a:srgbClr val="000000"/>
                    </a:outerShdw>
                  </a:effectLst>
                </a:rPr>
                <a:t>式中</a:t>
              </a:r>
              <a:r>
                <a:rPr lang="en-US" altLang="zh-CN" sz="2000" b="1">
                  <a:solidFill>
                    <a:srgbClr val="B3E5BB"/>
                  </a:solidFill>
                  <a:effectLst>
                    <a:outerShdw blurRad="38100" dist="38100" dir="2700000" algn="tl">
                      <a:srgbClr val="000000"/>
                    </a:outerShdw>
                  </a:effectLst>
                </a:rPr>
                <a:t>D0</a:t>
              </a:r>
              <a:r>
                <a:rPr lang="zh-CN" altLang="en-US" sz="2000" b="1">
                  <a:solidFill>
                    <a:srgbClr val="B3E5BB"/>
                  </a:solidFill>
                  <a:effectLst>
                    <a:outerShdw blurRad="38100" dist="38100" dir="2700000" algn="tl">
                      <a:srgbClr val="000000"/>
                    </a:outerShdw>
                  </a:effectLst>
                </a:rPr>
                <a:t>为截止频率，是一个非负整数，</a:t>
              </a:r>
              <a:r>
                <a:rPr lang="en-US" altLang="zh-CN" sz="2000" b="1" i="1">
                  <a:solidFill>
                    <a:srgbClr val="B3E5BB"/>
                  </a:solidFill>
                  <a:effectLst>
                    <a:outerShdw blurRad="38100" dist="38100" dir="2700000" algn="tl">
                      <a:srgbClr val="000000"/>
                    </a:outerShdw>
                  </a:effectLst>
                </a:rPr>
                <a:t>D(u,v)</a:t>
              </a:r>
              <a:r>
                <a:rPr lang="zh-CN" altLang="en-US" sz="2000" b="1">
                  <a:solidFill>
                    <a:srgbClr val="B3E5BB"/>
                  </a:solidFill>
                  <a:effectLst>
                    <a:outerShdw blurRad="38100" dist="38100" dir="2700000" algn="tl">
                      <a:srgbClr val="000000"/>
                    </a:outerShdw>
                  </a:effectLst>
                </a:rPr>
                <a:t>是从点</a:t>
              </a:r>
              <a:r>
                <a:rPr lang="en-US" altLang="zh-CN" sz="2000" b="1" i="1">
                  <a:solidFill>
                    <a:srgbClr val="B3E5BB"/>
                  </a:solidFill>
                  <a:effectLst>
                    <a:outerShdw blurRad="38100" dist="38100" dir="2700000" algn="tl">
                      <a:srgbClr val="000000"/>
                    </a:outerShdw>
                  </a:effectLst>
                </a:rPr>
                <a:t>(u,v)</a:t>
              </a:r>
              <a:r>
                <a:rPr lang="en-US" altLang="zh-CN" sz="2000" b="1">
                  <a:solidFill>
                    <a:srgbClr val="B3E5BB"/>
                  </a:solidFill>
                  <a:effectLst>
                    <a:outerShdw blurRad="38100" dist="38100" dir="2700000" algn="tl">
                      <a:srgbClr val="000000"/>
                    </a:outerShdw>
                  </a:effectLst>
                </a:rPr>
                <a:t> </a:t>
              </a:r>
              <a:r>
                <a:rPr lang="zh-CN" altLang="en-US" sz="2000" b="1">
                  <a:solidFill>
                    <a:srgbClr val="B3E5BB"/>
                  </a:solidFill>
                  <a:effectLst>
                    <a:outerShdw blurRad="38100" dist="38100" dir="2700000" algn="tl">
                      <a:srgbClr val="000000"/>
                    </a:outerShdw>
                  </a:effectLst>
                </a:rPr>
                <a:t>到频率平面原点的距离。</a:t>
              </a:r>
            </a:p>
          </p:txBody>
        </p:sp>
        <p:sp>
          <p:nvSpPr>
            <p:cNvPr id="337960" name="Rectangle 40">
              <a:extLst>
                <a:ext uri="{FF2B5EF4-FFF2-40B4-BE49-F238E27FC236}">
                  <a16:creationId xmlns:a16="http://schemas.microsoft.com/office/drawing/2014/main" id="{7C116703-807B-A205-A873-E65E5CF43B5D}"/>
                </a:ext>
              </a:extLst>
            </p:cNvPr>
            <p:cNvSpPr>
              <a:spLocks noChangeArrowheads="1"/>
            </p:cNvSpPr>
            <p:nvPr/>
          </p:nvSpPr>
          <p:spPr bwMode="auto">
            <a:xfrm>
              <a:off x="2592" y="384"/>
              <a:ext cx="196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952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2000">
                  <a:effectLst>
                    <a:outerShdw blurRad="38100" dist="38100" dir="2700000" algn="tl">
                      <a:srgbClr val="000000"/>
                    </a:outerShdw>
                  </a:effectLst>
                </a:rPr>
                <a:t>1	</a:t>
              </a:r>
              <a:r>
                <a:rPr lang="zh-CN" altLang="en-US" sz="2000">
                  <a:effectLst>
                    <a:outerShdw blurRad="38100" dist="38100" dir="2700000" algn="tl">
                      <a:srgbClr val="000000"/>
                    </a:outerShdw>
                  </a:effectLst>
                </a:rPr>
                <a:t>当</a:t>
              </a:r>
              <a:r>
                <a:rPr lang="en-US" altLang="zh-CN" sz="2000">
                  <a:effectLst>
                    <a:outerShdw blurRad="38100" dist="38100" dir="2700000" algn="tl">
                      <a:srgbClr val="000000"/>
                    </a:outerShdw>
                  </a:effectLst>
                </a:rPr>
                <a:t>D(u,v)</a:t>
              </a:r>
              <a:r>
                <a:rPr lang="en-US" altLang="zh-CN" sz="2000">
                  <a:effectLst>
                    <a:outerShdw blurRad="38100" dist="38100" dir="2700000" algn="tl">
                      <a:srgbClr val="000000"/>
                    </a:outerShdw>
                  </a:effectLst>
                  <a:cs typeface="Times New Roman" panose="02020603050405020304" pitchFamily="18" charset="0"/>
                </a:rPr>
                <a:t>≦</a:t>
              </a:r>
              <a:r>
                <a:rPr lang="en-US" altLang="zh-CN" sz="2000">
                  <a:effectLst>
                    <a:outerShdw blurRad="38100" dist="38100" dir="2700000" algn="tl">
                      <a:srgbClr val="000000"/>
                    </a:outerShdw>
                  </a:effectLst>
                </a:rPr>
                <a:t>D</a:t>
              </a:r>
              <a:r>
                <a:rPr lang="en-US" altLang="zh-CN" sz="2000" baseline="-25000">
                  <a:effectLst>
                    <a:outerShdw blurRad="38100" dist="38100" dir="2700000" algn="tl">
                      <a:srgbClr val="000000"/>
                    </a:outerShdw>
                  </a:effectLst>
                </a:rPr>
                <a:t>0</a:t>
              </a:r>
            </a:p>
          </p:txBody>
        </p:sp>
        <p:sp>
          <p:nvSpPr>
            <p:cNvPr id="337963" name="AutoShape 43">
              <a:extLst>
                <a:ext uri="{FF2B5EF4-FFF2-40B4-BE49-F238E27FC236}">
                  <a16:creationId xmlns:a16="http://schemas.microsoft.com/office/drawing/2014/main" id="{826D0306-3870-2B5B-1FE6-32E117D1993C}"/>
                </a:ext>
              </a:extLst>
            </p:cNvPr>
            <p:cNvSpPr>
              <a:spLocks/>
            </p:cNvSpPr>
            <p:nvPr/>
          </p:nvSpPr>
          <p:spPr bwMode="auto">
            <a:xfrm>
              <a:off x="2256" y="528"/>
              <a:ext cx="144" cy="576"/>
            </a:xfrm>
            <a:prstGeom prst="leftBrace">
              <a:avLst>
                <a:gd name="adj1" fmla="val 3333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64" name="Rectangle 44">
              <a:extLst>
                <a:ext uri="{FF2B5EF4-FFF2-40B4-BE49-F238E27FC236}">
                  <a16:creationId xmlns:a16="http://schemas.microsoft.com/office/drawing/2014/main" id="{9EA6D2F0-A311-124D-D53F-ABE4975C6C8E}"/>
                </a:ext>
              </a:extLst>
            </p:cNvPr>
            <p:cNvSpPr>
              <a:spLocks noChangeArrowheads="1"/>
            </p:cNvSpPr>
            <p:nvPr/>
          </p:nvSpPr>
          <p:spPr bwMode="auto">
            <a:xfrm>
              <a:off x="2592" y="816"/>
              <a:ext cx="216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952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2000">
                  <a:effectLst>
                    <a:outerShdw blurRad="38100" dist="38100" dir="2700000" algn="tl">
                      <a:srgbClr val="000000"/>
                    </a:outerShdw>
                  </a:effectLst>
                </a:rPr>
                <a:t>0	</a:t>
              </a:r>
              <a:r>
                <a:rPr lang="zh-CN" altLang="en-US" sz="2000">
                  <a:effectLst>
                    <a:outerShdw blurRad="38100" dist="38100" dir="2700000" algn="tl">
                      <a:srgbClr val="000000"/>
                    </a:outerShdw>
                  </a:effectLst>
                </a:rPr>
                <a:t>当</a:t>
              </a:r>
              <a:r>
                <a:rPr lang="en-US" altLang="zh-CN" sz="2000">
                  <a:effectLst>
                    <a:outerShdw blurRad="38100" dist="38100" dir="2700000" algn="tl">
                      <a:srgbClr val="000000"/>
                    </a:outerShdw>
                  </a:effectLst>
                </a:rPr>
                <a:t>D(u,v) </a:t>
              </a:r>
              <a:r>
                <a:rPr lang="en-US" altLang="zh-CN" sz="2000">
                  <a:effectLst>
                    <a:outerShdw blurRad="38100" dist="38100" dir="2700000" algn="tl">
                      <a:srgbClr val="000000"/>
                    </a:outerShdw>
                  </a:effectLst>
                  <a:cs typeface="Times New Roman" panose="02020603050405020304" pitchFamily="18" charset="0"/>
                </a:rPr>
                <a:t>&gt; </a:t>
              </a:r>
              <a:r>
                <a:rPr lang="en-US" altLang="zh-CN" sz="2000">
                  <a:effectLst>
                    <a:outerShdw blurRad="38100" dist="38100" dir="2700000" algn="tl">
                      <a:srgbClr val="000000"/>
                    </a:outerShdw>
                  </a:effectLst>
                </a:rPr>
                <a:t>D</a:t>
              </a:r>
              <a:r>
                <a:rPr lang="en-US" altLang="zh-CN" sz="2000" baseline="-25000">
                  <a:effectLst>
                    <a:outerShdw blurRad="38100" dist="38100" dir="2700000" algn="tl">
                      <a:srgbClr val="000000"/>
                    </a:outerShdw>
                  </a:effectLst>
                </a:rPr>
                <a:t>0</a:t>
              </a:r>
              <a:endParaRPr lang="en-US" altLang="zh-CN" sz="2000">
                <a:effectLst>
                  <a:outerShdw blurRad="38100" dist="38100" dir="2700000" algn="tl">
                    <a:srgbClr val="000000"/>
                  </a:outerShdw>
                </a:effectLst>
              </a:endParaRPr>
            </a:p>
          </p:txBody>
        </p:sp>
        <p:sp>
          <p:nvSpPr>
            <p:cNvPr id="337965" name="Rectangle 45">
              <a:extLst>
                <a:ext uri="{FF2B5EF4-FFF2-40B4-BE49-F238E27FC236}">
                  <a16:creationId xmlns:a16="http://schemas.microsoft.com/office/drawing/2014/main" id="{E5FD74E3-DB8B-85EF-6667-AE21C6618CDD}"/>
                </a:ext>
              </a:extLst>
            </p:cNvPr>
            <p:cNvSpPr>
              <a:spLocks noChangeArrowheads="1"/>
            </p:cNvSpPr>
            <p:nvPr/>
          </p:nvSpPr>
          <p:spPr bwMode="auto">
            <a:xfrm>
              <a:off x="1392" y="1488"/>
              <a:ext cx="15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i="1">
                  <a:effectLst>
                    <a:outerShdw blurRad="38100" dist="38100" dir="2700000" algn="tl">
                      <a:srgbClr val="000000"/>
                    </a:outerShdw>
                  </a:effectLst>
                </a:rPr>
                <a:t>D(u,v)</a:t>
              </a:r>
              <a:r>
                <a:rPr lang="zh-CN" altLang="en-US" sz="2400" i="1">
                  <a:effectLst>
                    <a:outerShdw blurRad="38100" dist="38100" dir="2700000" algn="tl">
                      <a:srgbClr val="000000"/>
                    </a:outerShdw>
                  </a:effectLst>
                </a:rPr>
                <a:t>＝</a:t>
              </a:r>
              <a:r>
                <a:rPr lang="en-US" altLang="zh-CN" sz="2400" i="1">
                  <a:effectLst>
                    <a:outerShdw blurRad="38100" dist="38100" dir="2700000" algn="tl">
                      <a:srgbClr val="000000"/>
                    </a:outerShdw>
                  </a:effectLst>
                </a:rPr>
                <a:t>(u</a:t>
              </a:r>
              <a:r>
                <a:rPr lang="en-US" altLang="zh-CN" sz="2400" i="1" baseline="30000">
                  <a:effectLst>
                    <a:outerShdw blurRad="38100" dist="38100" dir="2700000" algn="tl">
                      <a:srgbClr val="000000"/>
                    </a:outerShdw>
                  </a:effectLst>
                </a:rPr>
                <a:t>2</a:t>
              </a:r>
              <a:r>
                <a:rPr lang="en-US" altLang="zh-CN" sz="2400" i="1">
                  <a:effectLst>
                    <a:outerShdw blurRad="38100" dist="38100" dir="2700000" algn="tl">
                      <a:srgbClr val="000000"/>
                    </a:outerShdw>
                  </a:effectLst>
                </a:rPr>
                <a:t>+v</a:t>
              </a:r>
              <a:r>
                <a:rPr lang="en-US" altLang="zh-CN" sz="2400" i="1" baseline="30000">
                  <a:effectLst>
                    <a:outerShdw blurRad="38100" dist="38100" dir="2700000" algn="tl">
                      <a:srgbClr val="000000"/>
                    </a:outerShdw>
                  </a:effectLst>
                </a:rPr>
                <a:t>2</a:t>
              </a:r>
              <a:r>
                <a:rPr lang="en-US" altLang="zh-CN" sz="2400" i="1">
                  <a:effectLst>
                    <a:outerShdw blurRad="38100" dist="38100" dir="2700000" algn="tl">
                      <a:srgbClr val="000000"/>
                    </a:outerShdw>
                  </a:effectLst>
                </a:rPr>
                <a:t>)</a:t>
              </a:r>
              <a:r>
                <a:rPr lang="en-US" altLang="zh-CN" sz="2400" i="1" baseline="30000">
                  <a:effectLst>
                    <a:outerShdw blurRad="38100" dist="38100" dir="2700000" algn="tl">
                      <a:srgbClr val="000000"/>
                    </a:outerShdw>
                  </a:effectLst>
                </a:rPr>
                <a:t>1/2</a:t>
              </a:r>
            </a:p>
          </p:txBody>
        </p:sp>
      </p:grpSp>
      <p:sp>
        <p:nvSpPr>
          <p:cNvPr id="337968" name="Rectangle 48">
            <a:extLst>
              <a:ext uri="{FF2B5EF4-FFF2-40B4-BE49-F238E27FC236}">
                <a16:creationId xmlns:a16="http://schemas.microsoft.com/office/drawing/2014/main" id="{CAF842AE-FAE5-CF85-358F-5769C990A35C}"/>
              </a:ext>
            </a:extLst>
          </p:cNvPr>
          <p:cNvSpPr>
            <a:spLocks noChangeArrowheads="1"/>
          </p:cNvSpPr>
          <p:nvPr>
            <p:ph type="body" idx="1"/>
          </p:nvPr>
        </p:nvSpPr>
        <p:spPr>
          <a:xfrm>
            <a:off x="3703638" y="3284538"/>
            <a:ext cx="4064000" cy="431800"/>
          </a:xfrm>
          <a:noFill/>
          <a:ln/>
        </p:spPr>
        <p:txBody>
          <a:bodyPr/>
          <a:lstStyle/>
          <a:p>
            <a:pPr>
              <a:buFont typeface="Monotype Sorts" pitchFamily="2" charset="2"/>
              <a:buNone/>
            </a:pPr>
            <a:r>
              <a:rPr lang="zh-CN" altLang="en-US" sz="2000" b="1">
                <a:solidFill>
                  <a:srgbClr val="34F7F2"/>
                </a:solidFill>
              </a:rPr>
              <a:t>理想低通滤波器的截面图</a:t>
            </a:r>
          </a:p>
        </p:txBody>
      </p:sp>
      <p:grpSp>
        <p:nvGrpSpPr>
          <p:cNvPr id="337979" name="Group 59">
            <a:extLst>
              <a:ext uri="{FF2B5EF4-FFF2-40B4-BE49-F238E27FC236}">
                <a16:creationId xmlns:a16="http://schemas.microsoft.com/office/drawing/2014/main" id="{BADAE69F-24FB-CD31-839C-3414C98690C5}"/>
              </a:ext>
            </a:extLst>
          </p:cNvPr>
          <p:cNvGrpSpPr>
            <a:grpSpLocks/>
          </p:cNvGrpSpPr>
          <p:nvPr/>
        </p:nvGrpSpPr>
        <p:grpSpPr bwMode="auto">
          <a:xfrm>
            <a:off x="1447800" y="3155950"/>
            <a:ext cx="7315200" cy="3657600"/>
            <a:chOff x="912" y="1872"/>
            <a:chExt cx="4608" cy="2304"/>
          </a:xfrm>
        </p:grpSpPr>
        <p:sp>
          <p:nvSpPr>
            <p:cNvPr id="337969" name="Line 49">
              <a:extLst>
                <a:ext uri="{FF2B5EF4-FFF2-40B4-BE49-F238E27FC236}">
                  <a16:creationId xmlns:a16="http://schemas.microsoft.com/office/drawing/2014/main" id="{DB13F0B0-D97E-E501-1C2D-2BC56318BD3B}"/>
                </a:ext>
              </a:extLst>
            </p:cNvPr>
            <p:cNvSpPr>
              <a:spLocks noChangeShapeType="1"/>
            </p:cNvSpPr>
            <p:nvPr/>
          </p:nvSpPr>
          <p:spPr bwMode="auto">
            <a:xfrm>
              <a:off x="1096" y="3936"/>
              <a:ext cx="2544"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7970" name="Line 50">
              <a:extLst>
                <a:ext uri="{FF2B5EF4-FFF2-40B4-BE49-F238E27FC236}">
                  <a16:creationId xmlns:a16="http://schemas.microsoft.com/office/drawing/2014/main" id="{E676AB13-07D2-D400-91A0-2B7CEB9900B1}"/>
                </a:ext>
              </a:extLst>
            </p:cNvPr>
            <p:cNvSpPr>
              <a:spLocks noChangeShapeType="1"/>
            </p:cNvSpPr>
            <p:nvPr/>
          </p:nvSpPr>
          <p:spPr bwMode="auto">
            <a:xfrm flipV="1">
              <a:off x="1096" y="1872"/>
              <a:ext cx="0" cy="206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7971" name="Line 51">
              <a:extLst>
                <a:ext uri="{FF2B5EF4-FFF2-40B4-BE49-F238E27FC236}">
                  <a16:creationId xmlns:a16="http://schemas.microsoft.com/office/drawing/2014/main" id="{EB71CC34-39C1-D6A7-170D-5D86831C6285}"/>
                </a:ext>
              </a:extLst>
            </p:cNvPr>
            <p:cNvSpPr>
              <a:spLocks noChangeShapeType="1"/>
            </p:cNvSpPr>
            <p:nvPr/>
          </p:nvSpPr>
          <p:spPr bwMode="auto">
            <a:xfrm>
              <a:off x="1096" y="3024"/>
              <a:ext cx="13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7972" name="Line 52">
              <a:extLst>
                <a:ext uri="{FF2B5EF4-FFF2-40B4-BE49-F238E27FC236}">
                  <a16:creationId xmlns:a16="http://schemas.microsoft.com/office/drawing/2014/main" id="{42499FF1-F524-1969-522E-10FA2B8D413F}"/>
                </a:ext>
              </a:extLst>
            </p:cNvPr>
            <p:cNvSpPr>
              <a:spLocks noChangeShapeType="1"/>
            </p:cNvSpPr>
            <p:nvPr/>
          </p:nvSpPr>
          <p:spPr bwMode="auto">
            <a:xfrm>
              <a:off x="2440" y="3024"/>
              <a:ext cx="0" cy="9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7973" name="Text Box 53">
              <a:extLst>
                <a:ext uri="{FF2B5EF4-FFF2-40B4-BE49-F238E27FC236}">
                  <a16:creationId xmlns:a16="http://schemas.microsoft.com/office/drawing/2014/main" id="{105D5145-31FD-287F-B7B8-2829442A066B}"/>
                </a:ext>
              </a:extLst>
            </p:cNvPr>
            <p:cNvSpPr txBox="1">
              <a:spLocks noChangeArrowheads="1"/>
            </p:cNvSpPr>
            <p:nvPr/>
          </p:nvSpPr>
          <p:spPr bwMode="auto">
            <a:xfrm>
              <a:off x="980" y="3888"/>
              <a:ext cx="212"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0</a:t>
              </a:r>
            </a:p>
          </p:txBody>
        </p:sp>
        <p:sp>
          <p:nvSpPr>
            <p:cNvPr id="337974" name="Text Box 54">
              <a:extLst>
                <a:ext uri="{FF2B5EF4-FFF2-40B4-BE49-F238E27FC236}">
                  <a16:creationId xmlns:a16="http://schemas.microsoft.com/office/drawing/2014/main" id="{33677C0D-351B-5271-9C7C-69B4FFBAAA43}"/>
                </a:ext>
              </a:extLst>
            </p:cNvPr>
            <p:cNvSpPr txBox="1">
              <a:spLocks noChangeArrowheads="1"/>
            </p:cNvSpPr>
            <p:nvPr/>
          </p:nvSpPr>
          <p:spPr bwMode="auto">
            <a:xfrm>
              <a:off x="2265" y="3888"/>
              <a:ext cx="319"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D</a:t>
              </a:r>
              <a:r>
                <a:rPr lang="en-US" altLang="zh-CN" sz="2400" b="1" baseline="-25000"/>
                <a:t>0</a:t>
              </a:r>
              <a:endParaRPr lang="en-US" altLang="zh-CN" sz="2400" b="1"/>
            </a:p>
          </p:txBody>
        </p:sp>
        <p:sp>
          <p:nvSpPr>
            <p:cNvPr id="337975" name="Text Box 55">
              <a:extLst>
                <a:ext uri="{FF2B5EF4-FFF2-40B4-BE49-F238E27FC236}">
                  <a16:creationId xmlns:a16="http://schemas.microsoft.com/office/drawing/2014/main" id="{186D7B32-780D-C628-0E63-E3409211B4B4}"/>
                </a:ext>
              </a:extLst>
            </p:cNvPr>
            <p:cNvSpPr txBox="1">
              <a:spLocks noChangeArrowheads="1"/>
            </p:cNvSpPr>
            <p:nvPr/>
          </p:nvSpPr>
          <p:spPr bwMode="auto">
            <a:xfrm>
              <a:off x="3237" y="3888"/>
              <a:ext cx="623"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D(</a:t>
              </a:r>
              <a:r>
                <a:rPr lang="en-US" altLang="zh-CN" sz="2400" b="1" i="1"/>
                <a:t>u,v</a:t>
              </a:r>
              <a:r>
                <a:rPr lang="en-US" altLang="zh-CN" sz="2400" b="1"/>
                <a:t>)</a:t>
              </a:r>
            </a:p>
          </p:txBody>
        </p:sp>
        <p:sp>
          <p:nvSpPr>
            <p:cNvPr id="337976" name="Text Box 56">
              <a:extLst>
                <a:ext uri="{FF2B5EF4-FFF2-40B4-BE49-F238E27FC236}">
                  <a16:creationId xmlns:a16="http://schemas.microsoft.com/office/drawing/2014/main" id="{B041513F-D38B-7060-E5EE-C8605419962F}"/>
                </a:ext>
              </a:extLst>
            </p:cNvPr>
            <p:cNvSpPr txBox="1">
              <a:spLocks noChangeArrowheads="1"/>
            </p:cNvSpPr>
            <p:nvPr/>
          </p:nvSpPr>
          <p:spPr bwMode="auto">
            <a:xfrm>
              <a:off x="1144" y="1872"/>
              <a:ext cx="633"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H(</a:t>
              </a:r>
              <a:r>
                <a:rPr lang="en-US" altLang="zh-CN" sz="2400" b="1" i="1"/>
                <a:t>u,v</a:t>
              </a:r>
              <a:r>
                <a:rPr lang="en-US" altLang="zh-CN" sz="2400" b="1"/>
                <a:t>)</a:t>
              </a:r>
            </a:p>
          </p:txBody>
        </p:sp>
        <p:sp>
          <p:nvSpPr>
            <p:cNvPr id="337977" name="Text Box 57">
              <a:extLst>
                <a:ext uri="{FF2B5EF4-FFF2-40B4-BE49-F238E27FC236}">
                  <a16:creationId xmlns:a16="http://schemas.microsoft.com/office/drawing/2014/main" id="{0EA21819-8F5C-A536-EABA-F71315E567EB}"/>
                </a:ext>
              </a:extLst>
            </p:cNvPr>
            <p:cNvSpPr txBox="1">
              <a:spLocks noChangeArrowheads="1"/>
            </p:cNvSpPr>
            <p:nvPr/>
          </p:nvSpPr>
          <p:spPr bwMode="auto">
            <a:xfrm>
              <a:off x="912" y="2880"/>
              <a:ext cx="212"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1</a:t>
              </a:r>
            </a:p>
          </p:txBody>
        </p:sp>
        <p:sp>
          <p:nvSpPr>
            <p:cNvPr id="337978" name="Text Box 58">
              <a:extLst>
                <a:ext uri="{FF2B5EF4-FFF2-40B4-BE49-F238E27FC236}">
                  <a16:creationId xmlns:a16="http://schemas.microsoft.com/office/drawing/2014/main" id="{7B0B6080-356B-5809-76A1-6CB88D910912}"/>
                </a:ext>
              </a:extLst>
            </p:cNvPr>
            <p:cNvSpPr txBox="1">
              <a:spLocks noChangeArrowheads="1"/>
            </p:cNvSpPr>
            <p:nvPr/>
          </p:nvSpPr>
          <p:spPr bwMode="auto">
            <a:xfrm>
              <a:off x="2304" y="2323"/>
              <a:ext cx="3216" cy="25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spcBef>
                  <a:spcPct val="50000"/>
                </a:spcBef>
              </a:pPr>
              <a:r>
                <a:rPr lang="en-US" altLang="zh-CN" sz="2000" b="1">
                  <a:solidFill>
                    <a:schemeClr val="accent2"/>
                  </a:solidFill>
                  <a:latin typeface="方正大黑简体" pitchFamily="65" charset="-122"/>
                  <a:ea typeface="方正大黑简体" pitchFamily="65" charset="-122"/>
                </a:rPr>
                <a:t>H(u,v)</a:t>
              </a:r>
              <a:r>
                <a:rPr lang="zh-CN" altLang="en-US" sz="2000" b="1">
                  <a:solidFill>
                    <a:schemeClr val="accent2"/>
                  </a:solidFill>
                  <a:latin typeface="方正大黑简体" pitchFamily="65" charset="-122"/>
                  <a:ea typeface="方正大黑简体" pitchFamily="65" charset="-122"/>
                </a:rPr>
                <a:t>作为距离函数</a:t>
              </a:r>
              <a:r>
                <a:rPr lang="en-US" altLang="zh-CN" sz="2000" b="1">
                  <a:solidFill>
                    <a:schemeClr val="accent2"/>
                  </a:solidFill>
                  <a:latin typeface="方正大黑简体" pitchFamily="65" charset="-122"/>
                  <a:ea typeface="方正大黑简体" pitchFamily="65" charset="-122"/>
                </a:rPr>
                <a:t>D(u,v)</a:t>
              </a:r>
              <a:r>
                <a:rPr lang="zh-CN" altLang="en-US" sz="2000" b="1">
                  <a:solidFill>
                    <a:schemeClr val="accent2"/>
                  </a:solidFill>
                  <a:latin typeface="方正大黑简体" pitchFamily="65" charset="-122"/>
                  <a:ea typeface="方正大黑简体" pitchFamily="65" charset="-122"/>
                </a:rPr>
                <a:t>的函数的截面图</a:t>
              </a:r>
              <a:endParaRPr lang="zh-CN" altLang="en-US" sz="2000" b="1">
                <a:latin typeface="方正大黑简体" pitchFamily="65" charset="-122"/>
                <a:ea typeface="方正大黑简体" pitchFamily="65" charset="-122"/>
              </a:endParaRPr>
            </a:p>
          </p:txBody>
        </p:sp>
      </p:grpSp>
    </p:spTree>
  </p:cSld>
  <p:clrMapOvr>
    <a:masterClrMapping/>
  </p:clrMapOvr>
  <p:transition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a:extLst>
              <a:ext uri="{FF2B5EF4-FFF2-40B4-BE49-F238E27FC236}">
                <a16:creationId xmlns:a16="http://schemas.microsoft.com/office/drawing/2014/main" id="{B369B6AB-DFF8-B73C-ABC1-8230D730D86B}"/>
              </a:ext>
            </a:extLst>
          </p:cNvPr>
          <p:cNvSpPr>
            <a:spLocks noChangeArrowheads="1"/>
          </p:cNvSpPr>
          <p:nvPr/>
        </p:nvSpPr>
        <p:spPr bwMode="auto">
          <a:xfrm>
            <a:off x="319088" y="476250"/>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3.4.2  </a:t>
            </a:r>
            <a:r>
              <a:rPr lang="zh-CN" altLang="en-US" b="1">
                <a:solidFill>
                  <a:schemeClr val="accent1"/>
                </a:solidFill>
                <a:effectLst>
                  <a:outerShdw blurRad="38100" dist="38100" dir="2700000" algn="tl">
                    <a:srgbClr val="000000"/>
                  </a:outerShdw>
                </a:effectLst>
              </a:rPr>
              <a:t>低通滤波</a:t>
            </a:r>
          </a:p>
        </p:txBody>
      </p:sp>
      <p:grpSp>
        <p:nvGrpSpPr>
          <p:cNvPr id="654342" name="Group 6">
            <a:extLst>
              <a:ext uri="{FF2B5EF4-FFF2-40B4-BE49-F238E27FC236}">
                <a16:creationId xmlns:a16="http://schemas.microsoft.com/office/drawing/2014/main" id="{AB34D005-CAE2-9657-7319-5F43D2198FC7}"/>
              </a:ext>
            </a:extLst>
          </p:cNvPr>
          <p:cNvGrpSpPr>
            <a:grpSpLocks/>
          </p:cNvGrpSpPr>
          <p:nvPr/>
        </p:nvGrpSpPr>
        <p:grpSpPr bwMode="auto">
          <a:xfrm>
            <a:off x="966788" y="1700213"/>
            <a:ext cx="7199312" cy="3781425"/>
            <a:chOff x="816" y="1480"/>
            <a:chExt cx="4535" cy="2382"/>
          </a:xfrm>
        </p:grpSpPr>
        <p:sp>
          <p:nvSpPr>
            <p:cNvPr id="654343" name="AutoShape 7">
              <a:extLst>
                <a:ext uri="{FF2B5EF4-FFF2-40B4-BE49-F238E27FC236}">
                  <a16:creationId xmlns:a16="http://schemas.microsoft.com/office/drawing/2014/main" id="{513CDA32-6D0A-9562-BB86-12487DF33034}"/>
                </a:ext>
              </a:extLst>
            </p:cNvPr>
            <p:cNvSpPr>
              <a:spLocks noChangeArrowheads="1"/>
            </p:cNvSpPr>
            <p:nvPr/>
          </p:nvSpPr>
          <p:spPr bwMode="auto">
            <a:xfrm>
              <a:off x="1008" y="2880"/>
              <a:ext cx="3888" cy="528"/>
            </a:xfrm>
            <a:prstGeom prst="diamond">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4344" name="Rectangle 8">
              <a:extLst>
                <a:ext uri="{FF2B5EF4-FFF2-40B4-BE49-F238E27FC236}">
                  <a16:creationId xmlns:a16="http://schemas.microsoft.com/office/drawing/2014/main" id="{E746ED2F-7141-08C6-D40B-D1DC47691926}"/>
                </a:ext>
              </a:extLst>
            </p:cNvPr>
            <p:cNvSpPr>
              <a:spLocks noChangeArrowheads="1"/>
            </p:cNvSpPr>
            <p:nvPr/>
          </p:nvSpPr>
          <p:spPr bwMode="auto">
            <a:xfrm>
              <a:off x="1701" y="1480"/>
              <a:ext cx="2223"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None/>
              </a:pPr>
              <a:r>
                <a:rPr lang="zh-CN" altLang="en-US" sz="2000" b="1">
                  <a:effectLst>
                    <a:outerShdw blurRad="38100" dist="38100" dir="2700000" algn="tl">
                      <a:srgbClr val="000000"/>
                    </a:outerShdw>
                  </a:effectLst>
                </a:rPr>
                <a:t>理想低通滤波器的三维透视图</a:t>
              </a:r>
            </a:p>
          </p:txBody>
        </p:sp>
        <p:sp>
          <p:nvSpPr>
            <p:cNvPr id="654345" name="AutoShape 9">
              <a:extLst>
                <a:ext uri="{FF2B5EF4-FFF2-40B4-BE49-F238E27FC236}">
                  <a16:creationId xmlns:a16="http://schemas.microsoft.com/office/drawing/2014/main" id="{8E2E6E58-B831-E5EC-90EE-1DF953AC8D5D}"/>
                </a:ext>
              </a:extLst>
            </p:cNvPr>
            <p:cNvSpPr>
              <a:spLocks noChangeArrowheads="1"/>
            </p:cNvSpPr>
            <p:nvPr/>
          </p:nvSpPr>
          <p:spPr bwMode="auto">
            <a:xfrm>
              <a:off x="2304" y="2592"/>
              <a:ext cx="1344" cy="624"/>
            </a:xfrm>
            <a:prstGeom prst="can">
              <a:avLst>
                <a:gd name="adj" fmla="val 25000"/>
              </a:avLst>
            </a:prstGeom>
            <a:solidFill>
              <a:srgbClr val="FF33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4346" name="Line 10">
              <a:extLst>
                <a:ext uri="{FF2B5EF4-FFF2-40B4-BE49-F238E27FC236}">
                  <a16:creationId xmlns:a16="http://schemas.microsoft.com/office/drawing/2014/main" id="{8C2D5555-42A5-A86F-79FA-BBBECEB6FBC1}"/>
                </a:ext>
              </a:extLst>
            </p:cNvPr>
            <p:cNvSpPr>
              <a:spLocks noChangeShapeType="1"/>
            </p:cNvSpPr>
            <p:nvPr/>
          </p:nvSpPr>
          <p:spPr bwMode="auto">
            <a:xfrm flipV="1">
              <a:off x="2976" y="1872"/>
              <a:ext cx="0" cy="816"/>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4347" name="Line 11">
              <a:extLst>
                <a:ext uri="{FF2B5EF4-FFF2-40B4-BE49-F238E27FC236}">
                  <a16:creationId xmlns:a16="http://schemas.microsoft.com/office/drawing/2014/main" id="{3C72654C-BFEF-B842-7C29-790FCFCB5679}"/>
                </a:ext>
              </a:extLst>
            </p:cNvPr>
            <p:cNvSpPr>
              <a:spLocks noChangeShapeType="1"/>
            </p:cNvSpPr>
            <p:nvPr/>
          </p:nvSpPr>
          <p:spPr bwMode="auto">
            <a:xfrm>
              <a:off x="3840" y="3312"/>
              <a:ext cx="1248" cy="19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4348" name="Line 12">
              <a:extLst>
                <a:ext uri="{FF2B5EF4-FFF2-40B4-BE49-F238E27FC236}">
                  <a16:creationId xmlns:a16="http://schemas.microsoft.com/office/drawing/2014/main" id="{A578D339-F2F7-284E-8F53-F59E6EF98701}"/>
                </a:ext>
              </a:extLst>
            </p:cNvPr>
            <p:cNvSpPr>
              <a:spLocks noChangeShapeType="1"/>
            </p:cNvSpPr>
            <p:nvPr/>
          </p:nvSpPr>
          <p:spPr bwMode="auto">
            <a:xfrm flipH="1">
              <a:off x="1104" y="3360"/>
              <a:ext cx="1104" cy="14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4349" name="Text Box 13">
              <a:extLst>
                <a:ext uri="{FF2B5EF4-FFF2-40B4-BE49-F238E27FC236}">
                  <a16:creationId xmlns:a16="http://schemas.microsoft.com/office/drawing/2014/main" id="{30C75497-9735-B529-D0A7-DE39B07266EA}"/>
                </a:ext>
              </a:extLst>
            </p:cNvPr>
            <p:cNvSpPr txBox="1">
              <a:spLocks noChangeArrowheads="1"/>
            </p:cNvSpPr>
            <p:nvPr/>
          </p:nvSpPr>
          <p:spPr bwMode="auto">
            <a:xfrm>
              <a:off x="5136" y="3408"/>
              <a:ext cx="215" cy="327"/>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b="1" i="1"/>
                <a:t>v</a:t>
              </a:r>
              <a:endParaRPr lang="en-US" altLang="zh-CN" sz="2400" b="1"/>
            </a:p>
          </p:txBody>
        </p:sp>
        <p:sp>
          <p:nvSpPr>
            <p:cNvPr id="654350" name="Text Box 14">
              <a:extLst>
                <a:ext uri="{FF2B5EF4-FFF2-40B4-BE49-F238E27FC236}">
                  <a16:creationId xmlns:a16="http://schemas.microsoft.com/office/drawing/2014/main" id="{3F52F167-0825-1F84-DF75-334203518689}"/>
                </a:ext>
              </a:extLst>
            </p:cNvPr>
            <p:cNvSpPr txBox="1">
              <a:spLocks noChangeArrowheads="1"/>
            </p:cNvSpPr>
            <p:nvPr/>
          </p:nvSpPr>
          <p:spPr bwMode="auto">
            <a:xfrm>
              <a:off x="816" y="3360"/>
              <a:ext cx="241" cy="327"/>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b="1" i="1"/>
                <a:t>u</a:t>
              </a:r>
              <a:endParaRPr lang="en-US" altLang="zh-CN" sz="2400" b="1"/>
            </a:p>
          </p:txBody>
        </p:sp>
        <p:sp>
          <p:nvSpPr>
            <p:cNvPr id="654351" name="Text Box 15">
              <a:extLst>
                <a:ext uri="{FF2B5EF4-FFF2-40B4-BE49-F238E27FC236}">
                  <a16:creationId xmlns:a16="http://schemas.microsoft.com/office/drawing/2014/main" id="{B3716EE4-E93D-38BE-5100-995CFFFEFDA7}"/>
                </a:ext>
              </a:extLst>
            </p:cNvPr>
            <p:cNvSpPr txBox="1">
              <a:spLocks noChangeArrowheads="1"/>
            </p:cNvSpPr>
            <p:nvPr/>
          </p:nvSpPr>
          <p:spPr bwMode="auto">
            <a:xfrm>
              <a:off x="3067" y="1728"/>
              <a:ext cx="633"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H(</a:t>
              </a:r>
              <a:r>
                <a:rPr lang="en-US" altLang="zh-CN" sz="2400" b="1" i="1"/>
                <a:t>u,v</a:t>
              </a:r>
              <a:r>
                <a:rPr lang="en-US" altLang="zh-CN" sz="2400" b="1"/>
                <a:t>)</a:t>
              </a:r>
            </a:p>
          </p:txBody>
        </p:sp>
        <p:sp>
          <p:nvSpPr>
            <p:cNvPr id="654352" name="Text Box 16">
              <a:extLst>
                <a:ext uri="{FF2B5EF4-FFF2-40B4-BE49-F238E27FC236}">
                  <a16:creationId xmlns:a16="http://schemas.microsoft.com/office/drawing/2014/main" id="{5C4251E1-65C6-B511-1090-7BC34925F87A}"/>
                </a:ext>
              </a:extLst>
            </p:cNvPr>
            <p:cNvSpPr txBox="1">
              <a:spLocks noChangeArrowheads="1"/>
            </p:cNvSpPr>
            <p:nvPr/>
          </p:nvSpPr>
          <p:spPr bwMode="auto">
            <a:xfrm>
              <a:off x="1746" y="3612"/>
              <a:ext cx="2676" cy="25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spcBef>
                  <a:spcPct val="50000"/>
                </a:spcBef>
              </a:pPr>
              <a:r>
                <a:rPr lang="en-US" altLang="zh-CN" sz="2000" b="1">
                  <a:solidFill>
                    <a:schemeClr val="accent2"/>
                  </a:solidFill>
                  <a:latin typeface="方正大黑简体" pitchFamily="65" charset="-122"/>
                  <a:ea typeface="方正大黑简体" pitchFamily="65" charset="-122"/>
                </a:rPr>
                <a:t>H(u,v)</a:t>
              </a:r>
              <a:r>
                <a:rPr lang="zh-CN" altLang="en-US" sz="2000" b="1">
                  <a:solidFill>
                    <a:schemeClr val="accent2"/>
                  </a:solidFill>
                  <a:latin typeface="方正大黑简体" pitchFamily="65" charset="-122"/>
                  <a:ea typeface="方正大黑简体" pitchFamily="65" charset="-122"/>
                </a:rPr>
                <a:t>作为</a:t>
              </a:r>
              <a:r>
                <a:rPr lang="en-US" altLang="zh-CN" sz="2000" b="1">
                  <a:solidFill>
                    <a:schemeClr val="accent2"/>
                  </a:solidFill>
                  <a:latin typeface="方正大黑简体" pitchFamily="65" charset="-122"/>
                  <a:ea typeface="方正大黑简体" pitchFamily="65" charset="-122"/>
                </a:rPr>
                <a:t>u</a:t>
              </a:r>
              <a:r>
                <a:rPr lang="zh-CN" altLang="en-US" sz="2000" b="1">
                  <a:solidFill>
                    <a:schemeClr val="accent2"/>
                  </a:solidFill>
                  <a:latin typeface="方正大黑简体" pitchFamily="65" charset="-122"/>
                  <a:ea typeface="方正大黑简体" pitchFamily="65" charset="-122"/>
                </a:rPr>
                <a:t>、</a:t>
              </a:r>
              <a:r>
                <a:rPr lang="en-US" altLang="zh-CN" sz="2000" b="1">
                  <a:solidFill>
                    <a:schemeClr val="accent2"/>
                  </a:solidFill>
                  <a:latin typeface="方正大黑简体" pitchFamily="65" charset="-122"/>
                  <a:ea typeface="方正大黑简体" pitchFamily="65" charset="-122"/>
                </a:rPr>
                <a:t>v</a:t>
              </a:r>
              <a:r>
                <a:rPr lang="zh-CN" altLang="en-US" sz="2000" b="1">
                  <a:solidFill>
                    <a:schemeClr val="accent2"/>
                  </a:solidFill>
                  <a:latin typeface="方正大黑简体" pitchFamily="65" charset="-122"/>
                  <a:ea typeface="方正大黑简体" pitchFamily="65" charset="-122"/>
                </a:rPr>
                <a:t>的函数的三维透视图</a:t>
              </a:r>
              <a:endParaRPr lang="zh-CN" altLang="en-US" sz="2000" b="1">
                <a:latin typeface="方正大黑简体" pitchFamily="65" charset="-122"/>
                <a:ea typeface="方正大黑简体" pitchFamily="65" charset="-122"/>
              </a:endParaRPr>
            </a:p>
          </p:txBody>
        </p:sp>
      </p:grpSp>
    </p:spTree>
  </p:cSld>
  <p:clrMapOvr>
    <a:masterClrMapping/>
  </p:clrMapOvr>
  <p:transition advTm="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a:extLst>
              <a:ext uri="{FF2B5EF4-FFF2-40B4-BE49-F238E27FC236}">
                <a16:creationId xmlns:a16="http://schemas.microsoft.com/office/drawing/2014/main" id="{40D0A154-D3E5-19A4-5579-32CD29F770F3}"/>
              </a:ext>
            </a:extLst>
          </p:cNvPr>
          <p:cNvSpPr>
            <a:spLocks noChangeArrowheads="1"/>
          </p:cNvSpPr>
          <p:nvPr/>
        </p:nvSpPr>
        <p:spPr bwMode="auto">
          <a:xfrm>
            <a:off x="247650" y="260350"/>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3.4.2  </a:t>
            </a:r>
            <a:r>
              <a:rPr lang="zh-CN" altLang="en-US" b="1">
                <a:solidFill>
                  <a:schemeClr val="accent1"/>
                </a:solidFill>
                <a:effectLst>
                  <a:outerShdw blurRad="38100" dist="38100" dir="2700000" algn="tl">
                    <a:srgbClr val="000000"/>
                  </a:outerShdw>
                </a:effectLst>
              </a:rPr>
              <a:t>低通滤波</a:t>
            </a:r>
          </a:p>
        </p:txBody>
      </p:sp>
      <p:sp>
        <p:nvSpPr>
          <p:cNvPr id="652295" name="Rectangle 7">
            <a:extLst>
              <a:ext uri="{FF2B5EF4-FFF2-40B4-BE49-F238E27FC236}">
                <a16:creationId xmlns:a16="http://schemas.microsoft.com/office/drawing/2014/main" id="{5AA9E173-E912-E800-C5BA-A6D1A26F6621}"/>
              </a:ext>
            </a:extLst>
          </p:cNvPr>
          <p:cNvSpPr>
            <a:spLocks noChangeArrowheads="1"/>
          </p:cNvSpPr>
          <p:nvPr/>
        </p:nvSpPr>
        <p:spPr bwMode="auto">
          <a:xfrm>
            <a:off x="319088" y="908050"/>
            <a:ext cx="586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FF6600"/>
                </a:solidFill>
                <a:effectLst>
                  <a:outerShdw blurRad="38100" dist="38100" dir="2700000" algn="tl">
                    <a:srgbClr val="000000"/>
                  </a:outerShdw>
                </a:effectLst>
              </a:rPr>
              <a:t>理想低通滤波器的振铃（</a:t>
            </a:r>
            <a:r>
              <a:rPr lang="en-US" altLang="zh-CN" sz="2400" b="1">
                <a:solidFill>
                  <a:srgbClr val="FF6600"/>
                </a:solidFill>
                <a:effectLst>
                  <a:outerShdw blurRad="38100" dist="38100" dir="2700000" algn="tl">
                    <a:srgbClr val="000000"/>
                  </a:outerShdw>
                </a:effectLst>
              </a:rPr>
              <a:t>ring</a:t>
            </a:r>
            <a:r>
              <a:rPr lang="zh-CN" altLang="en-US" sz="2400" b="1">
                <a:solidFill>
                  <a:srgbClr val="FF6600"/>
                </a:solidFill>
                <a:effectLst>
                  <a:outerShdw blurRad="38100" dist="38100" dir="2700000" algn="tl">
                    <a:srgbClr val="000000"/>
                  </a:outerShdw>
                </a:effectLst>
              </a:rPr>
              <a:t>）现象：</a:t>
            </a:r>
            <a:endParaRPr lang="zh-CN" altLang="en-US" sz="2400" b="1" baseline="-25000">
              <a:solidFill>
                <a:srgbClr val="FF6600"/>
              </a:solidFill>
              <a:effectLst>
                <a:outerShdw blurRad="38100" dist="38100" dir="2700000" algn="tl">
                  <a:srgbClr val="000000"/>
                </a:outerShdw>
              </a:effectLst>
            </a:endParaRPr>
          </a:p>
        </p:txBody>
      </p:sp>
      <p:grpSp>
        <p:nvGrpSpPr>
          <p:cNvPr id="652312" name="Group 24">
            <a:extLst>
              <a:ext uri="{FF2B5EF4-FFF2-40B4-BE49-F238E27FC236}">
                <a16:creationId xmlns:a16="http://schemas.microsoft.com/office/drawing/2014/main" id="{D561B787-FB01-B918-A8DD-5035874B5CCA}"/>
              </a:ext>
            </a:extLst>
          </p:cNvPr>
          <p:cNvGrpSpPr>
            <a:grpSpLocks/>
          </p:cNvGrpSpPr>
          <p:nvPr/>
        </p:nvGrpSpPr>
        <p:grpSpPr bwMode="auto">
          <a:xfrm>
            <a:off x="534988" y="1989138"/>
            <a:ext cx="9364662" cy="3465512"/>
            <a:chOff x="156" y="1706"/>
            <a:chExt cx="5899" cy="2183"/>
          </a:xfrm>
        </p:grpSpPr>
        <p:pic>
          <p:nvPicPr>
            <p:cNvPr id="652299" name="Picture 11">
              <a:extLst>
                <a:ext uri="{FF2B5EF4-FFF2-40B4-BE49-F238E27FC236}">
                  <a16:creationId xmlns:a16="http://schemas.microsoft.com/office/drawing/2014/main" id="{1808E94A-5B7A-E2C8-2F87-E1E4C5D0A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 y="1706"/>
              <a:ext cx="2920" cy="2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2300" name="Picture 12">
              <a:extLst>
                <a:ext uri="{FF2B5EF4-FFF2-40B4-BE49-F238E27FC236}">
                  <a16:creationId xmlns:a16="http://schemas.microsoft.com/office/drawing/2014/main" id="{83BF18A2-2451-F1BA-381F-918A2E3293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9" y="1706"/>
              <a:ext cx="2906" cy="2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378" name="Picture 250">
            <a:extLst>
              <a:ext uri="{FF2B5EF4-FFF2-40B4-BE49-F238E27FC236}">
                <a16:creationId xmlns:a16="http://schemas.microsoft.com/office/drawing/2014/main" id="{CD3CF4AA-857F-8F47-86DC-84C8EB645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505200"/>
            <a:ext cx="46355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6379" name="Picture 251">
            <a:extLst>
              <a:ext uri="{FF2B5EF4-FFF2-40B4-BE49-F238E27FC236}">
                <a16:creationId xmlns:a16="http://schemas.microsoft.com/office/drawing/2014/main" id="{720431F4-6CA8-4868-9C0F-79E3A65978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505200"/>
            <a:ext cx="46132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6380" name="Picture 252">
            <a:extLst>
              <a:ext uri="{FF2B5EF4-FFF2-40B4-BE49-F238E27FC236}">
                <a16:creationId xmlns:a16="http://schemas.microsoft.com/office/drawing/2014/main" id="{556F71EF-0A7C-FFF1-4E26-0903311800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0"/>
            <a:ext cx="4635500" cy="344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6381" name="Picture 253">
            <a:extLst>
              <a:ext uri="{FF2B5EF4-FFF2-40B4-BE49-F238E27FC236}">
                <a16:creationId xmlns:a16="http://schemas.microsoft.com/office/drawing/2014/main" id="{5DBBB66A-D9D3-2D8B-7415-217B813BE3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0"/>
            <a:ext cx="4613275" cy="346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advTm="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6392" name="Group 8">
            <a:extLst>
              <a:ext uri="{FF2B5EF4-FFF2-40B4-BE49-F238E27FC236}">
                <a16:creationId xmlns:a16="http://schemas.microsoft.com/office/drawing/2014/main" id="{7AF3436C-64E7-6206-0ECE-93A554E4E9FD}"/>
              </a:ext>
            </a:extLst>
          </p:cNvPr>
          <p:cNvGrpSpPr>
            <a:grpSpLocks/>
          </p:cNvGrpSpPr>
          <p:nvPr/>
        </p:nvGrpSpPr>
        <p:grpSpPr bwMode="auto">
          <a:xfrm>
            <a:off x="390525" y="44450"/>
            <a:ext cx="8077200" cy="4267200"/>
            <a:chOff x="246" y="482"/>
            <a:chExt cx="5088" cy="2688"/>
          </a:xfrm>
        </p:grpSpPr>
        <p:sp>
          <p:nvSpPr>
            <p:cNvPr id="656390" name="Rectangle 6">
              <a:extLst>
                <a:ext uri="{FF2B5EF4-FFF2-40B4-BE49-F238E27FC236}">
                  <a16:creationId xmlns:a16="http://schemas.microsoft.com/office/drawing/2014/main" id="{EDCAEDEC-E569-C37F-CEAB-0BCC41336EA3}"/>
                </a:ext>
              </a:extLst>
            </p:cNvPr>
            <p:cNvSpPr>
              <a:spLocks noChangeArrowheads="1"/>
            </p:cNvSpPr>
            <p:nvPr/>
          </p:nvSpPr>
          <p:spPr bwMode="auto">
            <a:xfrm>
              <a:off x="246" y="482"/>
              <a:ext cx="5088" cy="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a:spcBef>
                  <a:spcPct val="20000"/>
                </a:spcBef>
                <a:buClr>
                  <a:schemeClr val="tx2"/>
                </a:buClr>
                <a:buSzPct val="75000"/>
                <a:buFont typeface="Monotype Sorts" pitchFamily="2" charset="2"/>
                <a:buChar char="n"/>
              </a:pPr>
              <a:r>
                <a:rPr lang="zh-CN" altLang="en-US" b="1">
                  <a:solidFill>
                    <a:schemeClr val="tx2"/>
                  </a:solidFill>
                  <a:effectLst>
                    <a:outerShdw blurRad="38100" dist="38100" dir="2700000" algn="tl">
                      <a:srgbClr val="000000"/>
                    </a:outerShdw>
                  </a:effectLst>
                </a:rPr>
                <a:t>理想低通滤波器的截止频率的设计</a:t>
              </a:r>
            </a:p>
            <a:p>
              <a:pPr marL="742950" lvl="1" indent="-285750">
                <a:spcBef>
                  <a:spcPct val="20000"/>
                </a:spcBef>
                <a:buClr>
                  <a:schemeClr val="tx1"/>
                </a:buClr>
                <a:buFontTx/>
                <a:buChar char="–"/>
              </a:pPr>
              <a:r>
                <a:rPr lang="zh-CN" altLang="en-US" sz="2400" b="1">
                  <a:effectLst>
                    <a:outerShdw blurRad="38100" dist="38100" dir="2700000" algn="tl">
                      <a:srgbClr val="000000"/>
                    </a:outerShdw>
                  </a:effectLst>
                </a:rPr>
                <a:t>先求出总的信号能量</a:t>
              </a:r>
              <a:r>
                <a:rPr lang="en-US" altLang="zh-CN" sz="2400" b="1" i="1">
                  <a:effectLst>
                    <a:outerShdw blurRad="38100" dist="38100" dir="2700000" algn="tl">
                      <a:srgbClr val="000000"/>
                    </a:outerShdw>
                  </a:effectLst>
                </a:rPr>
                <a:t>P</a:t>
              </a:r>
              <a:r>
                <a:rPr lang="en-US" altLang="zh-CN" sz="2400" b="1" i="1" baseline="-25000">
                  <a:effectLst>
                    <a:outerShdw blurRad="38100" dist="38100" dir="2700000" algn="tl">
                      <a:srgbClr val="000000"/>
                    </a:outerShdw>
                  </a:effectLst>
                </a:rPr>
                <a:t>T</a:t>
              </a:r>
              <a:r>
                <a:rPr lang="zh-CN" altLang="en-US" sz="2400" b="1">
                  <a:effectLst>
                    <a:outerShdw blurRad="38100" dist="38100" dir="2700000" algn="tl">
                      <a:srgbClr val="000000"/>
                    </a:outerShdw>
                  </a:effectLst>
                </a:rPr>
                <a:t>：</a:t>
              </a:r>
            </a:p>
            <a:p>
              <a:pPr marL="742950" lvl="1" indent="-285750">
                <a:spcBef>
                  <a:spcPct val="20000"/>
                </a:spcBef>
                <a:buClr>
                  <a:schemeClr val="tx1"/>
                </a:buClr>
                <a:buFontTx/>
                <a:buChar char="–"/>
              </a:pPr>
              <a:endParaRPr lang="zh-CN" altLang="en-US" sz="2400" b="1">
                <a:effectLst>
                  <a:outerShdw blurRad="38100" dist="38100" dir="2700000" algn="tl">
                    <a:srgbClr val="000000"/>
                  </a:outerShdw>
                </a:effectLst>
              </a:endParaRPr>
            </a:p>
            <a:p>
              <a:pPr marL="742950" lvl="1" indent="-285750">
                <a:spcBef>
                  <a:spcPct val="20000"/>
                </a:spcBef>
                <a:buClr>
                  <a:schemeClr val="tx1"/>
                </a:buClr>
                <a:buFontTx/>
                <a:buChar char="–"/>
              </a:pPr>
              <a:endParaRPr lang="zh-CN" altLang="en-US">
                <a:effectLst>
                  <a:outerShdw blurRad="38100" dist="38100" dir="2700000" algn="tl">
                    <a:srgbClr val="000000"/>
                  </a:outerShdw>
                </a:effectLst>
              </a:endParaRPr>
            </a:p>
            <a:p>
              <a:pPr marL="742950" lvl="1" indent="-285750">
                <a:spcBef>
                  <a:spcPct val="20000"/>
                </a:spcBef>
                <a:buClr>
                  <a:schemeClr val="tx1"/>
                </a:buClr>
                <a:buFontTx/>
                <a:buChar char="–"/>
              </a:pPr>
              <a:endParaRPr lang="zh-CN" altLang="en-US">
                <a:effectLst>
                  <a:outerShdw blurRad="38100" dist="38100" dir="2700000" algn="tl">
                    <a:srgbClr val="000000"/>
                  </a:outerShdw>
                </a:effectLst>
              </a:endParaRPr>
            </a:p>
            <a:p>
              <a:pPr marL="742950" lvl="1" indent="-285750">
                <a:spcBef>
                  <a:spcPct val="20000"/>
                </a:spcBef>
                <a:buClr>
                  <a:schemeClr val="tx1"/>
                </a:buClr>
                <a:buFontTx/>
                <a:buChar char="–"/>
              </a:pPr>
              <a:endParaRPr lang="zh-CN" altLang="en-US">
                <a:effectLst>
                  <a:outerShdw blurRad="38100" dist="38100" dir="2700000" algn="tl">
                    <a:srgbClr val="000000"/>
                  </a:outerShdw>
                </a:effectLst>
              </a:endParaRPr>
            </a:p>
            <a:p>
              <a:pPr marL="742950" lvl="1" indent="-285750">
                <a:spcBef>
                  <a:spcPct val="20000"/>
                </a:spcBef>
                <a:buClr>
                  <a:schemeClr val="tx1"/>
                </a:buClr>
              </a:pPr>
              <a:r>
                <a:rPr lang="zh-CN" altLang="en-US" sz="2400" b="1">
                  <a:solidFill>
                    <a:srgbClr val="34F7F2"/>
                  </a:solidFill>
                  <a:effectLst>
                    <a:outerShdw blurRad="38100" dist="38100" dir="2700000" algn="tl">
                      <a:srgbClr val="000000"/>
                    </a:outerShdw>
                  </a:effectLst>
                </a:rPr>
                <a:t>其中：</a:t>
              </a:r>
              <a:r>
                <a:rPr lang="en-US" altLang="zh-CN" sz="2400" b="1">
                  <a:solidFill>
                    <a:srgbClr val="34F7F2"/>
                  </a:solidFill>
                  <a:effectLst>
                    <a:outerShdw blurRad="38100" dist="38100" dir="2700000" algn="tl">
                      <a:srgbClr val="000000"/>
                    </a:outerShdw>
                  </a:effectLst>
                </a:rPr>
                <a:t>P(u,v) = |F(u,v)|</a:t>
              </a:r>
              <a:r>
                <a:rPr lang="en-US" altLang="zh-CN" sz="2400" b="1" baseline="30000">
                  <a:solidFill>
                    <a:srgbClr val="34F7F2"/>
                  </a:solidFill>
                  <a:effectLst>
                    <a:outerShdw blurRad="38100" dist="38100" dir="2700000" algn="tl">
                      <a:srgbClr val="000000"/>
                    </a:outerShdw>
                  </a:effectLst>
                </a:rPr>
                <a:t>2</a:t>
              </a:r>
              <a:r>
                <a:rPr lang="en-US" altLang="zh-CN" sz="2400" b="1">
                  <a:solidFill>
                    <a:srgbClr val="34F7F2"/>
                  </a:solidFill>
                  <a:effectLst>
                    <a:outerShdw blurRad="38100" dist="38100" dir="2700000" algn="tl">
                      <a:srgbClr val="000000"/>
                    </a:outerShdw>
                  </a:effectLst>
                </a:rPr>
                <a:t> = R</a:t>
              </a:r>
              <a:r>
                <a:rPr lang="en-US" altLang="zh-CN" sz="2400" b="1" baseline="30000">
                  <a:solidFill>
                    <a:srgbClr val="34F7F2"/>
                  </a:solidFill>
                  <a:effectLst>
                    <a:outerShdw blurRad="38100" dist="38100" dir="2700000" algn="tl">
                      <a:srgbClr val="000000"/>
                    </a:outerShdw>
                  </a:effectLst>
                </a:rPr>
                <a:t>2</a:t>
              </a:r>
              <a:r>
                <a:rPr lang="en-US" altLang="zh-CN" sz="2400" b="1">
                  <a:solidFill>
                    <a:srgbClr val="34F7F2"/>
                  </a:solidFill>
                  <a:effectLst>
                    <a:outerShdw blurRad="38100" dist="38100" dir="2700000" algn="tl">
                      <a:srgbClr val="000000"/>
                    </a:outerShdw>
                  </a:effectLst>
                </a:rPr>
                <a:t>(u,v) + I</a:t>
              </a:r>
              <a:r>
                <a:rPr lang="en-US" altLang="zh-CN" sz="2400" b="1" baseline="30000">
                  <a:solidFill>
                    <a:srgbClr val="34F7F2"/>
                  </a:solidFill>
                  <a:effectLst>
                    <a:outerShdw blurRad="38100" dist="38100" dir="2700000" algn="tl">
                      <a:srgbClr val="000000"/>
                    </a:outerShdw>
                  </a:effectLst>
                </a:rPr>
                <a:t>2</a:t>
              </a:r>
              <a:r>
                <a:rPr lang="en-US" altLang="zh-CN" sz="2400" b="1">
                  <a:solidFill>
                    <a:srgbClr val="34F7F2"/>
                  </a:solidFill>
                  <a:effectLst>
                    <a:outerShdw blurRad="38100" dist="38100" dir="2700000" algn="tl">
                      <a:srgbClr val="000000"/>
                    </a:outerShdw>
                  </a:effectLst>
                </a:rPr>
                <a:t>(u,v) </a:t>
              </a:r>
              <a:r>
                <a:rPr lang="zh-CN" altLang="en-US" sz="2400" b="1">
                  <a:solidFill>
                    <a:srgbClr val="34F7F2"/>
                  </a:solidFill>
                  <a:effectLst>
                    <a:outerShdw blurRad="38100" dist="38100" dir="2700000" algn="tl">
                      <a:srgbClr val="000000"/>
                    </a:outerShdw>
                  </a:effectLst>
                </a:rPr>
                <a:t>是能量模</a:t>
              </a:r>
            </a:p>
          </p:txBody>
        </p:sp>
        <p:graphicFrame>
          <p:nvGraphicFramePr>
            <p:cNvPr id="656391" name="Object 7">
              <a:extLst>
                <a:ext uri="{FF2B5EF4-FFF2-40B4-BE49-F238E27FC236}">
                  <a16:creationId xmlns:a16="http://schemas.microsoft.com/office/drawing/2014/main" id="{E2F13E17-2C7D-E3CF-55E6-AF20EED0124B}"/>
                </a:ext>
              </a:extLst>
            </p:cNvPr>
            <p:cNvGraphicFramePr>
              <a:graphicFrameLocks noChangeAspect="1"/>
            </p:cNvGraphicFramePr>
            <p:nvPr/>
          </p:nvGraphicFramePr>
          <p:xfrm>
            <a:off x="791" y="1207"/>
            <a:ext cx="2928" cy="1002"/>
          </p:xfrm>
          <a:graphic>
            <a:graphicData uri="http://schemas.openxmlformats.org/presentationml/2006/ole">
              <mc:AlternateContent xmlns:mc="http://schemas.openxmlformats.org/markup-compatibility/2006">
                <mc:Choice xmlns:v="urn:schemas-microsoft-com:vml" Requires="v">
                  <p:oleObj name="公式" r:id="rId3" imgW="1206500" imgH="406400" progId="Equation.3">
                    <p:embed/>
                  </p:oleObj>
                </mc:Choice>
                <mc:Fallback>
                  <p:oleObj name="公式" r:id="rId3" imgW="1206500" imgH="4064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 y="1207"/>
                          <a:ext cx="2928" cy="1002"/>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56393" name="Rectangle 9">
            <a:extLst>
              <a:ext uri="{FF2B5EF4-FFF2-40B4-BE49-F238E27FC236}">
                <a16:creationId xmlns:a16="http://schemas.microsoft.com/office/drawing/2014/main" id="{661C6D25-F5B8-09B2-50AC-0AFB60C3314A}"/>
              </a:ext>
            </a:extLst>
          </p:cNvPr>
          <p:cNvSpPr>
            <a:spLocks noChangeArrowheads="1"/>
          </p:cNvSpPr>
          <p:nvPr/>
        </p:nvSpPr>
        <p:spPr bwMode="auto">
          <a:xfrm>
            <a:off x="463550" y="3789363"/>
            <a:ext cx="80772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marL="742950" indent="-285750">
              <a:spcBef>
                <a:spcPct val="20000"/>
              </a:spcBef>
              <a:buClr>
                <a:schemeClr val="tx1"/>
              </a:buClr>
              <a:buChar char="–"/>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marL="1143000" indent="-228600">
              <a:spcBef>
                <a:spcPct val="20000"/>
              </a:spcBef>
              <a:buClr>
                <a:schemeClr val="tx1"/>
              </a:buClr>
              <a:buChar char="»"/>
              <a:defRPr kumimoji="1" sz="24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marL="1600200" indent="-228600">
              <a:spcBef>
                <a:spcPct val="20000"/>
              </a:spcBef>
              <a:buClr>
                <a:schemeClr val="tx2"/>
              </a:buClr>
              <a:buSzPct val="63000"/>
              <a:buFont typeface="Monotype Sorts" pitchFamily="2" charset="2"/>
              <a:buChar char="n"/>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lvl="1" algn="just"/>
            <a:r>
              <a:rPr lang="zh-CN" altLang="en-US" sz="2400" b="1">
                <a:solidFill>
                  <a:srgbClr val="34F7F2"/>
                </a:solidFill>
              </a:rPr>
              <a:t>如果将变换作中心平移，则一个以频域中心为原点，</a:t>
            </a:r>
            <a:r>
              <a:rPr lang="en-US" altLang="zh-CN" sz="2400" b="1">
                <a:solidFill>
                  <a:srgbClr val="34F7F2"/>
                </a:solidFill>
              </a:rPr>
              <a:t>r</a:t>
            </a:r>
            <a:r>
              <a:rPr lang="zh-CN" altLang="en-US" sz="2400" b="1">
                <a:solidFill>
                  <a:srgbClr val="34F7F2"/>
                </a:solidFill>
              </a:rPr>
              <a:t>为半径的圆就包含了百分之</a:t>
            </a:r>
            <a:r>
              <a:rPr lang="en-US" altLang="zh-CN" sz="2400" b="1" i="1">
                <a:solidFill>
                  <a:srgbClr val="34F7F2"/>
                </a:solidFill>
                <a:latin typeface="宋体" panose="02010600030101010101" pitchFamily="2" charset="-122"/>
              </a:rPr>
              <a:t>β</a:t>
            </a:r>
            <a:r>
              <a:rPr lang="zh-CN" altLang="en-US" sz="2400" b="1">
                <a:solidFill>
                  <a:srgbClr val="34F7F2"/>
                </a:solidFill>
              </a:rPr>
              <a:t>的能量</a:t>
            </a:r>
            <a:endParaRPr lang="zh-CN" altLang="en-US" sz="2400" b="1">
              <a:solidFill>
                <a:srgbClr val="34F7F2"/>
              </a:solidFill>
              <a:latin typeface="宋体" panose="02010600030101010101" pitchFamily="2" charset="-122"/>
            </a:endParaRPr>
          </a:p>
        </p:txBody>
      </p:sp>
      <p:graphicFrame>
        <p:nvGraphicFramePr>
          <p:cNvPr id="656394" name="Object 10">
            <a:extLst>
              <a:ext uri="{FF2B5EF4-FFF2-40B4-BE49-F238E27FC236}">
                <a16:creationId xmlns:a16="http://schemas.microsoft.com/office/drawing/2014/main" id="{227BA922-068D-8DA3-D771-33EAF8ECCB1E}"/>
              </a:ext>
            </a:extLst>
          </p:cNvPr>
          <p:cNvGraphicFramePr>
            <a:graphicFrameLocks noChangeAspect="1"/>
          </p:cNvGraphicFramePr>
          <p:nvPr/>
        </p:nvGraphicFramePr>
        <p:xfrm>
          <a:off x="1614488" y="4797425"/>
          <a:ext cx="5410200" cy="1474788"/>
        </p:xfrm>
        <a:graphic>
          <a:graphicData uri="http://schemas.openxmlformats.org/presentationml/2006/ole">
            <mc:AlternateContent xmlns:mc="http://schemas.openxmlformats.org/markup-compatibility/2006">
              <mc:Choice xmlns:v="urn:schemas-microsoft-com:vml" Requires="v">
                <p:oleObj name="公式" r:id="rId5" imgW="1612900" imgH="444500" progId="Equation.3">
                  <p:embed/>
                </p:oleObj>
              </mc:Choice>
              <mc:Fallback>
                <p:oleObj name="公式" r:id="rId5" imgW="1612900" imgH="4445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4488" y="4797425"/>
                        <a:ext cx="5410200" cy="147478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8437" name="Group 5">
            <a:extLst>
              <a:ext uri="{FF2B5EF4-FFF2-40B4-BE49-F238E27FC236}">
                <a16:creationId xmlns:a16="http://schemas.microsoft.com/office/drawing/2014/main" id="{03C9EC97-765A-F8AB-7BE0-4AC832215F94}"/>
              </a:ext>
            </a:extLst>
          </p:cNvPr>
          <p:cNvGrpSpPr>
            <a:grpSpLocks/>
          </p:cNvGrpSpPr>
          <p:nvPr/>
        </p:nvGrpSpPr>
        <p:grpSpPr bwMode="auto">
          <a:xfrm>
            <a:off x="2982913" y="260350"/>
            <a:ext cx="3657600" cy="3657600"/>
            <a:chOff x="1824" y="1872"/>
            <a:chExt cx="2304" cy="2304"/>
          </a:xfrm>
        </p:grpSpPr>
        <p:pic>
          <p:nvPicPr>
            <p:cNvPr id="658438" name="Picture 6">
              <a:extLst>
                <a:ext uri="{FF2B5EF4-FFF2-40B4-BE49-F238E27FC236}">
                  <a16:creationId xmlns:a16="http://schemas.microsoft.com/office/drawing/2014/main" id="{0A84B54D-C129-D65C-8157-045EFB083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 y="1872"/>
              <a:ext cx="2304" cy="2304"/>
            </a:xfrm>
            <a:prstGeom prst="rect">
              <a:avLst/>
            </a:prstGeom>
            <a:noFill/>
            <a:extLst>
              <a:ext uri="{909E8E84-426E-40DD-AFC4-6F175D3DCCD1}">
                <a14:hiddenFill xmlns:a14="http://schemas.microsoft.com/office/drawing/2010/main">
                  <a:solidFill>
                    <a:srgbClr val="FFFFFF"/>
                  </a:solidFill>
                </a14:hiddenFill>
              </a:ext>
            </a:extLst>
          </p:spPr>
        </p:pic>
        <p:sp>
          <p:nvSpPr>
            <p:cNvPr id="658439" name="Oval 7">
              <a:extLst>
                <a:ext uri="{FF2B5EF4-FFF2-40B4-BE49-F238E27FC236}">
                  <a16:creationId xmlns:a16="http://schemas.microsoft.com/office/drawing/2014/main" id="{78FCA04F-685D-3EC8-25A0-2ADB0F205002}"/>
                </a:ext>
              </a:extLst>
            </p:cNvPr>
            <p:cNvSpPr>
              <a:spLocks noChangeArrowheads="1"/>
            </p:cNvSpPr>
            <p:nvPr/>
          </p:nvSpPr>
          <p:spPr bwMode="auto">
            <a:xfrm>
              <a:off x="2736" y="2784"/>
              <a:ext cx="480" cy="480"/>
            </a:xfrm>
            <a:prstGeom prst="ellipse">
              <a:avLst/>
            </a:prstGeom>
            <a:noFill/>
            <a:ln w="38100">
              <a:solidFill>
                <a:srgbClr val="FF0000"/>
              </a:solidFill>
              <a:round/>
              <a:headEnd/>
              <a:tailEnd/>
            </a:ln>
            <a:effectLst/>
            <a:extLst>
              <a:ext uri="{909E8E84-426E-40DD-AFC4-6F175D3DCCD1}">
                <a14:hiddenFill xmlns:a14="http://schemas.microsoft.com/office/drawing/2010/main">
                  <a:solidFill>
                    <a:srgbClr val="FF33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8440" name="Oval 8">
              <a:extLst>
                <a:ext uri="{FF2B5EF4-FFF2-40B4-BE49-F238E27FC236}">
                  <a16:creationId xmlns:a16="http://schemas.microsoft.com/office/drawing/2014/main" id="{765B7948-7827-9D5A-ABB4-05444665D0EE}"/>
                </a:ext>
              </a:extLst>
            </p:cNvPr>
            <p:cNvSpPr>
              <a:spLocks noChangeArrowheads="1"/>
            </p:cNvSpPr>
            <p:nvPr/>
          </p:nvSpPr>
          <p:spPr bwMode="auto">
            <a:xfrm>
              <a:off x="2592" y="2640"/>
              <a:ext cx="768" cy="768"/>
            </a:xfrm>
            <a:prstGeom prst="ellipse">
              <a:avLst/>
            </a:prstGeom>
            <a:noFill/>
            <a:ln w="38100">
              <a:solidFill>
                <a:srgbClr val="FF0000"/>
              </a:solidFill>
              <a:round/>
              <a:headEnd/>
              <a:tailEnd/>
            </a:ln>
            <a:effectLst/>
            <a:extLst>
              <a:ext uri="{909E8E84-426E-40DD-AFC4-6F175D3DCCD1}">
                <a14:hiddenFill xmlns:a14="http://schemas.microsoft.com/office/drawing/2010/main">
                  <a:solidFill>
                    <a:srgbClr val="FF33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8441" name="Oval 9">
              <a:extLst>
                <a:ext uri="{FF2B5EF4-FFF2-40B4-BE49-F238E27FC236}">
                  <a16:creationId xmlns:a16="http://schemas.microsoft.com/office/drawing/2014/main" id="{1E7AF9D1-5682-55D3-EB2F-3C109BF489D8}"/>
                </a:ext>
              </a:extLst>
            </p:cNvPr>
            <p:cNvSpPr>
              <a:spLocks noChangeArrowheads="1"/>
            </p:cNvSpPr>
            <p:nvPr/>
          </p:nvSpPr>
          <p:spPr bwMode="auto">
            <a:xfrm>
              <a:off x="2304" y="2352"/>
              <a:ext cx="1344" cy="1344"/>
            </a:xfrm>
            <a:prstGeom prst="ellipse">
              <a:avLst/>
            </a:prstGeom>
            <a:noFill/>
            <a:ln w="38100">
              <a:solidFill>
                <a:srgbClr val="FF0000"/>
              </a:solidFill>
              <a:round/>
              <a:headEnd/>
              <a:tailEnd/>
            </a:ln>
            <a:effectLst/>
            <a:extLst>
              <a:ext uri="{909E8E84-426E-40DD-AFC4-6F175D3DCCD1}">
                <a14:hiddenFill xmlns:a14="http://schemas.microsoft.com/office/drawing/2010/main">
                  <a:solidFill>
                    <a:srgbClr val="FF33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658442" name="Rectangle 10">
            <a:extLst>
              <a:ext uri="{FF2B5EF4-FFF2-40B4-BE49-F238E27FC236}">
                <a16:creationId xmlns:a16="http://schemas.microsoft.com/office/drawing/2014/main" id="{89D51C70-9F91-C9D6-69D7-AA94FEAF57B7}"/>
              </a:ext>
            </a:extLst>
          </p:cNvPr>
          <p:cNvSpPr>
            <a:spLocks noChangeArrowheads="1"/>
          </p:cNvSpPr>
          <p:nvPr>
            <p:ph type="body" idx="1"/>
          </p:nvPr>
        </p:nvSpPr>
        <p:spPr>
          <a:xfrm>
            <a:off x="750888" y="4581525"/>
            <a:ext cx="7696200" cy="1295400"/>
          </a:xfrm>
          <a:noFill/>
          <a:ln/>
        </p:spPr>
        <p:txBody>
          <a:bodyPr/>
          <a:lstStyle/>
          <a:p>
            <a:pPr lvl="1"/>
            <a:r>
              <a:rPr lang="zh-CN" altLang="en-US" sz="2400" b="1">
                <a:solidFill>
                  <a:srgbClr val="34F7F2"/>
                </a:solidFill>
              </a:rPr>
              <a:t>求出相应的</a:t>
            </a:r>
            <a:r>
              <a:rPr lang="en-US" altLang="zh-CN" sz="2400" b="1">
                <a:solidFill>
                  <a:srgbClr val="34F7F2"/>
                </a:solidFill>
              </a:rPr>
              <a:t>D</a:t>
            </a:r>
            <a:r>
              <a:rPr lang="en-US" altLang="zh-CN" sz="2400" b="1" baseline="-25000">
                <a:solidFill>
                  <a:srgbClr val="34F7F2"/>
                </a:solidFill>
              </a:rPr>
              <a:t>0</a:t>
            </a:r>
          </a:p>
          <a:p>
            <a:pPr lvl="1">
              <a:buFontTx/>
              <a:buNone/>
            </a:pPr>
            <a:r>
              <a:rPr lang="en-US" altLang="zh-CN" sz="2400">
                <a:solidFill>
                  <a:srgbClr val="34F7F2"/>
                </a:solidFill>
              </a:rPr>
              <a:t>		 D</a:t>
            </a:r>
            <a:r>
              <a:rPr lang="en-US" altLang="zh-CN" sz="2400" baseline="-25000">
                <a:solidFill>
                  <a:srgbClr val="34F7F2"/>
                </a:solidFill>
              </a:rPr>
              <a:t>0</a:t>
            </a:r>
            <a:r>
              <a:rPr lang="en-US" altLang="zh-CN" sz="2400">
                <a:solidFill>
                  <a:srgbClr val="34F7F2"/>
                </a:solidFill>
              </a:rPr>
              <a:t> = r = (u</a:t>
            </a:r>
            <a:r>
              <a:rPr lang="en-US" altLang="zh-CN" sz="2400" baseline="30000">
                <a:solidFill>
                  <a:srgbClr val="34F7F2"/>
                </a:solidFill>
              </a:rPr>
              <a:t>2</a:t>
            </a:r>
            <a:r>
              <a:rPr lang="en-US" altLang="zh-CN" sz="2400">
                <a:solidFill>
                  <a:srgbClr val="34F7F2"/>
                </a:solidFill>
              </a:rPr>
              <a:t> + v</a:t>
            </a:r>
            <a:r>
              <a:rPr lang="en-US" altLang="zh-CN" sz="2400" baseline="30000">
                <a:solidFill>
                  <a:srgbClr val="34F7F2"/>
                </a:solidFill>
              </a:rPr>
              <a:t>2</a:t>
            </a:r>
            <a:r>
              <a:rPr lang="en-US" altLang="zh-CN" sz="2400">
                <a:solidFill>
                  <a:srgbClr val="34F7F2"/>
                </a:solidFill>
              </a:rPr>
              <a:t>)</a:t>
            </a:r>
            <a:r>
              <a:rPr lang="en-US" altLang="zh-CN" sz="2400" baseline="30000">
                <a:solidFill>
                  <a:srgbClr val="34F7F2"/>
                </a:solidFill>
              </a:rPr>
              <a:t>1/2</a:t>
            </a:r>
            <a:endParaRPr lang="en-US" altLang="zh-CN" sz="2400">
              <a:solidFill>
                <a:srgbClr val="34F7F2"/>
              </a:solidFill>
            </a:endParaRPr>
          </a:p>
        </p:txBody>
      </p:sp>
    </p:spTree>
  </p:cSld>
  <p:clrMapOvr>
    <a:masterClrMapping/>
  </p:clrMapOvr>
  <p:transition advTm="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7592" name="Picture 8">
            <a:extLst>
              <a:ext uri="{FF2B5EF4-FFF2-40B4-BE49-F238E27FC236}">
                <a16:creationId xmlns:a16="http://schemas.microsoft.com/office/drawing/2014/main" id="{D3E43383-775C-8D3C-4FDF-114269CC3376}"/>
              </a:ext>
            </a:extLst>
          </p:cNvPr>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287713" y="0"/>
            <a:ext cx="6999287" cy="5051425"/>
          </a:xfr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
        <p:nvSpPr>
          <p:cNvPr id="707596" name="Rectangle 12">
            <a:extLst>
              <a:ext uri="{FF2B5EF4-FFF2-40B4-BE49-F238E27FC236}">
                <a16:creationId xmlns:a16="http://schemas.microsoft.com/office/drawing/2014/main" id="{C81A1D47-C5CA-C25F-C2AA-CAF0C351EBB2}"/>
              </a:ext>
            </a:extLst>
          </p:cNvPr>
          <p:cNvSpPr>
            <a:spLocks noChangeArrowheads="1"/>
          </p:cNvSpPr>
          <p:nvPr/>
        </p:nvSpPr>
        <p:spPr bwMode="auto">
          <a:xfrm>
            <a:off x="0" y="0"/>
            <a:ext cx="3271838" cy="527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FFFF00"/>
                </a:solidFill>
                <a:effectLst>
                  <a:outerShdw blurRad="38100" dist="38100" dir="2700000" algn="tl">
                    <a:srgbClr val="000000"/>
                  </a:outerShdw>
                </a:effectLst>
              </a:rPr>
              <a:t>图</a:t>
            </a:r>
            <a:r>
              <a:rPr lang="en-US" altLang="zh-CN" sz="2000" b="1">
                <a:solidFill>
                  <a:srgbClr val="FFFF00"/>
                </a:solidFill>
                <a:effectLst>
                  <a:outerShdw blurRad="38100" dist="38100" dir="2700000" algn="tl">
                    <a:srgbClr val="000000"/>
                  </a:outerShdw>
                </a:effectLst>
              </a:rPr>
              <a:t>(a)</a:t>
            </a:r>
            <a:r>
              <a:rPr lang="zh-CN" altLang="en-US" sz="2000" b="1">
                <a:solidFill>
                  <a:srgbClr val="FFFF00"/>
                </a:solidFill>
                <a:effectLst>
                  <a:outerShdw blurRad="38100" dist="38100" dir="2700000" algn="tl">
                    <a:srgbClr val="000000"/>
                  </a:outerShdw>
                </a:effectLst>
              </a:rPr>
              <a:t>为一幅包含不同细节的原始图象．</a:t>
            </a:r>
          </a:p>
          <a:p>
            <a:r>
              <a:rPr lang="zh-CN" altLang="en-US" sz="2000" b="1">
                <a:solidFill>
                  <a:srgbClr val="34F7F2"/>
                </a:solidFill>
                <a:effectLst>
                  <a:outerShdw blurRad="38100" dist="38100" dir="2700000" algn="tl">
                    <a:srgbClr val="000000"/>
                  </a:outerShdw>
                </a:effectLst>
              </a:rPr>
              <a:t>图</a:t>
            </a:r>
            <a:r>
              <a:rPr lang="en-US" altLang="zh-CN" sz="2000" b="1">
                <a:solidFill>
                  <a:srgbClr val="34F7F2"/>
                </a:solidFill>
                <a:effectLst>
                  <a:outerShdw blurRad="38100" dist="38100" dir="2700000" algn="tl">
                    <a:srgbClr val="000000"/>
                  </a:outerShdw>
                </a:effectLst>
              </a:rPr>
              <a:t>(b)</a:t>
            </a:r>
            <a:r>
              <a:rPr lang="zh-CN" altLang="en-US" sz="2000" b="1">
                <a:solidFill>
                  <a:srgbClr val="34F7F2"/>
                </a:solidFill>
                <a:effectLst>
                  <a:outerShdw blurRad="38100" dist="38100" dir="2700000" algn="tl">
                    <a:srgbClr val="000000"/>
                  </a:outerShdw>
                </a:effectLst>
              </a:rPr>
              <a:t>为它的傅里叶频谱，其上迭加半径分别为</a:t>
            </a:r>
            <a:r>
              <a:rPr lang="en-US" altLang="zh-CN" sz="2000" b="1">
                <a:solidFill>
                  <a:srgbClr val="34F7F2"/>
                </a:solidFill>
                <a:effectLst>
                  <a:outerShdw blurRad="38100" dist="38100" dir="2700000" algn="tl">
                    <a:srgbClr val="000000"/>
                  </a:outerShdw>
                </a:effectLst>
              </a:rPr>
              <a:t>5</a:t>
            </a:r>
            <a:r>
              <a:rPr lang="zh-CN" altLang="en-US" sz="2000" b="1">
                <a:solidFill>
                  <a:srgbClr val="34F7F2"/>
                </a:solidFill>
                <a:effectLst>
                  <a:outerShdw blurRad="38100" dist="38100" dir="2700000" algn="tl">
                    <a:srgbClr val="000000"/>
                  </a:outerShdw>
                </a:effectLst>
              </a:rPr>
              <a:t>、</a:t>
            </a:r>
            <a:r>
              <a:rPr lang="en-US" altLang="zh-CN" sz="2000" b="1">
                <a:solidFill>
                  <a:srgbClr val="34F7F2"/>
                </a:solidFill>
                <a:effectLst>
                  <a:outerShdw blurRad="38100" dist="38100" dir="2700000" algn="tl">
                    <a:srgbClr val="000000"/>
                  </a:outerShdw>
                </a:effectLst>
              </a:rPr>
              <a:t>11</a:t>
            </a:r>
            <a:r>
              <a:rPr lang="zh-CN" altLang="en-US" sz="2000" b="1">
                <a:solidFill>
                  <a:srgbClr val="34F7F2"/>
                </a:solidFill>
                <a:effectLst>
                  <a:outerShdw blurRad="38100" dist="38100" dir="2700000" algn="tl">
                    <a:srgbClr val="000000"/>
                  </a:outerShdw>
                </a:effectLst>
              </a:rPr>
              <a:t>、</a:t>
            </a:r>
            <a:r>
              <a:rPr lang="en-US" altLang="zh-CN" sz="2000" b="1">
                <a:solidFill>
                  <a:srgbClr val="34F7F2"/>
                </a:solidFill>
                <a:effectLst>
                  <a:outerShdw blurRad="38100" dist="38100" dir="2700000" algn="tl">
                    <a:srgbClr val="000000"/>
                  </a:outerShdw>
                </a:effectLst>
              </a:rPr>
              <a:t>45</a:t>
            </a:r>
            <a:r>
              <a:rPr lang="zh-CN" altLang="en-US" sz="2000" b="1">
                <a:solidFill>
                  <a:srgbClr val="34F7F2"/>
                </a:solidFill>
                <a:effectLst>
                  <a:outerShdw blurRad="38100" dist="38100" dir="2700000" algn="tl">
                    <a:srgbClr val="000000"/>
                  </a:outerShdw>
                </a:effectLst>
              </a:rPr>
              <a:t>和</a:t>
            </a:r>
            <a:r>
              <a:rPr lang="en-US" altLang="zh-CN" sz="2000" b="1">
                <a:solidFill>
                  <a:srgbClr val="34F7F2"/>
                </a:solidFill>
                <a:effectLst>
                  <a:outerShdw blurRad="38100" dist="38100" dir="2700000" algn="tl">
                    <a:srgbClr val="000000"/>
                  </a:outerShdw>
                </a:effectLst>
              </a:rPr>
              <a:t>68</a:t>
            </a:r>
            <a:r>
              <a:rPr lang="zh-CN" altLang="en-US" sz="2000" b="1">
                <a:solidFill>
                  <a:srgbClr val="34F7F2"/>
                </a:solidFill>
                <a:effectLst>
                  <a:outerShdw blurRad="38100" dist="38100" dir="2700000" algn="tl">
                    <a:srgbClr val="000000"/>
                  </a:outerShdw>
                </a:effectLst>
              </a:rPr>
              <a:t>的圆周。这些圆周内分别包含了原始图象中</a:t>
            </a:r>
            <a:r>
              <a:rPr lang="en-US" altLang="zh-CN" sz="2000" b="1">
                <a:solidFill>
                  <a:srgbClr val="34F7F2"/>
                </a:solidFill>
                <a:effectLst>
                  <a:outerShdw blurRad="38100" dist="38100" dir="2700000" algn="tl">
                    <a:srgbClr val="000000"/>
                  </a:outerShdw>
                </a:effectLst>
              </a:rPr>
              <a:t>90</a:t>
            </a:r>
            <a:r>
              <a:rPr lang="zh-CN" altLang="en-US" sz="2000" b="1">
                <a:solidFill>
                  <a:srgbClr val="34F7F2"/>
                </a:solidFill>
                <a:effectLst>
                  <a:outerShdw blurRad="38100" dist="38100" dir="2700000" algn="tl">
                    <a:srgbClr val="000000"/>
                  </a:outerShdw>
                </a:effectLst>
              </a:rPr>
              <a:t>％、</a:t>
            </a:r>
            <a:r>
              <a:rPr lang="en-US" altLang="zh-CN" sz="2000" b="1">
                <a:solidFill>
                  <a:srgbClr val="34F7F2"/>
                </a:solidFill>
                <a:effectLst>
                  <a:outerShdw blurRad="38100" dist="38100" dir="2700000" algn="tl">
                    <a:srgbClr val="000000"/>
                  </a:outerShdw>
                </a:effectLst>
              </a:rPr>
              <a:t>95</a:t>
            </a:r>
            <a:r>
              <a:rPr lang="zh-CN" altLang="en-US" sz="2000" b="1">
                <a:solidFill>
                  <a:srgbClr val="34F7F2"/>
                </a:solidFill>
                <a:effectLst>
                  <a:outerShdw blurRad="38100" dist="38100" dir="2700000" algn="tl">
                    <a:srgbClr val="000000"/>
                  </a:outerShdw>
                </a:effectLst>
              </a:rPr>
              <a:t>％、</a:t>
            </a:r>
            <a:r>
              <a:rPr lang="en-US" altLang="zh-CN" sz="2000" b="1">
                <a:solidFill>
                  <a:srgbClr val="34F7F2"/>
                </a:solidFill>
                <a:effectLst>
                  <a:outerShdw blurRad="38100" dist="38100" dir="2700000" algn="tl">
                    <a:srgbClr val="000000"/>
                  </a:outerShdw>
                </a:effectLst>
              </a:rPr>
              <a:t>99</a:t>
            </a:r>
            <a:r>
              <a:rPr lang="zh-CN" altLang="en-US" sz="2000" b="1">
                <a:solidFill>
                  <a:srgbClr val="34F7F2"/>
                </a:solidFill>
                <a:effectLst>
                  <a:outerShdw blurRad="38100" dist="38100" dir="2700000" algn="tl">
                    <a:srgbClr val="000000"/>
                  </a:outerShdw>
                </a:effectLst>
              </a:rPr>
              <a:t>％和</a:t>
            </a:r>
            <a:r>
              <a:rPr lang="en-US" altLang="zh-CN" sz="2000" b="1">
                <a:solidFill>
                  <a:srgbClr val="34F7F2"/>
                </a:solidFill>
                <a:effectLst>
                  <a:outerShdw blurRad="38100" dist="38100" dir="2700000" algn="tl">
                    <a:srgbClr val="000000"/>
                  </a:outerShdw>
                </a:effectLst>
              </a:rPr>
              <a:t>99.5</a:t>
            </a:r>
            <a:r>
              <a:rPr lang="zh-CN" altLang="en-US" sz="2000" b="1">
                <a:solidFill>
                  <a:srgbClr val="34F7F2"/>
                </a:solidFill>
                <a:effectLst>
                  <a:outerShdw blurRad="38100" dist="38100" dir="2700000" algn="tl">
                    <a:srgbClr val="000000"/>
                  </a:outerShdw>
                </a:effectLst>
              </a:rPr>
              <a:t>％的能量。</a:t>
            </a:r>
          </a:p>
          <a:p>
            <a:r>
              <a:rPr lang="zh-CN" altLang="en-US" sz="2000" b="1">
                <a:solidFill>
                  <a:srgbClr val="FF9900"/>
                </a:solidFill>
                <a:effectLst>
                  <a:outerShdw blurRad="38100" dist="38100" dir="2700000" algn="tl">
                    <a:srgbClr val="000000"/>
                  </a:outerShdw>
                </a:effectLst>
              </a:rPr>
              <a:t>图</a:t>
            </a:r>
            <a:r>
              <a:rPr lang="en-US" altLang="zh-CN" sz="2000" b="1">
                <a:solidFill>
                  <a:srgbClr val="FF9900"/>
                </a:solidFill>
                <a:effectLst>
                  <a:outerShdw blurRad="38100" dist="38100" dir="2700000" algn="tl">
                    <a:srgbClr val="000000"/>
                  </a:outerShdw>
                </a:effectLst>
              </a:rPr>
              <a:t>(c)</a:t>
            </a:r>
            <a:r>
              <a:rPr lang="zh-CN" altLang="en-US" sz="2000" b="1">
                <a:solidFill>
                  <a:srgbClr val="FF9900"/>
                </a:solidFill>
                <a:effectLst>
                  <a:outerShdw blurRad="38100" dist="38100" dir="2700000" algn="tl">
                    <a:srgbClr val="000000"/>
                  </a:outerShdw>
                </a:effectLst>
              </a:rPr>
              <a:t>到图</a:t>
            </a:r>
            <a:r>
              <a:rPr lang="en-US" altLang="zh-CN" sz="2000" b="1">
                <a:solidFill>
                  <a:srgbClr val="FF9900"/>
                </a:solidFill>
                <a:effectLst>
                  <a:outerShdw blurRad="38100" dist="38100" dir="2700000" algn="tl">
                    <a:srgbClr val="000000"/>
                  </a:outerShdw>
                </a:effectLst>
              </a:rPr>
              <a:t>(f)</a:t>
            </a:r>
            <a:r>
              <a:rPr lang="zh-CN" altLang="en-US" sz="2000" b="1">
                <a:solidFill>
                  <a:srgbClr val="FF9900"/>
                </a:solidFill>
                <a:effectLst>
                  <a:outerShdw blurRad="38100" dist="38100" dir="2700000" algn="tl">
                    <a:srgbClr val="000000"/>
                  </a:outerShdw>
                </a:effectLst>
              </a:rPr>
              <a:t>分别为用截止频率由各圆周半径确定的理想低通滤波器进行处理得到的结果。</a:t>
            </a:r>
          </a:p>
          <a:p>
            <a:r>
              <a:rPr lang="zh-CN" altLang="en-US" sz="2000" b="1">
                <a:solidFill>
                  <a:srgbClr val="FFFF00"/>
                </a:solidFill>
                <a:effectLst>
                  <a:outerShdw blurRad="38100" dist="38100" dir="2700000" algn="tl">
                    <a:srgbClr val="000000"/>
                  </a:outerShdw>
                </a:effectLst>
              </a:rPr>
              <a:t>由图</a:t>
            </a:r>
            <a:r>
              <a:rPr lang="en-US" altLang="zh-CN" sz="2000" b="1">
                <a:solidFill>
                  <a:srgbClr val="FFFF00"/>
                </a:solidFill>
                <a:effectLst>
                  <a:outerShdw blurRad="38100" dist="38100" dir="2700000" algn="tl">
                    <a:srgbClr val="000000"/>
                  </a:outerShdw>
                </a:effectLst>
              </a:rPr>
              <a:t>(c)</a:t>
            </a:r>
            <a:r>
              <a:rPr lang="zh-CN" altLang="en-US" sz="2000" b="1">
                <a:solidFill>
                  <a:srgbClr val="FFFF00"/>
                </a:solidFill>
                <a:effectLst>
                  <a:outerShdw blurRad="38100" dist="38100" dir="2700000" algn="tl">
                    <a:srgbClr val="000000"/>
                  </a:outerShdw>
                </a:effectLst>
              </a:rPr>
              <a:t>可见尽管只有</a:t>
            </a:r>
            <a:r>
              <a:rPr lang="en-US" altLang="zh-CN" sz="2000" b="1">
                <a:solidFill>
                  <a:srgbClr val="FFFF00"/>
                </a:solidFill>
                <a:effectLst>
                  <a:outerShdw blurRad="38100" dist="38100" dir="2700000" algn="tl">
                    <a:srgbClr val="000000"/>
                  </a:outerShdw>
                </a:effectLst>
              </a:rPr>
              <a:t>10</a:t>
            </a:r>
            <a:r>
              <a:rPr lang="zh-CN" altLang="en-US" sz="2000" b="1">
                <a:solidFill>
                  <a:srgbClr val="FFFF00"/>
                </a:solidFill>
                <a:effectLst>
                  <a:outerShdw blurRad="38100" dist="38100" dir="2700000" algn="tl">
                    <a:srgbClr val="000000"/>
                  </a:outerShdw>
                </a:effectLst>
              </a:rPr>
              <a:t>％的</a:t>
            </a:r>
            <a:r>
              <a:rPr lang="en-US" altLang="zh-CN" sz="2000" b="1">
                <a:solidFill>
                  <a:srgbClr val="FFFF00"/>
                </a:solidFill>
                <a:effectLst>
                  <a:outerShdw blurRad="38100" dist="38100" dir="2700000" algn="tl">
                    <a:srgbClr val="000000"/>
                  </a:outerShdw>
                </a:effectLst>
              </a:rPr>
              <a:t>(</a:t>
            </a:r>
            <a:r>
              <a:rPr lang="zh-CN" altLang="en-US" sz="2000" b="1">
                <a:solidFill>
                  <a:srgbClr val="FFFF00"/>
                </a:solidFill>
                <a:effectLst>
                  <a:outerShdw blurRad="38100" dist="38100" dir="2700000" algn="tl">
                    <a:srgbClr val="000000"/>
                  </a:outerShdw>
                </a:effectLst>
              </a:rPr>
              <a:t>高频</a:t>
            </a:r>
            <a:r>
              <a:rPr lang="en-US" altLang="zh-CN" sz="2000" b="1">
                <a:solidFill>
                  <a:srgbClr val="FFFF00"/>
                </a:solidFill>
                <a:effectLst>
                  <a:outerShdw blurRad="38100" dist="38100" dir="2700000" algn="tl">
                    <a:srgbClr val="000000"/>
                  </a:outerShdw>
                </a:effectLst>
              </a:rPr>
              <a:t>)</a:t>
            </a:r>
            <a:r>
              <a:rPr lang="zh-CN" altLang="en-US" sz="2000" b="1">
                <a:solidFill>
                  <a:srgbClr val="FFFF00"/>
                </a:solidFill>
                <a:effectLst>
                  <a:outerShdw blurRad="38100" dist="38100" dir="2700000" algn="tl">
                    <a:srgbClr val="000000"/>
                  </a:outerShdw>
                </a:effectLst>
              </a:rPr>
              <a:t>能量被滤除，但图象中绝大多敌细节信息都丢失了，事实上这幅图已无多少实际用途。</a:t>
            </a:r>
          </a:p>
        </p:txBody>
      </p:sp>
      <p:sp>
        <p:nvSpPr>
          <p:cNvPr id="707597" name="Text Box 13">
            <a:extLst>
              <a:ext uri="{FF2B5EF4-FFF2-40B4-BE49-F238E27FC236}">
                <a16:creationId xmlns:a16="http://schemas.microsoft.com/office/drawing/2014/main" id="{F8B81497-F482-CD3A-F17E-E60543635072}"/>
              </a:ext>
            </a:extLst>
          </p:cNvPr>
          <p:cNvSpPr txBox="1">
            <a:spLocks noChangeArrowheads="1"/>
          </p:cNvSpPr>
          <p:nvPr/>
        </p:nvSpPr>
        <p:spPr bwMode="auto">
          <a:xfrm>
            <a:off x="0" y="5300663"/>
            <a:ext cx="101123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CCFF99"/>
                </a:solidFill>
                <a:effectLst>
                  <a:outerShdw blurRad="38100" dist="38100" dir="2700000" algn="tl">
                    <a:srgbClr val="000000"/>
                  </a:outerShdw>
                </a:effectLst>
              </a:rPr>
              <a:t>由图</a:t>
            </a:r>
            <a:r>
              <a:rPr lang="en-US" altLang="zh-CN" sz="2000" b="1">
                <a:solidFill>
                  <a:srgbClr val="CCFF99"/>
                </a:solidFill>
                <a:effectLst>
                  <a:outerShdw blurRad="38100" dist="38100" dir="2700000" algn="tl">
                    <a:srgbClr val="000000"/>
                  </a:outerShdw>
                </a:effectLst>
              </a:rPr>
              <a:t>(d)</a:t>
            </a:r>
            <a:r>
              <a:rPr lang="zh-CN" altLang="en-US" sz="2000" b="1">
                <a:solidFill>
                  <a:srgbClr val="CCFF99"/>
                </a:solidFill>
                <a:effectLst>
                  <a:outerShdw blurRad="38100" dist="38100" dir="2700000" algn="tl">
                    <a:srgbClr val="000000"/>
                  </a:outerShdw>
                </a:effectLst>
              </a:rPr>
              <a:t>可见当仅有</a:t>
            </a:r>
            <a:r>
              <a:rPr lang="en-US" altLang="zh-CN" sz="2000" b="1">
                <a:solidFill>
                  <a:srgbClr val="CCFF99"/>
                </a:solidFill>
                <a:effectLst>
                  <a:outerShdw blurRad="38100" dist="38100" dir="2700000" algn="tl">
                    <a:srgbClr val="000000"/>
                  </a:outerShdw>
                </a:effectLst>
              </a:rPr>
              <a:t>5</a:t>
            </a:r>
            <a:r>
              <a:rPr lang="zh-CN" altLang="en-US" sz="2000" b="1">
                <a:solidFill>
                  <a:srgbClr val="CCFF99"/>
                </a:solidFill>
                <a:effectLst>
                  <a:outerShdw blurRad="38100" dist="38100" dir="2700000" algn="tl">
                    <a:srgbClr val="000000"/>
                  </a:outerShdw>
                </a:effectLst>
              </a:rPr>
              <a:t>％的</a:t>
            </a:r>
            <a:r>
              <a:rPr lang="en-US" altLang="zh-CN" sz="2000" b="1">
                <a:solidFill>
                  <a:srgbClr val="CCFF99"/>
                </a:solidFill>
                <a:effectLst>
                  <a:outerShdw blurRad="38100" dist="38100" dir="2700000" algn="tl">
                    <a:srgbClr val="000000"/>
                  </a:outerShdw>
                </a:effectLst>
              </a:rPr>
              <a:t>(</a:t>
            </a:r>
            <a:r>
              <a:rPr lang="zh-CN" altLang="en-US" sz="2000" b="1">
                <a:solidFill>
                  <a:srgbClr val="CCFF99"/>
                </a:solidFill>
                <a:effectLst>
                  <a:outerShdw blurRad="38100" dist="38100" dir="2700000" algn="tl">
                    <a:srgbClr val="000000"/>
                  </a:outerShdw>
                </a:effectLst>
              </a:rPr>
              <a:t>高频</a:t>
            </a:r>
            <a:r>
              <a:rPr lang="en-US" altLang="zh-CN" sz="2000" b="1">
                <a:solidFill>
                  <a:srgbClr val="CCFF99"/>
                </a:solidFill>
                <a:effectLst>
                  <a:outerShdw blurRad="38100" dist="38100" dir="2700000" algn="tl">
                    <a:srgbClr val="000000"/>
                  </a:outerShdw>
                </a:effectLst>
              </a:rPr>
              <a:t>)</a:t>
            </a:r>
            <a:r>
              <a:rPr lang="zh-CN" altLang="en-US" sz="2000" b="1">
                <a:solidFill>
                  <a:srgbClr val="CCFF99"/>
                </a:solidFill>
                <a:effectLst>
                  <a:outerShdw blurRad="38100" dist="38100" dir="2700000" algn="tl">
                    <a:srgbClr val="000000"/>
                  </a:outerShdw>
                </a:effectLst>
              </a:rPr>
              <a:t>能量被滤除后，图象中仍有明显的振铃效应。</a:t>
            </a:r>
          </a:p>
          <a:p>
            <a:r>
              <a:rPr lang="zh-CN" altLang="en-US" sz="2000" b="1">
                <a:solidFill>
                  <a:srgbClr val="00FF99"/>
                </a:solidFill>
                <a:effectLst>
                  <a:outerShdw blurRad="38100" dist="38100" dir="2700000" algn="tl">
                    <a:srgbClr val="000000"/>
                  </a:outerShdw>
                </a:effectLst>
              </a:rPr>
              <a:t>由图</a:t>
            </a:r>
            <a:r>
              <a:rPr lang="en-US" altLang="zh-CN" sz="2000" b="1">
                <a:solidFill>
                  <a:srgbClr val="00FF99"/>
                </a:solidFill>
                <a:effectLst>
                  <a:outerShdw blurRad="38100" dist="38100" dir="2700000" algn="tl">
                    <a:srgbClr val="000000"/>
                  </a:outerShdw>
                </a:effectLst>
              </a:rPr>
              <a:t>(e)</a:t>
            </a:r>
            <a:r>
              <a:rPr lang="zh-CN" altLang="en-US" sz="2000" b="1">
                <a:solidFill>
                  <a:srgbClr val="00FF99"/>
                </a:solidFill>
                <a:effectLst>
                  <a:outerShdw blurRad="38100" dist="38100" dir="2700000" algn="tl">
                    <a:srgbClr val="000000"/>
                  </a:outerShdw>
                </a:effectLst>
              </a:rPr>
              <a:t>可见，如果只滤除</a:t>
            </a:r>
            <a:r>
              <a:rPr lang="en-US" altLang="zh-CN" sz="2000" b="1">
                <a:solidFill>
                  <a:srgbClr val="00FF99"/>
                </a:solidFill>
                <a:effectLst>
                  <a:outerShdw blurRad="38100" dist="38100" dir="2700000" algn="tl">
                    <a:srgbClr val="000000"/>
                  </a:outerShdw>
                </a:effectLst>
              </a:rPr>
              <a:t>1</a:t>
            </a:r>
            <a:r>
              <a:rPr lang="zh-CN" altLang="en-US" sz="2000" b="1">
                <a:solidFill>
                  <a:srgbClr val="00FF99"/>
                </a:solidFill>
                <a:effectLst>
                  <a:outerShdw blurRad="38100" dist="38100" dir="2700000" algn="tl">
                    <a:srgbClr val="000000"/>
                  </a:outerShdw>
                </a:effectLst>
              </a:rPr>
              <a:t>％的</a:t>
            </a:r>
            <a:r>
              <a:rPr lang="en-US" altLang="zh-CN" sz="2000" b="1">
                <a:solidFill>
                  <a:srgbClr val="00FF99"/>
                </a:solidFill>
                <a:effectLst>
                  <a:outerShdw blurRad="38100" dist="38100" dir="2700000" algn="tl">
                    <a:srgbClr val="000000"/>
                  </a:outerShdw>
                </a:effectLst>
              </a:rPr>
              <a:t>(</a:t>
            </a:r>
            <a:r>
              <a:rPr lang="zh-CN" altLang="en-US" sz="2000" b="1">
                <a:solidFill>
                  <a:srgbClr val="00FF99"/>
                </a:solidFill>
                <a:effectLst>
                  <a:outerShdw blurRad="38100" dist="38100" dir="2700000" algn="tl">
                    <a:srgbClr val="000000"/>
                  </a:outerShdw>
                </a:effectLst>
              </a:rPr>
              <a:t>高频</a:t>
            </a:r>
            <a:r>
              <a:rPr lang="en-US" altLang="zh-CN" sz="2000" b="1">
                <a:solidFill>
                  <a:srgbClr val="00FF99"/>
                </a:solidFill>
                <a:effectLst>
                  <a:outerShdw blurRad="38100" dist="38100" dir="2700000" algn="tl">
                    <a:srgbClr val="000000"/>
                  </a:outerShdw>
                </a:effectLst>
              </a:rPr>
              <a:t>)</a:t>
            </a:r>
            <a:r>
              <a:rPr lang="zh-CN" altLang="en-US" sz="2000" b="1">
                <a:solidFill>
                  <a:srgbClr val="00FF99"/>
                </a:solidFill>
                <a:effectLst>
                  <a:outerShdw blurRad="38100" dist="38100" dir="2700000" algn="tl">
                    <a:srgbClr val="000000"/>
                  </a:outerShdw>
                </a:effectLst>
              </a:rPr>
              <a:t>能量，图象虽有一定程度的模糊但视觉效果尚可。</a:t>
            </a:r>
          </a:p>
          <a:p>
            <a:r>
              <a:rPr lang="zh-CN" altLang="en-US" sz="2000" b="1">
                <a:solidFill>
                  <a:srgbClr val="FFCCFF"/>
                </a:solidFill>
                <a:effectLst>
                  <a:outerShdw blurRad="38100" dist="38100" dir="2700000" algn="tl">
                    <a:srgbClr val="000000"/>
                  </a:outerShdw>
                </a:effectLst>
              </a:rPr>
              <a:t>由图</a:t>
            </a:r>
            <a:r>
              <a:rPr lang="en-US" altLang="zh-CN" sz="2000" b="1">
                <a:solidFill>
                  <a:srgbClr val="FFCCFF"/>
                </a:solidFill>
                <a:effectLst>
                  <a:outerShdw blurRad="38100" dist="38100" dir="2700000" algn="tl">
                    <a:srgbClr val="000000"/>
                  </a:outerShdw>
                </a:effectLst>
              </a:rPr>
              <a:t>(f)</a:t>
            </a:r>
            <a:r>
              <a:rPr lang="zh-CN" altLang="en-US" sz="2000" b="1">
                <a:solidFill>
                  <a:srgbClr val="FFCCFF"/>
                </a:solidFill>
                <a:effectLst>
                  <a:outerShdw blurRad="38100" dist="38100" dir="2700000" algn="tl">
                    <a:srgbClr val="000000"/>
                  </a:outerShdw>
                </a:effectLst>
              </a:rPr>
              <a:t>可见，滤除</a:t>
            </a:r>
            <a:r>
              <a:rPr lang="en-US" altLang="zh-CN" sz="2000" b="1">
                <a:solidFill>
                  <a:srgbClr val="FFCCFF"/>
                </a:solidFill>
                <a:effectLst>
                  <a:outerShdw blurRad="38100" dist="38100" dir="2700000" algn="tl">
                    <a:srgbClr val="000000"/>
                  </a:outerShdw>
                </a:effectLst>
              </a:rPr>
              <a:t>05</a:t>
            </a:r>
            <a:r>
              <a:rPr lang="zh-CN" altLang="en-US" sz="2000" b="1">
                <a:solidFill>
                  <a:srgbClr val="FFCCFF"/>
                </a:solidFill>
                <a:effectLst>
                  <a:outerShdw blurRad="38100" dist="38100" dir="2700000" algn="tl">
                    <a:srgbClr val="000000"/>
                  </a:outerShdw>
                </a:effectLst>
              </a:rPr>
              <a:t>％的</a:t>
            </a:r>
            <a:r>
              <a:rPr lang="en-US" altLang="zh-CN" sz="2000" b="1">
                <a:solidFill>
                  <a:srgbClr val="FFCCFF"/>
                </a:solidFill>
                <a:effectLst>
                  <a:outerShdw blurRad="38100" dist="38100" dir="2700000" algn="tl">
                    <a:srgbClr val="000000"/>
                  </a:outerShdw>
                </a:effectLst>
              </a:rPr>
              <a:t>(</a:t>
            </a:r>
            <a:r>
              <a:rPr lang="zh-CN" altLang="en-US" sz="2000" b="1">
                <a:solidFill>
                  <a:srgbClr val="FFCCFF"/>
                </a:solidFill>
                <a:effectLst>
                  <a:outerShdw blurRad="38100" dist="38100" dir="2700000" algn="tl">
                    <a:srgbClr val="000000"/>
                  </a:outerShdw>
                </a:effectLst>
              </a:rPr>
              <a:t>高频</a:t>
            </a:r>
            <a:r>
              <a:rPr lang="en-US" altLang="zh-CN" sz="2000" b="1">
                <a:solidFill>
                  <a:srgbClr val="FFCCFF"/>
                </a:solidFill>
                <a:effectLst>
                  <a:outerShdw blurRad="38100" dist="38100" dir="2700000" algn="tl">
                    <a:srgbClr val="000000"/>
                  </a:outerShdw>
                </a:effectLst>
              </a:rPr>
              <a:t>)</a:t>
            </a:r>
            <a:r>
              <a:rPr lang="zh-CN" altLang="en-US" sz="2000" b="1">
                <a:solidFill>
                  <a:srgbClr val="FFCCFF"/>
                </a:solidFill>
                <a:effectLst>
                  <a:outerShdw blurRad="38100" dist="38100" dir="2700000" algn="tl">
                    <a:srgbClr val="000000"/>
                  </a:outerShdw>
                </a:effectLst>
              </a:rPr>
              <a:t>能量后所得到的滤波结果与原图象几乎无差别。</a:t>
            </a:r>
            <a:endParaRPr lang="zh-CN" altLang="en-US" sz="2000">
              <a:solidFill>
                <a:srgbClr val="FFCCFF"/>
              </a:solidFill>
            </a:endParaRPr>
          </a:p>
        </p:txBody>
      </p:sp>
    </p:spTree>
  </p:cSld>
  <p:clrMapOvr>
    <a:masterClrMapping/>
  </p:clrMapOvr>
  <p:transition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9" name="Rectangle 9">
            <a:extLst>
              <a:ext uri="{FF2B5EF4-FFF2-40B4-BE49-F238E27FC236}">
                <a16:creationId xmlns:a16="http://schemas.microsoft.com/office/drawing/2014/main" id="{C4BFC93A-D24A-EE21-A485-2D66D141B496}"/>
              </a:ext>
            </a:extLst>
          </p:cNvPr>
          <p:cNvSpPr>
            <a:spLocks noChangeArrowheads="1"/>
          </p:cNvSpPr>
          <p:nvPr>
            <p:ph type="body" idx="1"/>
          </p:nvPr>
        </p:nvSpPr>
        <p:spPr>
          <a:xfrm>
            <a:off x="319088" y="404813"/>
            <a:ext cx="8077200" cy="2951162"/>
          </a:xfrm>
          <a:noFill/>
          <a:ln/>
        </p:spPr>
        <p:txBody>
          <a:bodyPr/>
          <a:lstStyle/>
          <a:p>
            <a:r>
              <a:rPr lang="zh-CN" altLang="en-US" sz="2800" b="1">
                <a:solidFill>
                  <a:schemeClr val="tx2"/>
                </a:solidFill>
              </a:rPr>
              <a:t>理想低通滤波器的分析</a:t>
            </a:r>
          </a:p>
          <a:p>
            <a:pPr lvl="1"/>
            <a:r>
              <a:rPr lang="zh-CN" altLang="en-US" sz="2400" b="1">
                <a:solidFill>
                  <a:srgbClr val="34F7F2"/>
                </a:solidFill>
              </a:rPr>
              <a:t>整个能量的</a:t>
            </a:r>
            <a:r>
              <a:rPr lang="en-US" altLang="zh-CN" sz="2400" b="1">
                <a:solidFill>
                  <a:srgbClr val="34F7F2"/>
                </a:solidFill>
              </a:rPr>
              <a:t>90%</a:t>
            </a:r>
            <a:r>
              <a:rPr lang="zh-CN" altLang="en-US" sz="2400" b="1">
                <a:solidFill>
                  <a:srgbClr val="34F7F2"/>
                </a:solidFill>
              </a:rPr>
              <a:t>被一个半径为</a:t>
            </a:r>
            <a:r>
              <a:rPr lang="en-US" altLang="zh-CN" sz="2400" b="1">
                <a:solidFill>
                  <a:srgbClr val="34F7F2"/>
                </a:solidFill>
              </a:rPr>
              <a:t>8</a:t>
            </a:r>
            <a:r>
              <a:rPr lang="zh-CN" altLang="en-US" sz="2400" b="1">
                <a:solidFill>
                  <a:srgbClr val="34F7F2"/>
                </a:solidFill>
              </a:rPr>
              <a:t>的小圆周包含</a:t>
            </a:r>
            <a:r>
              <a:rPr lang="en-US" altLang="zh-CN" sz="2400" b="1">
                <a:solidFill>
                  <a:srgbClr val="34F7F2"/>
                </a:solidFill>
              </a:rPr>
              <a:t>,</a:t>
            </a:r>
            <a:r>
              <a:rPr lang="zh-CN" altLang="en-US" sz="2400" b="1">
                <a:solidFill>
                  <a:srgbClr val="34F7F2"/>
                </a:solidFill>
              </a:rPr>
              <a:t>大部分尖锐的细节信息都存在于被去掉的</a:t>
            </a:r>
            <a:r>
              <a:rPr lang="en-US" altLang="zh-CN" sz="2400" b="1">
                <a:solidFill>
                  <a:srgbClr val="34F7F2"/>
                </a:solidFill>
              </a:rPr>
              <a:t>10%</a:t>
            </a:r>
            <a:r>
              <a:rPr lang="zh-CN" altLang="en-US" sz="2400" b="1">
                <a:solidFill>
                  <a:srgbClr val="34F7F2"/>
                </a:solidFill>
              </a:rPr>
              <a:t>的能量中</a:t>
            </a:r>
          </a:p>
          <a:p>
            <a:pPr lvl="1"/>
            <a:r>
              <a:rPr lang="zh-CN" altLang="en-US" sz="2400" b="1">
                <a:solidFill>
                  <a:srgbClr val="B3E5BB"/>
                </a:solidFill>
              </a:rPr>
              <a:t>小的边界和其它尖锐细节信息被包含在频谱的至多</a:t>
            </a:r>
            <a:r>
              <a:rPr lang="en-US" altLang="zh-CN" sz="2400" b="1">
                <a:solidFill>
                  <a:srgbClr val="B3E5BB"/>
                </a:solidFill>
              </a:rPr>
              <a:t>0.5%</a:t>
            </a:r>
            <a:r>
              <a:rPr lang="zh-CN" altLang="en-US" sz="2400" b="1">
                <a:solidFill>
                  <a:srgbClr val="B3E5BB"/>
                </a:solidFill>
              </a:rPr>
              <a:t>的能量中</a:t>
            </a:r>
          </a:p>
          <a:p>
            <a:pPr lvl="1"/>
            <a:r>
              <a:rPr lang="zh-CN" altLang="en-US" sz="2400" b="1">
                <a:solidFill>
                  <a:srgbClr val="FF9900"/>
                </a:solidFill>
              </a:rPr>
              <a:t>被钝化的图像被一种非常严重的振铃效果所影响</a:t>
            </a:r>
          </a:p>
        </p:txBody>
      </p:sp>
    </p:spTree>
  </p:cSld>
  <p:clrMapOvr>
    <a:masterClrMapping/>
  </p:clrMapOvr>
  <p:transition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1026">
            <a:extLst>
              <a:ext uri="{FF2B5EF4-FFF2-40B4-BE49-F238E27FC236}">
                <a16:creationId xmlns:a16="http://schemas.microsoft.com/office/drawing/2014/main" id="{40705D18-57B8-3708-5061-4D0645C5FE4E}"/>
              </a:ext>
            </a:extLst>
          </p:cNvPr>
          <p:cNvSpPr>
            <a:spLocks noChangeArrowheads="1"/>
          </p:cNvSpPr>
          <p:nvPr/>
        </p:nvSpPr>
        <p:spPr bwMode="auto">
          <a:xfrm>
            <a:off x="533400" y="381000"/>
            <a:ext cx="5546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理想低通滤波器的处理效果：</a:t>
            </a:r>
          </a:p>
        </p:txBody>
      </p:sp>
      <p:pic>
        <p:nvPicPr>
          <p:cNvPr id="462856" name="Picture 1032">
            <a:extLst>
              <a:ext uri="{FF2B5EF4-FFF2-40B4-BE49-F238E27FC236}">
                <a16:creationId xmlns:a16="http://schemas.microsoft.com/office/drawing/2014/main" id="{A8865E9B-F725-FC13-A1D8-6FE32EC64D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8113" y="1771650"/>
            <a:ext cx="5068887" cy="5086350"/>
          </a:xfrm>
          <a:prstGeom prst="rect">
            <a:avLst/>
          </a:prstGeom>
          <a:noFill/>
          <a:extLst>
            <a:ext uri="{909E8E84-426E-40DD-AFC4-6F175D3DCCD1}">
              <a14:hiddenFill xmlns:a14="http://schemas.microsoft.com/office/drawing/2010/main">
                <a:solidFill>
                  <a:srgbClr val="FFFFFF"/>
                </a:solidFill>
              </a14:hiddenFill>
            </a:ext>
          </a:extLst>
        </p:spPr>
      </p:pic>
      <p:pic>
        <p:nvPicPr>
          <p:cNvPr id="462857" name="Picture 1033">
            <a:extLst>
              <a:ext uri="{FF2B5EF4-FFF2-40B4-BE49-F238E27FC236}">
                <a16:creationId xmlns:a16="http://schemas.microsoft.com/office/drawing/2014/main" id="{CA83D42B-215E-26A8-D0A9-A288FD94B8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52600"/>
            <a:ext cx="5105400" cy="5105400"/>
          </a:xfrm>
          <a:prstGeom prst="rect">
            <a:avLst/>
          </a:prstGeom>
          <a:noFill/>
          <a:extLst>
            <a:ext uri="{909E8E84-426E-40DD-AFC4-6F175D3DCCD1}">
              <a14:hiddenFill xmlns:a14="http://schemas.microsoft.com/office/drawing/2010/main">
                <a:solidFill>
                  <a:srgbClr val="FFFFFF"/>
                </a:solidFill>
              </a14:hiddenFill>
            </a:ext>
          </a:extLst>
        </p:spPr>
      </p:pic>
      <p:pic>
        <p:nvPicPr>
          <p:cNvPr id="462858" name="Picture 1034">
            <a:extLst>
              <a:ext uri="{FF2B5EF4-FFF2-40B4-BE49-F238E27FC236}">
                <a16:creationId xmlns:a16="http://schemas.microsoft.com/office/drawing/2014/main" id="{9A107271-A8A6-DE88-F092-DACC410434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200" y="0"/>
            <a:ext cx="2425700"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advTm="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1026">
            <a:extLst>
              <a:ext uri="{FF2B5EF4-FFF2-40B4-BE49-F238E27FC236}">
                <a16:creationId xmlns:a16="http://schemas.microsoft.com/office/drawing/2014/main" id="{6FBAD3DE-B50D-0FDF-EB1A-19EDA529A1DE}"/>
              </a:ext>
            </a:extLst>
          </p:cNvPr>
          <p:cNvSpPr>
            <a:spLocks noChangeArrowheads="1"/>
          </p:cNvSpPr>
          <p:nvPr/>
        </p:nvSpPr>
        <p:spPr bwMode="auto">
          <a:xfrm>
            <a:off x="533400" y="381000"/>
            <a:ext cx="5546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理想低通滤波器的处理效果：</a:t>
            </a:r>
          </a:p>
        </p:txBody>
      </p:sp>
      <p:pic>
        <p:nvPicPr>
          <p:cNvPr id="464900" name="Picture 1028">
            <a:extLst>
              <a:ext uri="{FF2B5EF4-FFF2-40B4-BE49-F238E27FC236}">
                <a16:creationId xmlns:a16="http://schemas.microsoft.com/office/drawing/2014/main" id="{452F694F-7CE7-C847-B774-146D2F5789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00200"/>
            <a:ext cx="5105400" cy="5105400"/>
          </a:xfrm>
          <a:prstGeom prst="rect">
            <a:avLst/>
          </a:prstGeom>
          <a:noFill/>
          <a:extLst>
            <a:ext uri="{909E8E84-426E-40DD-AFC4-6F175D3DCCD1}">
              <a14:hiddenFill xmlns:a14="http://schemas.microsoft.com/office/drawing/2010/main">
                <a:solidFill>
                  <a:srgbClr val="FFFFFF"/>
                </a:solidFill>
              </a14:hiddenFill>
            </a:ext>
          </a:extLst>
        </p:spPr>
      </p:pic>
      <p:pic>
        <p:nvPicPr>
          <p:cNvPr id="464901" name="Picture 1029">
            <a:extLst>
              <a:ext uri="{FF2B5EF4-FFF2-40B4-BE49-F238E27FC236}">
                <a16:creationId xmlns:a16="http://schemas.microsoft.com/office/drawing/2014/main" id="{4DCE0B92-29CB-0BC8-8B00-416AACA207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0650" y="1600200"/>
            <a:ext cx="5086350" cy="5086350"/>
          </a:xfrm>
          <a:prstGeom prst="rect">
            <a:avLst/>
          </a:prstGeom>
          <a:noFill/>
          <a:extLst>
            <a:ext uri="{909E8E84-426E-40DD-AFC4-6F175D3DCCD1}">
              <a14:hiddenFill xmlns:a14="http://schemas.microsoft.com/office/drawing/2010/main">
                <a:solidFill>
                  <a:srgbClr val="FFFFFF"/>
                </a:solidFill>
              </a14:hiddenFill>
            </a:ext>
          </a:extLst>
        </p:spPr>
      </p:pic>
      <p:pic>
        <p:nvPicPr>
          <p:cNvPr id="464904" name="Picture 1032">
            <a:extLst>
              <a:ext uri="{FF2B5EF4-FFF2-40B4-BE49-F238E27FC236}">
                <a16:creationId xmlns:a16="http://schemas.microsoft.com/office/drawing/2014/main" id="{6460E28F-44FD-E380-BA3D-20F1B55E2F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0" y="0"/>
            <a:ext cx="21971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a:extLst>
              <a:ext uri="{FF2B5EF4-FFF2-40B4-BE49-F238E27FC236}">
                <a16:creationId xmlns:a16="http://schemas.microsoft.com/office/drawing/2014/main" id="{3F6EE50B-2FCF-AC8B-CBFC-F28F0E5DD3B2}"/>
              </a:ext>
            </a:extLst>
          </p:cNvPr>
          <p:cNvSpPr>
            <a:spLocks noChangeArrowheads="1"/>
          </p:cNvSpPr>
          <p:nvPr/>
        </p:nvSpPr>
        <p:spPr bwMode="auto">
          <a:xfrm>
            <a:off x="319088" y="188913"/>
            <a:ext cx="457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二、巴特沃斯低通滤波器</a:t>
            </a:r>
          </a:p>
        </p:txBody>
      </p:sp>
      <p:grpSp>
        <p:nvGrpSpPr>
          <p:cNvPr id="438284" name="Group 12">
            <a:extLst>
              <a:ext uri="{FF2B5EF4-FFF2-40B4-BE49-F238E27FC236}">
                <a16:creationId xmlns:a16="http://schemas.microsoft.com/office/drawing/2014/main" id="{A5587C9A-52F8-5092-2454-3CE829232563}"/>
              </a:ext>
            </a:extLst>
          </p:cNvPr>
          <p:cNvGrpSpPr>
            <a:grpSpLocks/>
          </p:cNvGrpSpPr>
          <p:nvPr/>
        </p:nvGrpSpPr>
        <p:grpSpPr bwMode="auto">
          <a:xfrm>
            <a:off x="0" y="3357563"/>
            <a:ext cx="9505950" cy="2185987"/>
            <a:chOff x="292" y="663"/>
            <a:chExt cx="5988" cy="1377"/>
          </a:xfrm>
        </p:grpSpPr>
        <p:grpSp>
          <p:nvGrpSpPr>
            <p:cNvPr id="438282" name="Group 10">
              <a:extLst>
                <a:ext uri="{FF2B5EF4-FFF2-40B4-BE49-F238E27FC236}">
                  <a16:creationId xmlns:a16="http://schemas.microsoft.com/office/drawing/2014/main" id="{BAB2C4BB-B813-AA2F-6298-129F55E83BE1}"/>
                </a:ext>
              </a:extLst>
            </p:cNvPr>
            <p:cNvGrpSpPr>
              <a:grpSpLocks/>
            </p:cNvGrpSpPr>
            <p:nvPr/>
          </p:nvGrpSpPr>
          <p:grpSpPr bwMode="auto">
            <a:xfrm>
              <a:off x="655" y="1162"/>
              <a:ext cx="4752" cy="878"/>
              <a:chOff x="201" y="663"/>
              <a:chExt cx="4752" cy="878"/>
            </a:xfrm>
          </p:grpSpPr>
          <p:sp>
            <p:nvSpPr>
              <p:cNvPr id="438277" name="Rectangle 5">
                <a:extLst>
                  <a:ext uri="{FF2B5EF4-FFF2-40B4-BE49-F238E27FC236}">
                    <a16:creationId xmlns:a16="http://schemas.microsoft.com/office/drawing/2014/main" id="{492B34B1-867E-FA7A-EC9F-979A014674E0}"/>
                  </a:ext>
                </a:extLst>
              </p:cNvPr>
              <p:cNvSpPr>
                <a:spLocks noChangeArrowheads="1"/>
              </p:cNvSpPr>
              <p:nvPr/>
            </p:nvSpPr>
            <p:spPr bwMode="auto">
              <a:xfrm>
                <a:off x="201" y="1253"/>
                <a:ext cx="47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i="1">
                    <a:solidFill>
                      <a:srgbClr val="CCFF99"/>
                    </a:solidFill>
                    <a:effectLst>
                      <a:outerShdw blurRad="38100" dist="38100" dir="2700000" algn="tl">
                        <a:srgbClr val="000000"/>
                      </a:outerShdw>
                    </a:effectLst>
                  </a:rPr>
                  <a:t>n</a:t>
                </a:r>
                <a:r>
                  <a:rPr lang="en-US" altLang="zh-CN" sz="2400" b="1">
                    <a:solidFill>
                      <a:srgbClr val="CCFF99"/>
                    </a:solidFill>
                    <a:effectLst>
                      <a:outerShdw blurRad="38100" dist="38100" dir="2700000" algn="tl">
                        <a:srgbClr val="000000"/>
                      </a:outerShdw>
                    </a:effectLst>
                  </a:rPr>
                  <a:t> </a:t>
                </a:r>
                <a:r>
                  <a:rPr lang="zh-CN" altLang="en-US" sz="2400" b="1">
                    <a:solidFill>
                      <a:srgbClr val="CCFF99"/>
                    </a:solidFill>
                    <a:effectLst>
                      <a:outerShdw blurRad="38100" dist="38100" dir="2700000" algn="tl">
                        <a:srgbClr val="000000"/>
                      </a:outerShdw>
                    </a:effectLst>
                  </a:rPr>
                  <a:t>为滤波器的阶次，</a:t>
                </a:r>
                <a:r>
                  <a:rPr lang="en-US" altLang="zh-CN" sz="2400" b="1" i="1">
                    <a:solidFill>
                      <a:srgbClr val="CCFF99"/>
                    </a:solidFill>
                    <a:effectLst>
                      <a:outerShdw blurRad="38100" dist="38100" dir="2700000" algn="tl">
                        <a:srgbClr val="000000"/>
                      </a:outerShdw>
                    </a:effectLst>
                  </a:rPr>
                  <a:t>D</a:t>
                </a:r>
                <a:r>
                  <a:rPr lang="en-US" altLang="zh-CN" sz="2400" b="1" i="1" baseline="-25000">
                    <a:solidFill>
                      <a:srgbClr val="CCFF99"/>
                    </a:solidFill>
                    <a:effectLst>
                      <a:outerShdw blurRad="38100" dist="38100" dir="2700000" algn="tl">
                        <a:srgbClr val="000000"/>
                      </a:outerShdw>
                    </a:effectLst>
                  </a:rPr>
                  <a:t>0</a:t>
                </a:r>
                <a:r>
                  <a:rPr lang="zh-CN" altLang="en-US" sz="2400" b="1">
                    <a:solidFill>
                      <a:srgbClr val="CCFF99"/>
                    </a:solidFill>
                    <a:effectLst>
                      <a:outerShdw blurRad="38100" dist="38100" dir="2700000" algn="tl">
                        <a:srgbClr val="000000"/>
                      </a:outerShdw>
                    </a:effectLst>
                  </a:rPr>
                  <a:t>为滤波器的截止频率</a:t>
                </a:r>
              </a:p>
            </p:txBody>
          </p:sp>
          <p:graphicFrame>
            <p:nvGraphicFramePr>
              <p:cNvPr id="438279" name="Object 7">
                <a:extLst>
                  <a:ext uri="{FF2B5EF4-FFF2-40B4-BE49-F238E27FC236}">
                    <a16:creationId xmlns:a16="http://schemas.microsoft.com/office/drawing/2014/main" id="{5FB4EBF4-8064-619D-AEB7-8780DC536D2B}"/>
                  </a:ext>
                </a:extLst>
              </p:cNvPr>
              <p:cNvGraphicFramePr>
                <a:graphicFrameLocks noChangeAspect="1"/>
              </p:cNvGraphicFramePr>
              <p:nvPr/>
            </p:nvGraphicFramePr>
            <p:xfrm>
              <a:off x="655" y="663"/>
              <a:ext cx="2352" cy="580"/>
            </p:xfrm>
            <a:graphic>
              <a:graphicData uri="http://schemas.openxmlformats.org/presentationml/2006/ole">
                <mc:AlternateContent xmlns:mc="http://schemas.openxmlformats.org/markup-compatibility/2006">
                  <mc:Choice xmlns:v="urn:schemas-microsoft-com:vml" Requires="v">
                    <p:oleObj name="Microsoft 公式 3.0" r:id="rId3" imgW="40373300" imgH="9944100" progId="Equation.3">
                      <p:embed/>
                    </p:oleObj>
                  </mc:Choice>
                  <mc:Fallback>
                    <p:oleObj name="Microsoft 公式 3.0" r:id="rId3" imgW="40373300" imgH="99441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 y="663"/>
                            <a:ext cx="2352" cy="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38283" name="Rectangle 11">
              <a:extLst>
                <a:ext uri="{FF2B5EF4-FFF2-40B4-BE49-F238E27FC236}">
                  <a16:creationId xmlns:a16="http://schemas.microsoft.com/office/drawing/2014/main" id="{342D346A-D6DB-03EF-FAA1-D6C222BEDEAE}"/>
                </a:ext>
              </a:extLst>
            </p:cNvPr>
            <p:cNvSpPr>
              <a:spLocks noChangeArrowheads="1"/>
            </p:cNvSpPr>
            <p:nvPr/>
          </p:nvSpPr>
          <p:spPr bwMode="auto">
            <a:xfrm>
              <a:off x="292" y="663"/>
              <a:ext cx="598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ct val="20000"/>
                </a:spcBef>
              </a:pPr>
              <a:r>
                <a:rPr lang="zh-CN" altLang="en-US" sz="2400" b="1">
                  <a:solidFill>
                    <a:srgbClr val="34F7F2"/>
                  </a:solidFill>
                </a:rPr>
                <a:t>一个截止频率在与原点距离为</a:t>
              </a:r>
              <a:r>
                <a:rPr lang="en-US" altLang="zh-CN" sz="2400" b="1">
                  <a:solidFill>
                    <a:srgbClr val="34F7F2"/>
                  </a:solidFill>
                </a:rPr>
                <a:t>D</a:t>
              </a:r>
              <a:r>
                <a:rPr lang="en-US" altLang="zh-CN" sz="2400" b="1" baseline="-25000">
                  <a:solidFill>
                    <a:srgbClr val="34F7F2"/>
                  </a:solidFill>
                </a:rPr>
                <a:t>0</a:t>
              </a:r>
              <a:r>
                <a:rPr lang="zh-CN" altLang="en-US" sz="2400" b="1">
                  <a:solidFill>
                    <a:srgbClr val="34F7F2"/>
                  </a:solidFill>
                </a:rPr>
                <a:t>的</a:t>
              </a:r>
              <a:r>
                <a:rPr lang="en-US" altLang="zh-CN" sz="2400" b="1">
                  <a:solidFill>
                    <a:srgbClr val="34F7F2"/>
                  </a:solidFill>
                </a:rPr>
                <a:t>n</a:t>
              </a:r>
              <a:r>
                <a:rPr lang="zh-CN" altLang="en-US" sz="2400" b="1">
                  <a:solidFill>
                    <a:srgbClr val="34F7F2"/>
                  </a:solidFill>
                </a:rPr>
                <a:t>阶</a:t>
              </a:r>
              <a:r>
                <a:rPr lang="en-US" altLang="zh-CN" sz="2400" b="1">
                  <a:solidFill>
                    <a:srgbClr val="34F7F2"/>
                  </a:solidFill>
                </a:rPr>
                <a:t>Butterworth</a:t>
              </a:r>
              <a:r>
                <a:rPr lang="zh-CN" altLang="en-US" sz="2400" b="1">
                  <a:solidFill>
                    <a:srgbClr val="34F7F2"/>
                  </a:solidFill>
                </a:rPr>
                <a:t>低通滤波器（</a:t>
              </a:r>
              <a:r>
                <a:rPr lang="en-US" altLang="zh-CN" sz="2400" b="1">
                  <a:solidFill>
                    <a:srgbClr val="34F7F2"/>
                  </a:solidFill>
                </a:rPr>
                <a:t>BLPF</a:t>
              </a:r>
              <a:r>
                <a:rPr lang="zh-CN" altLang="en-US" sz="2400" b="1">
                  <a:solidFill>
                    <a:srgbClr val="34F7F2"/>
                  </a:solidFill>
                </a:rPr>
                <a:t>）的变换函数如下：</a:t>
              </a:r>
            </a:p>
          </p:txBody>
        </p:sp>
      </p:grpSp>
      <p:sp>
        <p:nvSpPr>
          <p:cNvPr id="438285" name="Rectangle 13">
            <a:extLst>
              <a:ext uri="{FF2B5EF4-FFF2-40B4-BE49-F238E27FC236}">
                <a16:creationId xmlns:a16="http://schemas.microsoft.com/office/drawing/2014/main" id="{DB45059D-E104-F724-8317-0AE21669D1AD}"/>
              </a:ext>
            </a:extLst>
          </p:cNvPr>
          <p:cNvSpPr>
            <a:spLocks noChangeArrowheads="1"/>
          </p:cNvSpPr>
          <p:nvPr/>
        </p:nvSpPr>
        <p:spPr bwMode="auto">
          <a:xfrm>
            <a:off x="247650" y="1341438"/>
            <a:ext cx="98647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FF99"/>
                </a:solidFill>
              </a:rPr>
              <a:t>尽管理想低通滤波器在数学上定义得很清楚，在计算机模拟中也可实现，但在截止频率处直上直下的理想低通滤波器是不能用实际的电子器件实现的。</a:t>
            </a:r>
          </a:p>
        </p:txBody>
      </p:sp>
    </p:spTree>
  </p:cSld>
  <p:clrMapOvr>
    <a:masterClrMapping/>
  </p:clrMapOvr>
  <p:transition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a:extLst>
              <a:ext uri="{FF2B5EF4-FFF2-40B4-BE49-F238E27FC236}">
                <a16:creationId xmlns:a16="http://schemas.microsoft.com/office/drawing/2014/main" id="{F22BC885-23CD-812D-256C-9C5E2CD9B8C8}"/>
              </a:ext>
            </a:extLst>
          </p:cNvPr>
          <p:cNvSpPr>
            <a:spLocks noChangeArrowheads="1"/>
          </p:cNvSpPr>
          <p:nvPr/>
        </p:nvSpPr>
        <p:spPr bwMode="auto">
          <a:xfrm>
            <a:off x="319088" y="476250"/>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二、巴特沃斯低通滤波器</a:t>
            </a:r>
          </a:p>
        </p:txBody>
      </p:sp>
      <p:sp>
        <p:nvSpPr>
          <p:cNvPr id="665608" name="Rectangle 8">
            <a:extLst>
              <a:ext uri="{FF2B5EF4-FFF2-40B4-BE49-F238E27FC236}">
                <a16:creationId xmlns:a16="http://schemas.microsoft.com/office/drawing/2014/main" id="{1E1A8B27-5410-73F4-7D6A-C4455DFD2590}"/>
              </a:ext>
            </a:extLst>
          </p:cNvPr>
          <p:cNvSpPr>
            <a:spLocks noChangeArrowheads="1"/>
          </p:cNvSpPr>
          <p:nvPr>
            <p:ph type="body" idx="1"/>
          </p:nvPr>
        </p:nvSpPr>
        <p:spPr>
          <a:xfrm>
            <a:off x="319088" y="1268413"/>
            <a:ext cx="8382000" cy="504825"/>
          </a:xfrm>
          <a:noFill/>
          <a:ln/>
        </p:spPr>
        <p:txBody>
          <a:bodyPr/>
          <a:lstStyle/>
          <a:p>
            <a:pPr>
              <a:lnSpc>
                <a:spcPct val="90000"/>
              </a:lnSpc>
            </a:pPr>
            <a:r>
              <a:rPr lang="en-US" altLang="zh-CN" sz="2800" b="1">
                <a:solidFill>
                  <a:srgbClr val="34F7F2"/>
                </a:solidFill>
              </a:rPr>
              <a:t>Butterworth</a:t>
            </a:r>
            <a:r>
              <a:rPr lang="zh-CN" altLang="en-US" sz="2800" b="1">
                <a:solidFill>
                  <a:srgbClr val="34F7F2"/>
                </a:solidFill>
              </a:rPr>
              <a:t>低通滤波器的截面图</a:t>
            </a:r>
          </a:p>
        </p:txBody>
      </p:sp>
      <p:sp>
        <p:nvSpPr>
          <p:cNvPr id="665609" name="Line 9">
            <a:extLst>
              <a:ext uri="{FF2B5EF4-FFF2-40B4-BE49-F238E27FC236}">
                <a16:creationId xmlns:a16="http://schemas.microsoft.com/office/drawing/2014/main" id="{CDC7F98A-727A-27F9-110D-B773B7487745}"/>
              </a:ext>
            </a:extLst>
          </p:cNvPr>
          <p:cNvSpPr>
            <a:spLocks noChangeShapeType="1"/>
          </p:cNvSpPr>
          <p:nvPr/>
        </p:nvSpPr>
        <p:spPr bwMode="auto">
          <a:xfrm>
            <a:off x="1296988" y="5459413"/>
            <a:ext cx="40386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10" name="Line 10">
            <a:extLst>
              <a:ext uri="{FF2B5EF4-FFF2-40B4-BE49-F238E27FC236}">
                <a16:creationId xmlns:a16="http://schemas.microsoft.com/office/drawing/2014/main" id="{08588E53-14D4-35BE-C3EC-2291EDF7CB8D}"/>
              </a:ext>
            </a:extLst>
          </p:cNvPr>
          <p:cNvSpPr>
            <a:spLocks noChangeShapeType="1"/>
          </p:cNvSpPr>
          <p:nvPr/>
        </p:nvSpPr>
        <p:spPr bwMode="auto">
          <a:xfrm flipV="1">
            <a:off x="1296988" y="2182813"/>
            <a:ext cx="0" cy="3276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11" name="Line 11">
            <a:extLst>
              <a:ext uri="{FF2B5EF4-FFF2-40B4-BE49-F238E27FC236}">
                <a16:creationId xmlns:a16="http://schemas.microsoft.com/office/drawing/2014/main" id="{F40B5E52-B271-B969-E362-E21C53A1B2F0}"/>
              </a:ext>
            </a:extLst>
          </p:cNvPr>
          <p:cNvSpPr>
            <a:spLocks noChangeShapeType="1"/>
          </p:cNvSpPr>
          <p:nvPr/>
        </p:nvSpPr>
        <p:spPr bwMode="auto">
          <a:xfrm>
            <a:off x="1233488" y="4468813"/>
            <a:ext cx="152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12" name="Line 12">
            <a:extLst>
              <a:ext uri="{FF2B5EF4-FFF2-40B4-BE49-F238E27FC236}">
                <a16:creationId xmlns:a16="http://schemas.microsoft.com/office/drawing/2014/main" id="{1DE19860-1A33-11D9-DDD6-00B0B9AED708}"/>
              </a:ext>
            </a:extLst>
          </p:cNvPr>
          <p:cNvSpPr>
            <a:spLocks noChangeShapeType="1"/>
          </p:cNvSpPr>
          <p:nvPr/>
        </p:nvSpPr>
        <p:spPr bwMode="auto">
          <a:xfrm flipH="1">
            <a:off x="3430588" y="5307013"/>
            <a:ext cx="12700"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13" name="Text Box 13">
            <a:extLst>
              <a:ext uri="{FF2B5EF4-FFF2-40B4-BE49-F238E27FC236}">
                <a16:creationId xmlns:a16="http://schemas.microsoft.com/office/drawing/2014/main" id="{B95860CB-CE19-4B04-9867-3F76215E172C}"/>
              </a:ext>
            </a:extLst>
          </p:cNvPr>
          <p:cNvSpPr txBox="1">
            <a:spLocks noChangeArrowheads="1"/>
          </p:cNvSpPr>
          <p:nvPr/>
        </p:nvSpPr>
        <p:spPr bwMode="auto">
          <a:xfrm>
            <a:off x="1112838" y="5383213"/>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0</a:t>
            </a:r>
          </a:p>
        </p:txBody>
      </p:sp>
      <p:sp>
        <p:nvSpPr>
          <p:cNvPr id="665614" name="Text Box 14">
            <a:extLst>
              <a:ext uri="{FF2B5EF4-FFF2-40B4-BE49-F238E27FC236}">
                <a16:creationId xmlns:a16="http://schemas.microsoft.com/office/drawing/2014/main" id="{66F004EE-A877-1FEE-CB41-5DC42D064697}"/>
              </a:ext>
            </a:extLst>
          </p:cNvPr>
          <p:cNvSpPr txBox="1">
            <a:spLocks noChangeArrowheads="1"/>
          </p:cNvSpPr>
          <p:nvPr/>
        </p:nvSpPr>
        <p:spPr bwMode="auto">
          <a:xfrm>
            <a:off x="3236913" y="5383213"/>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2</a:t>
            </a:r>
          </a:p>
        </p:txBody>
      </p:sp>
      <p:sp>
        <p:nvSpPr>
          <p:cNvPr id="665615" name="Text Box 15">
            <a:extLst>
              <a:ext uri="{FF2B5EF4-FFF2-40B4-BE49-F238E27FC236}">
                <a16:creationId xmlns:a16="http://schemas.microsoft.com/office/drawing/2014/main" id="{477B8CD2-2B38-E738-7C00-33F4D1535C28}"/>
              </a:ext>
            </a:extLst>
          </p:cNvPr>
          <p:cNvSpPr txBox="1">
            <a:spLocks noChangeArrowheads="1"/>
          </p:cNvSpPr>
          <p:nvPr/>
        </p:nvSpPr>
        <p:spPr bwMode="auto">
          <a:xfrm>
            <a:off x="5424488" y="5230813"/>
            <a:ext cx="1395412"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D(</a:t>
            </a:r>
            <a:r>
              <a:rPr lang="en-US" altLang="zh-CN" sz="2400" b="1" i="1"/>
              <a:t>u,v</a:t>
            </a:r>
            <a:r>
              <a:rPr lang="en-US" altLang="zh-CN" sz="2400" b="1"/>
              <a:t>)/D</a:t>
            </a:r>
            <a:r>
              <a:rPr lang="en-US" altLang="zh-CN" sz="2400" b="1" baseline="-25000"/>
              <a:t>0</a:t>
            </a:r>
            <a:endParaRPr lang="en-US" altLang="zh-CN" sz="2400" b="1"/>
          </a:p>
        </p:txBody>
      </p:sp>
      <p:sp>
        <p:nvSpPr>
          <p:cNvPr id="665616" name="Text Box 16">
            <a:extLst>
              <a:ext uri="{FF2B5EF4-FFF2-40B4-BE49-F238E27FC236}">
                <a16:creationId xmlns:a16="http://schemas.microsoft.com/office/drawing/2014/main" id="{C7EB1617-ED47-2FBC-024E-4017AC0C2644}"/>
              </a:ext>
            </a:extLst>
          </p:cNvPr>
          <p:cNvSpPr txBox="1">
            <a:spLocks noChangeArrowheads="1"/>
          </p:cNvSpPr>
          <p:nvPr/>
        </p:nvSpPr>
        <p:spPr bwMode="auto">
          <a:xfrm>
            <a:off x="1373188" y="2182813"/>
            <a:ext cx="1004887"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H(</a:t>
            </a:r>
            <a:r>
              <a:rPr lang="en-US" altLang="zh-CN" sz="2400" b="1" i="1"/>
              <a:t>u,v</a:t>
            </a:r>
            <a:r>
              <a:rPr lang="en-US" altLang="zh-CN" sz="2400" b="1"/>
              <a:t>)</a:t>
            </a:r>
          </a:p>
        </p:txBody>
      </p:sp>
      <p:sp>
        <p:nvSpPr>
          <p:cNvPr id="665617" name="Text Box 17">
            <a:extLst>
              <a:ext uri="{FF2B5EF4-FFF2-40B4-BE49-F238E27FC236}">
                <a16:creationId xmlns:a16="http://schemas.microsoft.com/office/drawing/2014/main" id="{22056BAC-883E-041D-A412-418C415FDB00}"/>
              </a:ext>
            </a:extLst>
          </p:cNvPr>
          <p:cNvSpPr txBox="1">
            <a:spLocks noChangeArrowheads="1"/>
          </p:cNvSpPr>
          <p:nvPr/>
        </p:nvSpPr>
        <p:spPr bwMode="auto">
          <a:xfrm>
            <a:off x="1004888" y="3325813"/>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1</a:t>
            </a:r>
          </a:p>
        </p:txBody>
      </p:sp>
      <p:sp>
        <p:nvSpPr>
          <p:cNvPr id="665618" name="Text Box 18">
            <a:extLst>
              <a:ext uri="{FF2B5EF4-FFF2-40B4-BE49-F238E27FC236}">
                <a16:creationId xmlns:a16="http://schemas.microsoft.com/office/drawing/2014/main" id="{DC760E17-1618-A2F9-A420-85512F1E2439}"/>
              </a:ext>
            </a:extLst>
          </p:cNvPr>
          <p:cNvSpPr txBox="1">
            <a:spLocks noChangeArrowheads="1"/>
          </p:cNvSpPr>
          <p:nvPr/>
        </p:nvSpPr>
        <p:spPr bwMode="auto">
          <a:xfrm>
            <a:off x="2840038" y="2565400"/>
            <a:ext cx="5551487"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spcBef>
                <a:spcPct val="50000"/>
              </a:spcBef>
            </a:pPr>
            <a:r>
              <a:rPr lang="en-US" altLang="zh-CN" sz="2400" b="1">
                <a:solidFill>
                  <a:srgbClr val="FFCCFF"/>
                </a:solidFill>
                <a:latin typeface="方正大黑简体" pitchFamily="65" charset="-122"/>
                <a:ea typeface="方正大黑简体" pitchFamily="65" charset="-122"/>
              </a:rPr>
              <a:t>H(u,v)</a:t>
            </a:r>
            <a:r>
              <a:rPr lang="zh-CN" altLang="en-US" sz="2400" b="1">
                <a:solidFill>
                  <a:srgbClr val="FFCCFF"/>
                </a:solidFill>
                <a:latin typeface="方正大黑简体" pitchFamily="65" charset="-122"/>
                <a:ea typeface="方正大黑简体" pitchFamily="65" charset="-122"/>
              </a:rPr>
              <a:t>作为</a:t>
            </a:r>
            <a:r>
              <a:rPr lang="en-US" altLang="zh-CN" sz="2400" b="1">
                <a:solidFill>
                  <a:srgbClr val="FFCCFF"/>
                </a:solidFill>
                <a:latin typeface="方正大黑简体" pitchFamily="65" charset="-122"/>
                <a:ea typeface="方正大黑简体" pitchFamily="65" charset="-122"/>
              </a:rPr>
              <a:t>D(u,v)/D</a:t>
            </a:r>
            <a:r>
              <a:rPr lang="en-US" altLang="zh-CN" sz="2400" b="1" baseline="-25000">
                <a:solidFill>
                  <a:srgbClr val="FFCCFF"/>
                </a:solidFill>
                <a:latin typeface="方正大黑简体" pitchFamily="65" charset="-122"/>
                <a:ea typeface="方正大黑简体" pitchFamily="65" charset="-122"/>
              </a:rPr>
              <a:t>0</a:t>
            </a:r>
            <a:r>
              <a:rPr lang="zh-CN" altLang="en-US" sz="2400" b="1">
                <a:solidFill>
                  <a:srgbClr val="FFCCFF"/>
                </a:solidFill>
                <a:latin typeface="方正大黑简体" pitchFamily="65" charset="-122"/>
                <a:ea typeface="方正大黑简体" pitchFamily="65" charset="-122"/>
              </a:rPr>
              <a:t>的函数的截面图</a:t>
            </a:r>
          </a:p>
        </p:txBody>
      </p:sp>
      <p:sp>
        <p:nvSpPr>
          <p:cNvPr id="665619" name="Text Box 19">
            <a:extLst>
              <a:ext uri="{FF2B5EF4-FFF2-40B4-BE49-F238E27FC236}">
                <a16:creationId xmlns:a16="http://schemas.microsoft.com/office/drawing/2014/main" id="{0B159AFB-357F-B0BE-9C4B-7DDF5316F4F0}"/>
              </a:ext>
            </a:extLst>
          </p:cNvPr>
          <p:cNvSpPr txBox="1">
            <a:spLocks noChangeArrowheads="1"/>
          </p:cNvSpPr>
          <p:nvPr/>
        </p:nvSpPr>
        <p:spPr bwMode="auto">
          <a:xfrm>
            <a:off x="2224088" y="5383213"/>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1</a:t>
            </a:r>
          </a:p>
        </p:txBody>
      </p:sp>
      <p:sp>
        <p:nvSpPr>
          <p:cNvPr id="665620" name="Text Box 20">
            <a:extLst>
              <a:ext uri="{FF2B5EF4-FFF2-40B4-BE49-F238E27FC236}">
                <a16:creationId xmlns:a16="http://schemas.microsoft.com/office/drawing/2014/main" id="{DDF7176A-C1E2-3049-6CE6-53D037E1807C}"/>
              </a:ext>
            </a:extLst>
          </p:cNvPr>
          <p:cNvSpPr txBox="1">
            <a:spLocks noChangeArrowheads="1"/>
          </p:cNvSpPr>
          <p:nvPr/>
        </p:nvSpPr>
        <p:spPr bwMode="auto">
          <a:xfrm>
            <a:off x="4281488" y="5383213"/>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3</a:t>
            </a:r>
          </a:p>
        </p:txBody>
      </p:sp>
      <p:sp>
        <p:nvSpPr>
          <p:cNvPr id="665621" name="Text Box 21">
            <a:extLst>
              <a:ext uri="{FF2B5EF4-FFF2-40B4-BE49-F238E27FC236}">
                <a16:creationId xmlns:a16="http://schemas.microsoft.com/office/drawing/2014/main" id="{F47C8685-B64D-CB56-5A4C-366DAD42A588}"/>
              </a:ext>
            </a:extLst>
          </p:cNvPr>
          <p:cNvSpPr txBox="1">
            <a:spLocks noChangeArrowheads="1"/>
          </p:cNvSpPr>
          <p:nvPr/>
        </p:nvSpPr>
        <p:spPr bwMode="auto">
          <a:xfrm>
            <a:off x="738188" y="4240213"/>
            <a:ext cx="5651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0.5</a:t>
            </a:r>
          </a:p>
        </p:txBody>
      </p:sp>
      <p:sp>
        <p:nvSpPr>
          <p:cNvPr id="665622" name="Line 22">
            <a:extLst>
              <a:ext uri="{FF2B5EF4-FFF2-40B4-BE49-F238E27FC236}">
                <a16:creationId xmlns:a16="http://schemas.microsoft.com/office/drawing/2014/main" id="{A1CCEF12-20DF-E394-A570-A5CD82F8B130}"/>
              </a:ext>
            </a:extLst>
          </p:cNvPr>
          <p:cNvSpPr>
            <a:spLocks noChangeShapeType="1"/>
          </p:cNvSpPr>
          <p:nvPr/>
        </p:nvSpPr>
        <p:spPr bwMode="auto">
          <a:xfrm flipH="1" flipV="1">
            <a:off x="4433888" y="5307013"/>
            <a:ext cx="0"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23" name="Line 23">
            <a:extLst>
              <a:ext uri="{FF2B5EF4-FFF2-40B4-BE49-F238E27FC236}">
                <a16:creationId xmlns:a16="http://schemas.microsoft.com/office/drawing/2014/main" id="{8C9E2C46-7A56-7445-1AD8-BF21E9528924}"/>
              </a:ext>
            </a:extLst>
          </p:cNvPr>
          <p:cNvSpPr>
            <a:spLocks noChangeShapeType="1"/>
          </p:cNvSpPr>
          <p:nvPr/>
        </p:nvSpPr>
        <p:spPr bwMode="auto">
          <a:xfrm flipH="1">
            <a:off x="2376488" y="5307013"/>
            <a:ext cx="0" cy="152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24" name="Freeform 24">
            <a:extLst>
              <a:ext uri="{FF2B5EF4-FFF2-40B4-BE49-F238E27FC236}">
                <a16:creationId xmlns:a16="http://schemas.microsoft.com/office/drawing/2014/main" id="{2C310119-EA17-006B-7D06-D6853FC48944}"/>
              </a:ext>
            </a:extLst>
          </p:cNvPr>
          <p:cNvSpPr>
            <a:spLocks/>
          </p:cNvSpPr>
          <p:nvPr/>
        </p:nvSpPr>
        <p:spPr bwMode="auto">
          <a:xfrm>
            <a:off x="1309688" y="3554413"/>
            <a:ext cx="3124200" cy="1676400"/>
          </a:xfrm>
          <a:custGeom>
            <a:avLst/>
            <a:gdLst>
              <a:gd name="T0" fmla="*/ 0 w 1968"/>
              <a:gd name="T1" fmla="*/ 0 h 1056"/>
              <a:gd name="T2" fmla="*/ 144 w 1968"/>
              <a:gd name="T3" fmla="*/ 96 h 1056"/>
              <a:gd name="T4" fmla="*/ 480 w 1968"/>
              <a:gd name="T5" fmla="*/ 528 h 1056"/>
              <a:gd name="T6" fmla="*/ 1056 w 1968"/>
              <a:gd name="T7" fmla="*/ 912 h 1056"/>
              <a:gd name="T8" fmla="*/ 1968 w 1968"/>
              <a:gd name="T9" fmla="*/ 1056 h 1056"/>
            </a:gdLst>
            <a:ahLst/>
            <a:cxnLst>
              <a:cxn ang="0">
                <a:pos x="T0" y="T1"/>
              </a:cxn>
              <a:cxn ang="0">
                <a:pos x="T2" y="T3"/>
              </a:cxn>
              <a:cxn ang="0">
                <a:pos x="T4" y="T5"/>
              </a:cxn>
              <a:cxn ang="0">
                <a:pos x="T6" y="T7"/>
              </a:cxn>
              <a:cxn ang="0">
                <a:pos x="T8" y="T9"/>
              </a:cxn>
            </a:cxnLst>
            <a:rect l="0" t="0" r="r" b="b"/>
            <a:pathLst>
              <a:path w="1968" h="1056">
                <a:moveTo>
                  <a:pt x="0" y="0"/>
                </a:moveTo>
                <a:cubicBezTo>
                  <a:pt x="32" y="4"/>
                  <a:pt x="64" y="8"/>
                  <a:pt x="144" y="96"/>
                </a:cubicBezTo>
                <a:cubicBezTo>
                  <a:pt x="224" y="184"/>
                  <a:pt x="328" y="392"/>
                  <a:pt x="480" y="528"/>
                </a:cubicBezTo>
                <a:cubicBezTo>
                  <a:pt x="632" y="664"/>
                  <a:pt x="808" y="824"/>
                  <a:pt x="1056" y="912"/>
                </a:cubicBezTo>
                <a:cubicBezTo>
                  <a:pt x="1304" y="1000"/>
                  <a:pt x="1816" y="1032"/>
                  <a:pt x="1968" y="1056"/>
                </a:cubicBez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rgbClr val="FF33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25" name="Line 25">
            <a:extLst>
              <a:ext uri="{FF2B5EF4-FFF2-40B4-BE49-F238E27FC236}">
                <a16:creationId xmlns:a16="http://schemas.microsoft.com/office/drawing/2014/main" id="{CD2F53DE-8391-CD00-487E-9B77F91A327E}"/>
              </a:ext>
            </a:extLst>
          </p:cNvPr>
          <p:cNvSpPr>
            <a:spLocks noChangeShapeType="1"/>
          </p:cNvSpPr>
          <p:nvPr/>
        </p:nvSpPr>
        <p:spPr bwMode="auto">
          <a:xfrm>
            <a:off x="1309688" y="4468813"/>
            <a:ext cx="8382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26" name="Line 26">
            <a:extLst>
              <a:ext uri="{FF2B5EF4-FFF2-40B4-BE49-F238E27FC236}">
                <a16:creationId xmlns:a16="http://schemas.microsoft.com/office/drawing/2014/main" id="{3B6CA0C8-5DB2-34AC-FE3B-C92499AFAB60}"/>
              </a:ext>
            </a:extLst>
          </p:cNvPr>
          <p:cNvSpPr>
            <a:spLocks noChangeShapeType="1"/>
          </p:cNvSpPr>
          <p:nvPr/>
        </p:nvSpPr>
        <p:spPr bwMode="auto">
          <a:xfrm>
            <a:off x="2147888" y="4468813"/>
            <a:ext cx="0" cy="9906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5627" name="Rectangle 27">
            <a:extLst>
              <a:ext uri="{FF2B5EF4-FFF2-40B4-BE49-F238E27FC236}">
                <a16:creationId xmlns:a16="http://schemas.microsoft.com/office/drawing/2014/main" id="{1583735D-2623-0928-3BFF-2E6D80110308}"/>
              </a:ext>
            </a:extLst>
          </p:cNvPr>
          <p:cNvSpPr>
            <a:spLocks noChangeArrowheads="1"/>
          </p:cNvSpPr>
          <p:nvPr/>
        </p:nvSpPr>
        <p:spPr bwMode="auto">
          <a:xfrm>
            <a:off x="0" y="5876925"/>
            <a:ext cx="96805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chemeClr val="tx2"/>
                </a:solidFill>
              </a:rPr>
              <a:t>低通巴特沃斯滤波器在高低频率间的过渡比较光滑，所以用巴特沃斯滤波器得到的输出图象振铃效应不明显。</a:t>
            </a:r>
          </a:p>
        </p:txBody>
      </p:sp>
    </p:spTree>
  </p:cSld>
  <p:clrMapOvr>
    <a:masterClrMapping/>
  </p:clrMapOvr>
  <p:transition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a:extLst>
              <a:ext uri="{FF2B5EF4-FFF2-40B4-BE49-F238E27FC236}">
                <a16:creationId xmlns:a16="http://schemas.microsoft.com/office/drawing/2014/main" id="{4F45860F-68AC-E86F-A6F6-288877DF710B}"/>
              </a:ext>
            </a:extLst>
          </p:cNvPr>
          <p:cNvSpPr>
            <a:spLocks noChangeArrowheads="1"/>
          </p:cNvSpPr>
          <p:nvPr/>
        </p:nvSpPr>
        <p:spPr bwMode="auto">
          <a:xfrm>
            <a:off x="247650" y="333375"/>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二、巴特沃斯低通滤波器</a:t>
            </a:r>
          </a:p>
        </p:txBody>
      </p:sp>
      <p:sp>
        <p:nvSpPr>
          <p:cNvPr id="667671" name="Rectangle 23">
            <a:extLst>
              <a:ext uri="{FF2B5EF4-FFF2-40B4-BE49-F238E27FC236}">
                <a16:creationId xmlns:a16="http://schemas.microsoft.com/office/drawing/2014/main" id="{ED65559A-30EE-3953-73D5-5F250EDE2D6E}"/>
              </a:ext>
            </a:extLst>
          </p:cNvPr>
          <p:cNvSpPr>
            <a:spLocks noGrp="1" noChangeArrowheads="1"/>
          </p:cNvSpPr>
          <p:nvPr>
            <p:ph type="body" sz="half" idx="1"/>
          </p:nvPr>
        </p:nvSpPr>
        <p:spPr>
          <a:xfrm>
            <a:off x="174625" y="981075"/>
            <a:ext cx="8980488" cy="4114800"/>
          </a:xfrm>
          <a:noFill/>
          <a:ln/>
        </p:spPr>
        <p:txBody>
          <a:bodyPr/>
          <a:lstStyle/>
          <a:p>
            <a:r>
              <a:rPr lang="en-US" altLang="zh-CN" sz="2400" b="1">
                <a:solidFill>
                  <a:srgbClr val="34F7F2"/>
                </a:solidFill>
              </a:rPr>
              <a:t>Butterworth</a:t>
            </a:r>
            <a:r>
              <a:rPr lang="zh-CN" altLang="en-US" sz="2400" b="1">
                <a:solidFill>
                  <a:srgbClr val="34F7F2"/>
                </a:solidFill>
              </a:rPr>
              <a:t>滤波器截止频率的设计</a:t>
            </a:r>
          </a:p>
          <a:p>
            <a:pPr lvl="1"/>
            <a:r>
              <a:rPr lang="zh-CN" altLang="en-US" sz="2000" b="1">
                <a:solidFill>
                  <a:srgbClr val="FF9900"/>
                </a:solidFill>
              </a:rPr>
              <a:t>变换函数中不存在一个不连续点作为一个通过的和被滤波掉的截止频率的明显划分</a:t>
            </a:r>
          </a:p>
          <a:p>
            <a:pPr lvl="1"/>
            <a:r>
              <a:rPr lang="zh-CN" altLang="en-US" sz="2000" b="1">
                <a:solidFill>
                  <a:srgbClr val="B3E5BB"/>
                </a:solidFill>
              </a:rPr>
              <a:t>通常把</a:t>
            </a:r>
            <a:r>
              <a:rPr lang="en-US" altLang="zh-CN" sz="2000" b="1">
                <a:solidFill>
                  <a:srgbClr val="B3E5BB"/>
                </a:solidFill>
              </a:rPr>
              <a:t>H(u,v)</a:t>
            </a:r>
            <a:r>
              <a:rPr lang="zh-CN" altLang="en-US" sz="2000" b="1">
                <a:solidFill>
                  <a:srgbClr val="B3E5BB"/>
                </a:solidFill>
              </a:rPr>
              <a:t>开始小于其最大值的一定比例的点当作其截止频率点</a:t>
            </a:r>
          </a:p>
          <a:p>
            <a:pPr lvl="1"/>
            <a:r>
              <a:rPr lang="zh-CN" altLang="en-US" sz="2000" b="1"/>
              <a:t>有两种选择：</a:t>
            </a:r>
          </a:p>
          <a:p>
            <a:pPr lvl="1">
              <a:buFontTx/>
              <a:buNone/>
            </a:pPr>
            <a:r>
              <a:rPr lang="zh-CN" altLang="en-US" sz="2000" b="1">
                <a:solidFill>
                  <a:srgbClr val="CCCCFF"/>
                </a:solidFill>
              </a:rPr>
              <a:t>选择</a:t>
            </a:r>
            <a:r>
              <a:rPr lang="en-US" altLang="zh-CN" sz="2000" b="1">
                <a:solidFill>
                  <a:srgbClr val="CCCCFF"/>
                </a:solidFill>
              </a:rPr>
              <a:t>1</a:t>
            </a:r>
            <a:r>
              <a:rPr lang="zh-CN" altLang="en-US" sz="2000" b="1">
                <a:solidFill>
                  <a:srgbClr val="CCCCFF"/>
                </a:solidFill>
              </a:rPr>
              <a:t>：</a:t>
            </a:r>
            <a:r>
              <a:rPr lang="en-US" altLang="zh-CN" sz="2000" b="1">
                <a:solidFill>
                  <a:srgbClr val="CCCCFF"/>
                </a:solidFill>
              </a:rPr>
              <a:t>H(u,v) = 0.5    </a:t>
            </a:r>
            <a:r>
              <a:rPr lang="zh-CN" altLang="en-US" sz="2000" b="1">
                <a:solidFill>
                  <a:srgbClr val="CCCCFF"/>
                </a:solidFill>
              </a:rPr>
              <a:t>当 </a:t>
            </a:r>
            <a:r>
              <a:rPr lang="en-US" altLang="zh-CN" sz="2000" b="1">
                <a:solidFill>
                  <a:srgbClr val="CCCCFF"/>
                </a:solidFill>
              </a:rPr>
              <a:t>D</a:t>
            </a:r>
            <a:r>
              <a:rPr lang="en-US" altLang="zh-CN" sz="2000" b="1" baseline="-25000">
                <a:solidFill>
                  <a:srgbClr val="CCCCFF"/>
                </a:solidFill>
              </a:rPr>
              <a:t>0</a:t>
            </a:r>
            <a:r>
              <a:rPr lang="en-US" altLang="zh-CN" sz="2000" b="1">
                <a:solidFill>
                  <a:srgbClr val="CCCCFF"/>
                </a:solidFill>
              </a:rPr>
              <a:t> =  D(u,v)</a:t>
            </a:r>
            <a:r>
              <a:rPr lang="zh-CN" altLang="en-US" sz="2000" b="1">
                <a:solidFill>
                  <a:srgbClr val="CCCCFF"/>
                </a:solidFill>
              </a:rPr>
              <a:t>时</a:t>
            </a:r>
          </a:p>
          <a:p>
            <a:pPr lvl="1">
              <a:buFontTx/>
              <a:buNone/>
            </a:pPr>
            <a:endParaRPr lang="zh-CN" altLang="en-US" sz="2000" b="1">
              <a:solidFill>
                <a:srgbClr val="CCCCFF"/>
              </a:solidFill>
            </a:endParaRPr>
          </a:p>
          <a:p>
            <a:pPr lvl="1">
              <a:buFontTx/>
              <a:buNone/>
            </a:pPr>
            <a:endParaRPr lang="zh-CN" altLang="en-US" sz="2000" b="1"/>
          </a:p>
          <a:p>
            <a:pPr lvl="1">
              <a:buFontTx/>
              <a:buNone/>
            </a:pPr>
            <a:endParaRPr lang="zh-CN" altLang="en-US" sz="2000" b="1"/>
          </a:p>
          <a:p>
            <a:pPr lvl="1">
              <a:buFontTx/>
              <a:buNone/>
            </a:pPr>
            <a:r>
              <a:rPr lang="zh-CN" altLang="en-US" sz="2000" b="1">
                <a:solidFill>
                  <a:srgbClr val="CCCCFF"/>
                </a:solidFill>
              </a:rPr>
              <a:t>选择</a:t>
            </a:r>
            <a:r>
              <a:rPr lang="en-US" altLang="zh-CN" sz="2000" b="1">
                <a:solidFill>
                  <a:srgbClr val="CCCCFF"/>
                </a:solidFill>
              </a:rPr>
              <a:t>2</a:t>
            </a:r>
            <a:r>
              <a:rPr lang="zh-CN" altLang="en-US" sz="2000" b="1">
                <a:solidFill>
                  <a:srgbClr val="CCCCFF"/>
                </a:solidFill>
              </a:rPr>
              <a:t>：</a:t>
            </a:r>
            <a:r>
              <a:rPr lang="en-US" altLang="zh-CN" sz="2000" b="1">
                <a:solidFill>
                  <a:srgbClr val="CCCCFF"/>
                </a:solidFill>
              </a:rPr>
              <a:t>H(u,v) =         </a:t>
            </a:r>
            <a:r>
              <a:rPr lang="zh-CN" altLang="en-US" sz="2000" b="1">
                <a:solidFill>
                  <a:srgbClr val="CCCCFF"/>
                </a:solidFill>
              </a:rPr>
              <a:t>当 </a:t>
            </a:r>
            <a:r>
              <a:rPr lang="en-US" altLang="zh-CN" sz="2000" b="1">
                <a:solidFill>
                  <a:srgbClr val="CCCCFF"/>
                </a:solidFill>
              </a:rPr>
              <a:t>D</a:t>
            </a:r>
            <a:r>
              <a:rPr lang="en-US" altLang="zh-CN" sz="2000" b="1" baseline="-25000">
                <a:solidFill>
                  <a:srgbClr val="CCCCFF"/>
                </a:solidFill>
              </a:rPr>
              <a:t>0</a:t>
            </a:r>
            <a:r>
              <a:rPr lang="en-US" altLang="zh-CN" sz="2000" b="1">
                <a:solidFill>
                  <a:srgbClr val="CCCCFF"/>
                </a:solidFill>
              </a:rPr>
              <a:t> =  D(u,v)</a:t>
            </a:r>
            <a:r>
              <a:rPr lang="zh-CN" altLang="en-US" sz="2000" b="1">
                <a:solidFill>
                  <a:srgbClr val="CCCCFF"/>
                </a:solidFill>
              </a:rPr>
              <a:t>时</a:t>
            </a:r>
          </a:p>
          <a:p>
            <a:pPr lvl="1">
              <a:buFontTx/>
              <a:buNone/>
            </a:pPr>
            <a:endParaRPr lang="en-US" altLang="zh-CN" sz="2000" b="1">
              <a:solidFill>
                <a:srgbClr val="CCCCFF"/>
              </a:solidFill>
            </a:endParaRPr>
          </a:p>
        </p:txBody>
      </p:sp>
      <p:graphicFrame>
        <p:nvGraphicFramePr>
          <p:cNvPr id="667675" name="Object 27">
            <a:extLst>
              <a:ext uri="{FF2B5EF4-FFF2-40B4-BE49-F238E27FC236}">
                <a16:creationId xmlns:a16="http://schemas.microsoft.com/office/drawing/2014/main" id="{37A89479-FF47-4339-3FF6-525650862420}"/>
              </a:ext>
            </a:extLst>
          </p:cNvPr>
          <p:cNvGraphicFramePr>
            <a:graphicFrameLocks noChangeAspect="1"/>
          </p:cNvGraphicFramePr>
          <p:nvPr>
            <p:ph sz="quarter" idx="2"/>
          </p:nvPr>
        </p:nvGraphicFramePr>
        <p:xfrm>
          <a:off x="1471613" y="3284538"/>
          <a:ext cx="3544887" cy="889000"/>
        </p:xfrm>
        <a:graphic>
          <a:graphicData uri="http://schemas.openxmlformats.org/presentationml/2006/ole">
            <mc:AlternateContent xmlns:mc="http://schemas.openxmlformats.org/markup-compatibility/2006">
              <mc:Choice xmlns:v="urn:schemas-microsoft-com:vml" Requires="v">
                <p:oleObj name="公式" r:id="rId3" imgW="1701800" imgH="431800" progId="Equation.3">
                  <p:embed/>
                </p:oleObj>
              </mc:Choice>
              <mc:Fallback>
                <p:oleObj name="公式" r:id="rId3" imgW="1701800" imgH="431800"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1613" y="3284538"/>
                        <a:ext cx="3544887" cy="88900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78" name="Object 30">
            <a:extLst>
              <a:ext uri="{FF2B5EF4-FFF2-40B4-BE49-F238E27FC236}">
                <a16:creationId xmlns:a16="http://schemas.microsoft.com/office/drawing/2014/main" id="{EC44A8D1-9D31-8EC2-145E-23B5D0CFB6FB}"/>
              </a:ext>
            </a:extLst>
          </p:cNvPr>
          <p:cNvGraphicFramePr>
            <a:graphicFrameLocks noChangeAspect="1"/>
          </p:cNvGraphicFramePr>
          <p:nvPr>
            <p:ph sz="quarter" idx="3"/>
          </p:nvPr>
        </p:nvGraphicFramePr>
        <p:xfrm>
          <a:off x="966788" y="4724400"/>
          <a:ext cx="7751762" cy="889000"/>
        </p:xfrm>
        <a:graphic>
          <a:graphicData uri="http://schemas.openxmlformats.org/presentationml/2006/ole">
            <mc:AlternateContent xmlns:mc="http://schemas.openxmlformats.org/markup-compatibility/2006">
              <mc:Choice xmlns:v="urn:schemas-microsoft-com:vml" Requires="v">
                <p:oleObj name="公式" r:id="rId5" imgW="3721100" imgH="431800" progId="Equation.3">
                  <p:embed/>
                </p:oleObj>
              </mc:Choice>
              <mc:Fallback>
                <p:oleObj name="公式" r:id="rId5" imgW="3721100" imgH="431800" progId="Equation.3">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6788" y="4724400"/>
                        <a:ext cx="7751762" cy="88900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81" name="Object 33">
            <a:extLst>
              <a:ext uri="{FF2B5EF4-FFF2-40B4-BE49-F238E27FC236}">
                <a16:creationId xmlns:a16="http://schemas.microsoft.com/office/drawing/2014/main" id="{BD4E79F9-1B7D-F083-3C0B-CC0D48773EC1}"/>
              </a:ext>
            </a:extLst>
          </p:cNvPr>
          <p:cNvGraphicFramePr>
            <a:graphicFrameLocks noChangeAspect="1"/>
          </p:cNvGraphicFramePr>
          <p:nvPr/>
        </p:nvGraphicFramePr>
        <p:xfrm>
          <a:off x="2593975" y="4352925"/>
          <a:ext cx="406400" cy="228600"/>
        </p:xfrm>
        <a:graphic>
          <a:graphicData uri="http://schemas.openxmlformats.org/presentationml/2006/ole">
            <mc:AlternateContent xmlns:mc="http://schemas.openxmlformats.org/markup-compatibility/2006">
              <mc:Choice xmlns:v="urn:schemas-microsoft-com:vml" Requires="v">
                <p:oleObj name="Equation" r:id="rId7" imgW="13462000" imgH="7607300" progId="Equation.DSMT4">
                  <p:embed/>
                </p:oleObj>
              </mc:Choice>
              <mc:Fallback>
                <p:oleObj name="Equation" r:id="rId7" imgW="13462000" imgH="7607300" progId="Equation.DSMT4">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3975" y="4352925"/>
                        <a:ext cx="406400" cy="2286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Tm="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a:extLst>
              <a:ext uri="{FF2B5EF4-FFF2-40B4-BE49-F238E27FC236}">
                <a16:creationId xmlns:a16="http://schemas.microsoft.com/office/drawing/2014/main" id="{47C0E960-CF0C-0B05-D34F-B0411D0DD62B}"/>
              </a:ext>
            </a:extLst>
          </p:cNvPr>
          <p:cNvSpPr>
            <a:spLocks noChangeArrowheads="1"/>
          </p:cNvSpPr>
          <p:nvPr/>
        </p:nvSpPr>
        <p:spPr bwMode="auto">
          <a:xfrm>
            <a:off x="247650" y="333375"/>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二、巴特沃斯低通滤波器</a:t>
            </a:r>
          </a:p>
        </p:txBody>
      </p:sp>
      <p:sp>
        <p:nvSpPr>
          <p:cNvPr id="672778" name="Rectangle 10">
            <a:extLst>
              <a:ext uri="{FF2B5EF4-FFF2-40B4-BE49-F238E27FC236}">
                <a16:creationId xmlns:a16="http://schemas.microsoft.com/office/drawing/2014/main" id="{3456C22D-BE2D-F7E0-6F6F-5477B0B1E7D9}"/>
              </a:ext>
            </a:extLst>
          </p:cNvPr>
          <p:cNvSpPr>
            <a:spLocks noGrp="1" noChangeArrowheads="1"/>
          </p:cNvSpPr>
          <p:nvPr>
            <p:ph type="body" sz="half" idx="1"/>
          </p:nvPr>
        </p:nvSpPr>
        <p:spPr>
          <a:xfrm>
            <a:off x="390525" y="1125538"/>
            <a:ext cx="8693150" cy="2663825"/>
          </a:xfrm>
          <a:noFill/>
          <a:ln/>
        </p:spPr>
        <p:txBody>
          <a:bodyPr/>
          <a:lstStyle/>
          <a:p>
            <a:pPr>
              <a:buFont typeface="Monotype Sorts" pitchFamily="2" charset="2"/>
              <a:buNone/>
            </a:pPr>
            <a:r>
              <a:rPr lang="en-US" altLang="zh-CN" sz="2800" b="1">
                <a:solidFill>
                  <a:srgbClr val="34F7F2"/>
                </a:solidFill>
              </a:rPr>
              <a:t>Butterworth</a:t>
            </a:r>
            <a:r>
              <a:rPr lang="zh-CN" altLang="en-US" sz="2800" b="1">
                <a:solidFill>
                  <a:srgbClr val="34F7F2"/>
                </a:solidFill>
              </a:rPr>
              <a:t>低通滤波器的分析</a:t>
            </a:r>
          </a:p>
          <a:p>
            <a:pPr lvl="1"/>
            <a:r>
              <a:rPr lang="zh-CN" altLang="en-US" sz="2400" b="1">
                <a:solidFill>
                  <a:srgbClr val="FF9900"/>
                </a:solidFill>
              </a:rPr>
              <a:t>在任何经</a:t>
            </a:r>
            <a:r>
              <a:rPr lang="en-US" altLang="zh-CN" sz="2400" b="1">
                <a:solidFill>
                  <a:srgbClr val="FF9900"/>
                </a:solidFill>
              </a:rPr>
              <a:t>BLPF</a:t>
            </a:r>
            <a:r>
              <a:rPr lang="zh-CN" altLang="en-US" sz="2400" b="1">
                <a:solidFill>
                  <a:srgbClr val="FF9900"/>
                </a:solidFill>
              </a:rPr>
              <a:t>处理过的图像中都没有明显的振铃效果，这是滤波器在低频和高频之间的平滑过渡的结果</a:t>
            </a:r>
          </a:p>
          <a:p>
            <a:pPr lvl="1"/>
            <a:r>
              <a:rPr lang="zh-CN" altLang="en-US" sz="2400" b="1">
                <a:solidFill>
                  <a:srgbClr val="CCCCFF"/>
                </a:solidFill>
              </a:rPr>
              <a:t>低通滤波是一个以牺牲图像清晰度为代价来减少干扰效果的修饰过程</a:t>
            </a:r>
          </a:p>
        </p:txBody>
      </p:sp>
    </p:spTree>
  </p:cSld>
  <p:clrMapOvr>
    <a:masterClrMapping/>
  </p:clrMapOvr>
  <p:transition advTm="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93" name="Rectangle 9">
            <a:extLst>
              <a:ext uri="{FF2B5EF4-FFF2-40B4-BE49-F238E27FC236}">
                <a16:creationId xmlns:a16="http://schemas.microsoft.com/office/drawing/2014/main" id="{03A3B3FF-4C89-4BD3-F1EB-CDD951AE8492}"/>
              </a:ext>
            </a:extLst>
          </p:cNvPr>
          <p:cNvSpPr>
            <a:spLocks noChangeArrowheads="1"/>
          </p:cNvSpPr>
          <p:nvPr/>
        </p:nvSpPr>
        <p:spPr bwMode="auto">
          <a:xfrm>
            <a:off x="174625" y="4149725"/>
            <a:ext cx="9720263"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FFCCFF"/>
                </a:solidFill>
              </a:rPr>
              <a:t>当图象由于量化不足产生虚假轮廓时常可用低通滤波进行平滑以改进图象质量</a:t>
            </a:r>
            <a:r>
              <a:rPr lang="zh-CN" altLang="en-US" sz="2000" b="1"/>
              <a:t>。</a:t>
            </a:r>
          </a:p>
          <a:p>
            <a:r>
              <a:rPr lang="zh-CN" altLang="en-US" sz="2000" b="1">
                <a:solidFill>
                  <a:srgbClr val="34F7F2"/>
                </a:solidFill>
              </a:rPr>
              <a:t>图</a:t>
            </a:r>
            <a:r>
              <a:rPr lang="en-US" altLang="zh-CN" sz="2000" b="1">
                <a:solidFill>
                  <a:srgbClr val="34F7F2"/>
                </a:solidFill>
              </a:rPr>
              <a:t>(a)</a:t>
            </a:r>
            <a:r>
              <a:rPr lang="zh-CN" altLang="en-US" sz="2000" b="1">
                <a:solidFill>
                  <a:srgbClr val="34F7F2"/>
                </a:solidFill>
              </a:rPr>
              <a:t>为一幅由</a:t>
            </a:r>
            <a:r>
              <a:rPr lang="en-US" altLang="zh-CN" sz="2000" b="1">
                <a:solidFill>
                  <a:srgbClr val="34F7F2"/>
                </a:solidFill>
              </a:rPr>
              <a:t>256</a:t>
            </a:r>
            <a:r>
              <a:rPr lang="zh-CN" altLang="en-US" sz="2000" b="1">
                <a:solidFill>
                  <a:srgbClr val="34F7F2"/>
                </a:solidFill>
              </a:rPr>
              <a:t>级灰度量化为</a:t>
            </a:r>
            <a:r>
              <a:rPr lang="en-US" altLang="zh-CN" sz="2000" b="1">
                <a:solidFill>
                  <a:srgbClr val="34F7F2"/>
                </a:solidFill>
              </a:rPr>
              <a:t>12</a:t>
            </a:r>
            <a:r>
              <a:rPr lang="zh-CN" altLang="en-US" sz="2000" b="1">
                <a:solidFill>
                  <a:srgbClr val="34F7F2"/>
                </a:solidFill>
              </a:rPr>
              <a:t>个灰度级的图象，帽子和肩膀等处均有不同程度的虚假轮廓存在。</a:t>
            </a:r>
          </a:p>
          <a:p>
            <a:r>
              <a:rPr lang="zh-CN" altLang="en-US" sz="2000" b="1">
                <a:solidFill>
                  <a:srgbClr val="CCFF99"/>
                </a:solidFill>
              </a:rPr>
              <a:t>图</a:t>
            </a:r>
            <a:r>
              <a:rPr lang="en-US" altLang="zh-CN" sz="2000" b="1">
                <a:solidFill>
                  <a:srgbClr val="CCFF99"/>
                </a:solidFill>
              </a:rPr>
              <a:t>(b)</a:t>
            </a:r>
            <a:r>
              <a:rPr lang="zh-CN" altLang="en-US" sz="2000" b="1">
                <a:solidFill>
                  <a:srgbClr val="CCFF99"/>
                </a:solidFill>
              </a:rPr>
              <a:t>和图</a:t>
            </a:r>
            <a:r>
              <a:rPr lang="en-US" altLang="zh-CN" sz="2000" b="1">
                <a:solidFill>
                  <a:srgbClr val="CCFF99"/>
                </a:solidFill>
              </a:rPr>
              <a:t>(c)</a:t>
            </a:r>
            <a:r>
              <a:rPr lang="zh-CN" altLang="en-US" sz="2000" b="1">
                <a:solidFill>
                  <a:srgbClr val="CCFF99"/>
                </a:solidFill>
              </a:rPr>
              <a:t>分别为用理想低通滤波器和用阶数为</a:t>
            </a:r>
            <a:r>
              <a:rPr lang="en-US" altLang="zh-CN" sz="2000" b="1">
                <a:solidFill>
                  <a:srgbClr val="CCFF99"/>
                </a:solidFill>
              </a:rPr>
              <a:t>1</a:t>
            </a:r>
            <a:r>
              <a:rPr lang="zh-CN" altLang="en-US" sz="2000" b="1">
                <a:solidFill>
                  <a:srgbClr val="CCFF99"/>
                </a:solidFill>
              </a:rPr>
              <a:t>的巴特沃斯低通滤波器进行平滑处理所得到的结果。所用两个滤波器的截止频率所对应的半径均为</a:t>
            </a:r>
            <a:r>
              <a:rPr lang="en-US" altLang="zh-CN" sz="2000" b="1">
                <a:solidFill>
                  <a:srgbClr val="CCFF99"/>
                </a:solidFill>
              </a:rPr>
              <a:t>30</a:t>
            </a:r>
            <a:r>
              <a:rPr lang="zh-CN" altLang="en-US" sz="2000" b="1">
                <a:solidFill>
                  <a:srgbClr val="CCFF99"/>
                </a:solidFill>
              </a:rPr>
              <a:t>。</a:t>
            </a:r>
          </a:p>
          <a:p>
            <a:r>
              <a:rPr lang="zh-CN" altLang="en-US" sz="2000" b="1">
                <a:solidFill>
                  <a:srgbClr val="00FF99"/>
                </a:solidFill>
              </a:rPr>
              <a:t>比较两幅滤波结果图象，理想低通滤波器的结果图象中有较明显的振铃现象，而巴特沃斯滤波器的效果较好。</a:t>
            </a:r>
          </a:p>
        </p:txBody>
      </p:sp>
      <p:pic>
        <p:nvPicPr>
          <p:cNvPr id="477194" name="Picture 10">
            <a:extLst>
              <a:ext uri="{FF2B5EF4-FFF2-40B4-BE49-F238E27FC236}">
                <a16:creationId xmlns:a16="http://schemas.microsoft.com/office/drawing/2014/main" id="{94F37D25-750C-8B62-1364-291C4F4AE896}"/>
              </a:ext>
            </a:extLst>
          </p:cNvPr>
          <p:cNvPicPr>
            <a:picLocks noChangeAspect="1" noChangeArrowheads="1"/>
          </p:cNvPicPr>
          <p:nvPr>
            <p:ph/>
          </p:nvPr>
        </p:nvPicPr>
        <p:blipFill>
          <a:blip r:embed="rId3">
            <a:extLst>
              <a:ext uri="{28A0092B-C50C-407E-A947-70E740481C1C}">
                <a14:useLocalDpi xmlns:a14="http://schemas.microsoft.com/office/drawing/2010/main" val="0"/>
              </a:ext>
            </a:extLst>
          </a:blip>
          <a:srcRect r="3816"/>
          <a:stretch>
            <a:fillRect/>
          </a:stretch>
        </p:blipFill>
        <p:spPr>
          <a:xfrm>
            <a:off x="195263" y="549275"/>
            <a:ext cx="9844087" cy="3505200"/>
          </a:xfr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
        <p:nvSpPr>
          <p:cNvPr id="477196" name="Rectangle 12">
            <a:extLst>
              <a:ext uri="{FF2B5EF4-FFF2-40B4-BE49-F238E27FC236}">
                <a16:creationId xmlns:a16="http://schemas.microsoft.com/office/drawing/2014/main" id="{C245277A-9312-3621-D7D2-7EF7E2DDCE3B}"/>
              </a:ext>
            </a:extLst>
          </p:cNvPr>
          <p:cNvSpPr>
            <a:spLocks noChangeArrowheads="1"/>
          </p:cNvSpPr>
          <p:nvPr/>
        </p:nvSpPr>
        <p:spPr bwMode="auto">
          <a:xfrm>
            <a:off x="606425" y="0"/>
            <a:ext cx="5184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chemeClr val="tx2"/>
                </a:solidFill>
              </a:rPr>
              <a:t>例：频域低通滤波消除虚假轮廓</a:t>
            </a:r>
          </a:p>
        </p:txBody>
      </p:sp>
    </p:spTree>
  </p:cSld>
  <p:clrMapOvr>
    <a:masterClrMapping/>
  </p:clrMapOvr>
  <p:transition advTm="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a:extLst>
              <a:ext uri="{FF2B5EF4-FFF2-40B4-BE49-F238E27FC236}">
                <a16:creationId xmlns:a16="http://schemas.microsoft.com/office/drawing/2014/main" id="{AB208FD3-1A8A-C6F2-DE37-4102D0C53FDB}"/>
              </a:ext>
            </a:extLst>
          </p:cNvPr>
          <p:cNvSpPr>
            <a:spLocks noChangeArrowheads="1"/>
          </p:cNvSpPr>
          <p:nvPr/>
        </p:nvSpPr>
        <p:spPr bwMode="auto">
          <a:xfrm>
            <a:off x="457200" y="381000"/>
            <a:ext cx="5549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effectLst>
                  <a:outerShdw blurRad="38100" dist="38100" dir="2700000" algn="tl">
                    <a:srgbClr val="000000"/>
                  </a:outerShdw>
                </a:effectLst>
              </a:rPr>
              <a:t>巴特沃斯低通滤波器的处理效果</a:t>
            </a:r>
          </a:p>
        </p:txBody>
      </p:sp>
      <p:pic>
        <p:nvPicPr>
          <p:cNvPr id="710659" name="Picture 3">
            <a:extLst>
              <a:ext uri="{FF2B5EF4-FFF2-40B4-BE49-F238E27FC236}">
                <a16:creationId xmlns:a16="http://schemas.microsoft.com/office/drawing/2014/main" id="{7F0BAA18-6E98-C6C9-5731-4CF3787C7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0"/>
            <a:ext cx="2438400" cy="182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0660" name="Picture 4">
            <a:extLst>
              <a:ext uri="{FF2B5EF4-FFF2-40B4-BE49-F238E27FC236}">
                <a16:creationId xmlns:a16="http://schemas.microsoft.com/office/drawing/2014/main" id="{3FB51525-5F11-9AE5-460F-36CB5E5451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752600"/>
            <a:ext cx="5105400" cy="5105400"/>
          </a:xfrm>
          <a:prstGeom prst="rect">
            <a:avLst/>
          </a:prstGeom>
          <a:noFill/>
          <a:extLst>
            <a:ext uri="{909E8E84-426E-40DD-AFC4-6F175D3DCCD1}">
              <a14:hiddenFill xmlns:a14="http://schemas.microsoft.com/office/drawing/2010/main">
                <a:solidFill>
                  <a:srgbClr val="FFFFFF"/>
                </a:solidFill>
              </a14:hiddenFill>
            </a:ext>
          </a:extLst>
        </p:spPr>
      </p:pic>
      <p:pic>
        <p:nvPicPr>
          <p:cNvPr id="710661" name="Picture 5">
            <a:extLst>
              <a:ext uri="{FF2B5EF4-FFF2-40B4-BE49-F238E27FC236}">
                <a16:creationId xmlns:a16="http://schemas.microsoft.com/office/drawing/2014/main" id="{E4307FB7-6D3E-8727-646B-A1192C770D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752600"/>
            <a:ext cx="5105400" cy="510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a:extLst>
              <a:ext uri="{FF2B5EF4-FFF2-40B4-BE49-F238E27FC236}">
                <a16:creationId xmlns:a16="http://schemas.microsoft.com/office/drawing/2014/main" id="{2077009E-34A3-3490-09D1-58EFDAB3DD58}"/>
              </a:ext>
            </a:extLst>
          </p:cNvPr>
          <p:cNvSpPr>
            <a:spLocks noChangeArrowheads="1"/>
          </p:cNvSpPr>
          <p:nvPr/>
        </p:nvSpPr>
        <p:spPr bwMode="auto">
          <a:xfrm>
            <a:off x="319088" y="0"/>
            <a:ext cx="4894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3.4.3 </a:t>
            </a:r>
            <a:r>
              <a:rPr lang="zh-CN" altLang="en-US" b="1">
                <a:solidFill>
                  <a:schemeClr val="accent1"/>
                </a:solidFill>
                <a:effectLst>
                  <a:outerShdw blurRad="38100" dist="38100" dir="2700000" algn="tl">
                    <a:srgbClr val="000000"/>
                  </a:outerShdw>
                </a:effectLst>
              </a:rPr>
              <a:t>高通滤波</a:t>
            </a:r>
          </a:p>
        </p:txBody>
      </p:sp>
      <p:sp>
        <p:nvSpPr>
          <p:cNvPr id="440334" name="Rectangle 14">
            <a:extLst>
              <a:ext uri="{FF2B5EF4-FFF2-40B4-BE49-F238E27FC236}">
                <a16:creationId xmlns:a16="http://schemas.microsoft.com/office/drawing/2014/main" id="{8FB1719C-1BD4-6454-C70F-5D1D7A238CC1}"/>
              </a:ext>
            </a:extLst>
          </p:cNvPr>
          <p:cNvSpPr>
            <a:spLocks noGrp="1" noChangeArrowheads="1"/>
          </p:cNvSpPr>
          <p:nvPr>
            <p:ph type="body" idx="1"/>
          </p:nvPr>
        </p:nvSpPr>
        <p:spPr>
          <a:xfrm>
            <a:off x="174625" y="549275"/>
            <a:ext cx="8229600" cy="2736850"/>
          </a:xfrm>
          <a:noFill/>
          <a:ln/>
        </p:spPr>
        <p:txBody>
          <a:bodyPr/>
          <a:lstStyle/>
          <a:p>
            <a:pPr>
              <a:buFont typeface="Monotype Sorts" pitchFamily="2" charset="2"/>
              <a:buNone/>
            </a:pPr>
            <a:r>
              <a:rPr lang="zh-CN" altLang="en-US" sz="2800" b="1">
                <a:solidFill>
                  <a:schemeClr val="tx2"/>
                </a:solidFill>
              </a:rPr>
              <a:t>频域高通滤波器的基本思想</a:t>
            </a:r>
          </a:p>
          <a:p>
            <a:pPr lvl="1"/>
            <a:r>
              <a:rPr lang="en-US" altLang="zh-CN" sz="2400" b="1">
                <a:solidFill>
                  <a:srgbClr val="FF9900"/>
                </a:solidFill>
              </a:rPr>
              <a:t>G(u,v)=F(u,v)H(u,v)</a:t>
            </a:r>
          </a:p>
          <a:p>
            <a:pPr lvl="1"/>
            <a:r>
              <a:rPr lang="en-US" altLang="zh-CN" sz="2400" b="1">
                <a:solidFill>
                  <a:srgbClr val="34F7F2"/>
                </a:solidFill>
              </a:rPr>
              <a:t>F(u,v)</a:t>
            </a:r>
            <a:r>
              <a:rPr lang="zh-CN" altLang="en-US" sz="2400" b="1">
                <a:solidFill>
                  <a:srgbClr val="34F7F2"/>
                </a:solidFill>
              </a:rPr>
              <a:t>是需要锐化图像的傅立叶变换形式。</a:t>
            </a:r>
          </a:p>
          <a:p>
            <a:pPr lvl="1"/>
            <a:r>
              <a:rPr lang="zh-CN" altLang="en-US" sz="2400" b="1">
                <a:solidFill>
                  <a:srgbClr val="FFFF00"/>
                </a:solidFill>
              </a:rPr>
              <a:t>目标是选取一个滤波器变换函数</a:t>
            </a:r>
            <a:r>
              <a:rPr lang="en-US" altLang="zh-CN" sz="2400" b="1">
                <a:solidFill>
                  <a:srgbClr val="FFFF00"/>
                </a:solidFill>
              </a:rPr>
              <a:t>H(u,v)</a:t>
            </a:r>
            <a:r>
              <a:rPr lang="zh-CN" altLang="en-US" sz="2400" b="1">
                <a:solidFill>
                  <a:srgbClr val="FFFF00"/>
                </a:solidFill>
              </a:rPr>
              <a:t>，通过它减少</a:t>
            </a:r>
            <a:r>
              <a:rPr lang="en-US" altLang="zh-CN" sz="2400" b="1">
                <a:solidFill>
                  <a:srgbClr val="FFFF00"/>
                </a:solidFill>
              </a:rPr>
              <a:t>F(u,v)</a:t>
            </a:r>
            <a:r>
              <a:rPr lang="zh-CN" altLang="en-US" sz="2400" b="1">
                <a:solidFill>
                  <a:srgbClr val="FFFF00"/>
                </a:solidFill>
              </a:rPr>
              <a:t>的低频部分来得到</a:t>
            </a:r>
            <a:r>
              <a:rPr lang="en-US" altLang="zh-CN" sz="2400" b="1">
                <a:solidFill>
                  <a:srgbClr val="FFFF00"/>
                </a:solidFill>
              </a:rPr>
              <a:t>G(u,v)</a:t>
            </a:r>
            <a:r>
              <a:rPr lang="zh-CN" altLang="en-US" sz="2400" b="1">
                <a:solidFill>
                  <a:srgbClr val="FFFF00"/>
                </a:solidFill>
              </a:rPr>
              <a:t>。</a:t>
            </a:r>
          </a:p>
          <a:p>
            <a:pPr lvl="1"/>
            <a:r>
              <a:rPr lang="zh-CN" altLang="en-US" sz="2400" b="1">
                <a:solidFill>
                  <a:srgbClr val="CCCCFF"/>
                </a:solidFill>
              </a:rPr>
              <a:t>运用傅立叶逆变换得到锐化后的图像。</a:t>
            </a:r>
          </a:p>
        </p:txBody>
      </p:sp>
      <p:sp>
        <p:nvSpPr>
          <p:cNvPr id="440335" name="Rectangle 15">
            <a:extLst>
              <a:ext uri="{FF2B5EF4-FFF2-40B4-BE49-F238E27FC236}">
                <a16:creationId xmlns:a16="http://schemas.microsoft.com/office/drawing/2014/main" id="{FCC399EA-D2BE-AD0B-22C8-9369D9D48D34}"/>
              </a:ext>
            </a:extLst>
          </p:cNvPr>
          <p:cNvSpPr>
            <a:spLocks noChangeArrowheads="1"/>
          </p:cNvSpPr>
          <p:nvPr/>
        </p:nvSpPr>
        <p:spPr bwMode="auto">
          <a:xfrm>
            <a:off x="0" y="3141663"/>
            <a:ext cx="457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一、理想高通滤波器</a:t>
            </a:r>
          </a:p>
        </p:txBody>
      </p:sp>
      <p:sp>
        <p:nvSpPr>
          <p:cNvPr id="440336" name="Rectangle 16">
            <a:extLst>
              <a:ext uri="{FF2B5EF4-FFF2-40B4-BE49-F238E27FC236}">
                <a16:creationId xmlns:a16="http://schemas.microsoft.com/office/drawing/2014/main" id="{7A597023-2B1C-C2B8-0094-514336FCD0CA}"/>
              </a:ext>
            </a:extLst>
          </p:cNvPr>
          <p:cNvSpPr>
            <a:spLocks noChangeArrowheads="1"/>
          </p:cNvSpPr>
          <p:nvPr/>
        </p:nvSpPr>
        <p:spPr bwMode="auto">
          <a:xfrm>
            <a:off x="0" y="3716338"/>
            <a:ext cx="8382000" cy="266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marL="742950" indent="-285750">
              <a:spcBef>
                <a:spcPct val="20000"/>
              </a:spcBef>
              <a:buClr>
                <a:schemeClr val="tx1"/>
              </a:buClr>
              <a:buChar char="–"/>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marL="1143000" indent="-228600">
              <a:spcBef>
                <a:spcPct val="20000"/>
              </a:spcBef>
              <a:buClr>
                <a:schemeClr val="tx1"/>
              </a:buClr>
              <a:buChar char="»"/>
              <a:defRPr kumimoji="1" sz="24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marL="1600200" indent="-228600">
              <a:spcBef>
                <a:spcPct val="20000"/>
              </a:spcBef>
              <a:buClr>
                <a:schemeClr val="tx2"/>
              </a:buClr>
              <a:buSzPct val="63000"/>
              <a:buFont typeface="Monotype Sorts" pitchFamily="2" charset="2"/>
              <a:buChar char="n"/>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a:buFont typeface="Monotype Sorts" pitchFamily="2" charset="2"/>
              <a:buNone/>
            </a:pPr>
            <a:r>
              <a:rPr lang="zh-CN" altLang="en-US" sz="2400" b="1">
                <a:solidFill>
                  <a:srgbClr val="34F7F2"/>
                </a:solidFill>
              </a:rPr>
              <a:t>定义</a:t>
            </a:r>
            <a:r>
              <a:rPr lang="en-US" altLang="zh-CN" sz="2400" b="1">
                <a:solidFill>
                  <a:srgbClr val="34F7F2"/>
                </a:solidFill>
              </a:rPr>
              <a:t>:</a:t>
            </a:r>
            <a:r>
              <a:rPr lang="zh-CN" altLang="en-US" sz="2400" b="1">
                <a:solidFill>
                  <a:srgbClr val="34F7F2"/>
                </a:solidFill>
              </a:rPr>
              <a:t>一个二维的理想高通滤波器（</a:t>
            </a:r>
            <a:r>
              <a:rPr lang="en-US" altLang="zh-CN" sz="2400" b="1">
                <a:solidFill>
                  <a:srgbClr val="34F7F2"/>
                </a:solidFill>
              </a:rPr>
              <a:t>ILPF</a:t>
            </a:r>
            <a:r>
              <a:rPr lang="zh-CN" altLang="en-US" sz="2400" b="1">
                <a:solidFill>
                  <a:srgbClr val="34F7F2"/>
                </a:solidFill>
              </a:rPr>
              <a:t>）的转换函数满足（是一个分段函数）</a:t>
            </a:r>
          </a:p>
          <a:p>
            <a:pPr lvl="1"/>
            <a:endParaRPr lang="zh-CN" altLang="en-US" sz="2400" b="1">
              <a:solidFill>
                <a:srgbClr val="34F7F2"/>
              </a:solidFill>
            </a:endParaRPr>
          </a:p>
          <a:p>
            <a:pPr lvl="1"/>
            <a:endParaRPr lang="zh-CN" altLang="en-US" sz="2400">
              <a:solidFill>
                <a:srgbClr val="A20078"/>
              </a:solidFill>
            </a:endParaRPr>
          </a:p>
          <a:p>
            <a:pPr lvl="1">
              <a:buFontTx/>
              <a:buNone/>
            </a:pPr>
            <a:endParaRPr lang="zh-CN" altLang="en-US" sz="2400" b="1"/>
          </a:p>
          <a:p>
            <a:pPr lvl="1">
              <a:buFontTx/>
              <a:buNone/>
            </a:pPr>
            <a:r>
              <a:rPr lang="zh-CN" altLang="en-US" sz="2400" b="1"/>
              <a:t>其中：</a:t>
            </a:r>
            <a:r>
              <a:rPr lang="en-US" altLang="zh-CN" sz="2400" b="1" i="1"/>
              <a:t>D</a:t>
            </a:r>
            <a:r>
              <a:rPr lang="en-US" altLang="zh-CN" sz="2400" b="1" i="1" baseline="-25000"/>
              <a:t>0 </a:t>
            </a:r>
            <a:r>
              <a:rPr lang="zh-CN" altLang="en-US" sz="2400" b="1"/>
              <a:t>为截止频率，</a:t>
            </a:r>
            <a:r>
              <a:rPr lang="en-US" altLang="zh-CN" sz="2400" b="1" i="1"/>
              <a:t>D(u,v)</a:t>
            </a:r>
            <a:r>
              <a:rPr lang="zh-CN" altLang="en-US" sz="2400" b="1"/>
              <a:t>为距离函数 </a:t>
            </a:r>
            <a:r>
              <a:rPr lang="en-US" altLang="zh-CN" sz="2400" b="1">
                <a:solidFill>
                  <a:srgbClr val="FF0000"/>
                </a:solidFill>
              </a:rPr>
              <a:t>D(u,v)=(u</a:t>
            </a:r>
            <a:r>
              <a:rPr lang="en-US" altLang="zh-CN" sz="2400" b="1" baseline="30000">
                <a:solidFill>
                  <a:srgbClr val="FF0000"/>
                </a:solidFill>
              </a:rPr>
              <a:t>2</a:t>
            </a:r>
            <a:r>
              <a:rPr lang="en-US" altLang="zh-CN" sz="2400" b="1">
                <a:solidFill>
                  <a:srgbClr val="FF0000"/>
                </a:solidFill>
              </a:rPr>
              <a:t>+v</a:t>
            </a:r>
            <a:r>
              <a:rPr lang="en-US" altLang="zh-CN" sz="2400" b="1" baseline="30000">
                <a:solidFill>
                  <a:srgbClr val="FF0000"/>
                </a:solidFill>
              </a:rPr>
              <a:t>2</a:t>
            </a:r>
            <a:r>
              <a:rPr lang="en-US" altLang="zh-CN" sz="2400" b="1">
                <a:solidFill>
                  <a:srgbClr val="FF0000"/>
                </a:solidFill>
              </a:rPr>
              <a:t>)</a:t>
            </a:r>
            <a:r>
              <a:rPr lang="en-US" altLang="zh-CN" sz="2400" b="1" baseline="30000">
                <a:solidFill>
                  <a:srgbClr val="FF0000"/>
                </a:solidFill>
              </a:rPr>
              <a:t>1/2</a:t>
            </a:r>
            <a:endParaRPr lang="en-US" altLang="zh-CN" sz="2400" b="1" baseline="30000"/>
          </a:p>
        </p:txBody>
      </p:sp>
      <p:grpSp>
        <p:nvGrpSpPr>
          <p:cNvPr id="440341" name="Group 21">
            <a:extLst>
              <a:ext uri="{FF2B5EF4-FFF2-40B4-BE49-F238E27FC236}">
                <a16:creationId xmlns:a16="http://schemas.microsoft.com/office/drawing/2014/main" id="{64EC493C-B261-92AB-71D2-9D4FCA0F0668}"/>
              </a:ext>
            </a:extLst>
          </p:cNvPr>
          <p:cNvGrpSpPr>
            <a:grpSpLocks/>
          </p:cNvGrpSpPr>
          <p:nvPr/>
        </p:nvGrpSpPr>
        <p:grpSpPr bwMode="auto">
          <a:xfrm>
            <a:off x="1401763" y="4437063"/>
            <a:ext cx="5181600" cy="1174750"/>
            <a:chOff x="1008" y="1296"/>
            <a:chExt cx="3264" cy="740"/>
          </a:xfrm>
        </p:grpSpPr>
        <p:sp>
          <p:nvSpPr>
            <p:cNvPr id="440342" name="Rectangle 22">
              <a:extLst>
                <a:ext uri="{FF2B5EF4-FFF2-40B4-BE49-F238E27FC236}">
                  <a16:creationId xmlns:a16="http://schemas.microsoft.com/office/drawing/2014/main" id="{49A7F16A-0D95-67A7-DF00-F7136850D2A8}"/>
                </a:ext>
              </a:extLst>
            </p:cNvPr>
            <p:cNvSpPr>
              <a:spLocks noChangeArrowheads="1"/>
            </p:cNvSpPr>
            <p:nvPr/>
          </p:nvSpPr>
          <p:spPr bwMode="auto">
            <a:xfrm>
              <a:off x="1008" y="1536"/>
              <a:ext cx="67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762000" indent="-762000">
                <a:defRPr kumimoji="1" sz="2400">
                  <a:solidFill>
                    <a:schemeClr val="tx1"/>
                  </a:solidFill>
                  <a:latin typeface="Times New Roman" panose="02020603050405020304" pitchFamily="18" charset="0"/>
                  <a:ea typeface="宋体" panose="02010600030101010101" pitchFamily="2" charset="-122"/>
                </a:defRPr>
              </a:lvl1pPr>
              <a:lvl2pPr marL="952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2000">
                  <a:effectLst>
                    <a:outerShdw blurRad="38100" dist="38100" dir="2700000" algn="tl">
                      <a:srgbClr val="000000"/>
                    </a:outerShdw>
                  </a:effectLst>
                </a:rPr>
                <a:t>H(u,v) =</a:t>
              </a:r>
            </a:p>
          </p:txBody>
        </p:sp>
        <p:sp>
          <p:nvSpPr>
            <p:cNvPr id="440343" name="Rectangle 23">
              <a:extLst>
                <a:ext uri="{FF2B5EF4-FFF2-40B4-BE49-F238E27FC236}">
                  <a16:creationId xmlns:a16="http://schemas.microsoft.com/office/drawing/2014/main" id="{A7CBBCC1-BA39-D3F3-8083-81AC996D8C06}"/>
                </a:ext>
              </a:extLst>
            </p:cNvPr>
            <p:cNvSpPr>
              <a:spLocks noChangeArrowheads="1"/>
            </p:cNvSpPr>
            <p:nvPr/>
          </p:nvSpPr>
          <p:spPr bwMode="auto">
            <a:xfrm>
              <a:off x="2112" y="1296"/>
              <a:ext cx="196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952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2000">
                  <a:effectLst>
                    <a:outerShdw blurRad="38100" dist="38100" dir="2700000" algn="tl">
                      <a:srgbClr val="000000"/>
                    </a:outerShdw>
                  </a:effectLst>
                </a:rPr>
                <a:t>0	</a:t>
              </a:r>
              <a:r>
                <a:rPr lang="zh-CN" altLang="en-US" sz="2000">
                  <a:effectLst>
                    <a:outerShdw blurRad="38100" dist="38100" dir="2700000" algn="tl">
                      <a:srgbClr val="000000"/>
                    </a:outerShdw>
                  </a:effectLst>
                </a:rPr>
                <a:t>当</a:t>
              </a:r>
              <a:r>
                <a:rPr lang="en-US" altLang="zh-CN" sz="2000" i="1">
                  <a:effectLst>
                    <a:outerShdw blurRad="38100" dist="38100" dir="2700000" algn="tl">
                      <a:srgbClr val="000000"/>
                    </a:outerShdw>
                  </a:effectLst>
                </a:rPr>
                <a:t>D(u,v)</a:t>
              </a:r>
              <a:r>
                <a:rPr lang="en-US" altLang="zh-CN" sz="2000" i="1">
                  <a:effectLst>
                    <a:outerShdw blurRad="38100" dist="38100" dir="2700000" algn="tl">
                      <a:srgbClr val="000000"/>
                    </a:outerShdw>
                  </a:effectLst>
                  <a:cs typeface="Times New Roman" panose="02020603050405020304" pitchFamily="18" charset="0"/>
                </a:rPr>
                <a:t>≦</a:t>
              </a:r>
              <a:r>
                <a:rPr lang="en-US" altLang="zh-CN" sz="2000" i="1">
                  <a:effectLst>
                    <a:outerShdw blurRad="38100" dist="38100" dir="2700000" algn="tl">
                      <a:srgbClr val="000000"/>
                    </a:outerShdw>
                  </a:effectLst>
                </a:rPr>
                <a:t>D</a:t>
              </a:r>
              <a:r>
                <a:rPr lang="en-US" altLang="zh-CN" sz="2000" i="1" baseline="-25000">
                  <a:effectLst>
                    <a:outerShdw blurRad="38100" dist="38100" dir="2700000" algn="tl">
                      <a:srgbClr val="000000"/>
                    </a:outerShdw>
                  </a:effectLst>
                </a:rPr>
                <a:t>0</a:t>
              </a:r>
            </a:p>
          </p:txBody>
        </p:sp>
        <p:sp>
          <p:nvSpPr>
            <p:cNvPr id="440344" name="AutoShape 24">
              <a:extLst>
                <a:ext uri="{FF2B5EF4-FFF2-40B4-BE49-F238E27FC236}">
                  <a16:creationId xmlns:a16="http://schemas.microsoft.com/office/drawing/2014/main" id="{5E95FE37-DD4D-D4D8-DD50-9EA3D91005D9}"/>
                </a:ext>
              </a:extLst>
            </p:cNvPr>
            <p:cNvSpPr>
              <a:spLocks/>
            </p:cNvSpPr>
            <p:nvPr/>
          </p:nvSpPr>
          <p:spPr bwMode="auto">
            <a:xfrm>
              <a:off x="1776" y="1440"/>
              <a:ext cx="144" cy="576"/>
            </a:xfrm>
            <a:prstGeom prst="leftBrace">
              <a:avLst>
                <a:gd name="adj1" fmla="val 33333"/>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345" name="Rectangle 25">
              <a:extLst>
                <a:ext uri="{FF2B5EF4-FFF2-40B4-BE49-F238E27FC236}">
                  <a16:creationId xmlns:a16="http://schemas.microsoft.com/office/drawing/2014/main" id="{820A0C4A-5FC8-D4F2-5F48-6BE696D43395}"/>
                </a:ext>
              </a:extLst>
            </p:cNvPr>
            <p:cNvSpPr>
              <a:spLocks noChangeArrowheads="1"/>
            </p:cNvSpPr>
            <p:nvPr/>
          </p:nvSpPr>
          <p:spPr bwMode="auto">
            <a:xfrm>
              <a:off x="2112" y="1728"/>
              <a:ext cx="216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952500">
                <a:defRPr kumimoji="1" sz="2400">
                  <a:solidFill>
                    <a:schemeClr val="tx1"/>
                  </a:solidFill>
                  <a:latin typeface="Times New Roman" panose="02020603050405020304" pitchFamily="18" charset="0"/>
                  <a:ea typeface="宋体" panose="02010600030101010101" pitchFamily="2" charset="-122"/>
                </a:defRPr>
              </a:lvl2pPr>
              <a:lvl3pPr marL="11430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2000">
                  <a:effectLst>
                    <a:outerShdw blurRad="38100" dist="38100" dir="2700000" algn="tl">
                      <a:srgbClr val="000000"/>
                    </a:outerShdw>
                  </a:effectLst>
                </a:rPr>
                <a:t>1	</a:t>
              </a:r>
              <a:r>
                <a:rPr lang="zh-CN" altLang="en-US" sz="2000">
                  <a:effectLst>
                    <a:outerShdw blurRad="38100" dist="38100" dir="2700000" algn="tl">
                      <a:srgbClr val="000000"/>
                    </a:outerShdw>
                  </a:effectLst>
                </a:rPr>
                <a:t>当</a:t>
              </a:r>
              <a:r>
                <a:rPr lang="en-US" altLang="zh-CN" sz="2000" i="1">
                  <a:effectLst>
                    <a:outerShdw blurRad="38100" dist="38100" dir="2700000" algn="tl">
                      <a:srgbClr val="000000"/>
                    </a:outerShdw>
                  </a:effectLst>
                </a:rPr>
                <a:t>D(u,v) &gt; D</a:t>
              </a:r>
              <a:r>
                <a:rPr lang="en-US" altLang="zh-CN" sz="2000" i="1" baseline="-25000">
                  <a:effectLst>
                    <a:outerShdw blurRad="38100" dist="38100" dir="2700000" algn="tl">
                      <a:srgbClr val="000000"/>
                    </a:outerShdw>
                  </a:effectLst>
                </a:rPr>
                <a:t>0</a:t>
              </a:r>
              <a:endParaRPr lang="en-US" altLang="zh-CN" sz="2000" i="1">
                <a:effectLst>
                  <a:outerShdw blurRad="38100" dist="38100" dir="2700000" algn="tl">
                    <a:srgbClr val="000000"/>
                  </a:outerShdw>
                </a:effectLst>
              </a:endParaRPr>
            </a:p>
          </p:txBody>
        </p:sp>
      </p:grpSp>
    </p:spTree>
  </p:cSld>
  <p:clrMapOvr>
    <a:masterClrMapping/>
  </p:clrMapOvr>
  <p:transition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a:extLst>
              <a:ext uri="{FF2B5EF4-FFF2-40B4-BE49-F238E27FC236}">
                <a16:creationId xmlns:a16="http://schemas.microsoft.com/office/drawing/2014/main" id="{7062439E-ABB9-FCDF-B102-D6D924B62671}"/>
              </a:ext>
            </a:extLst>
          </p:cNvPr>
          <p:cNvSpPr>
            <a:spLocks noChangeArrowheads="1"/>
          </p:cNvSpPr>
          <p:nvPr/>
        </p:nvSpPr>
        <p:spPr bwMode="auto">
          <a:xfrm>
            <a:off x="609600" y="152400"/>
            <a:ext cx="4894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3.4.3 </a:t>
            </a:r>
            <a:r>
              <a:rPr lang="zh-CN" altLang="en-US" b="1">
                <a:solidFill>
                  <a:schemeClr val="accent1"/>
                </a:solidFill>
                <a:effectLst>
                  <a:outerShdw blurRad="38100" dist="38100" dir="2700000" algn="tl">
                    <a:srgbClr val="000000"/>
                  </a:outerShdw>
                </a:effectLst>
              </a:rPr>
              <a:t>高通滤波</a:t>
            </a:r>
          </a:p>
        </p:txBody>
      </p:sp>
      <p:sp>
        <p:nvSpPr>
          <p:cNvPr id="675852" name="Rectangle 12">
            <a:extLst>
              <a:ext uri="{FF2B5EF4-FFF2-40B4-BE49-F238E27FC236}">
                <a16:creationId xmlns:a16="http://schemas.microsoft.com/office/drawing/2014/main" id="{0AA777AC-67C1-3380-9346-E29AE2ACA91C}"/>
              </a:ext>
            </a:extLst>
          </p:cNvPr>
          <p:cNvSpPr>
            <a:spLocks noChangeArrowheads="1"/>
          </p:cNvSpPr>
          <p:nvPr>
            <p:ph type="body" idx="1"/>
          </p:nvPr>
        </p:nvSpPr>
        <p:spPr>
          <a:xfrm>
            <a:off x="247650" y="981075"/>
            <a:ext cx="7162800" cy="685800"/>
          </a:xfrm>
          <a:noFill/>
          <a:ln/>
        </p:spPr>
        <p:txBody>
          <a:bodyPr/>
          <a:lstStyle/>
          <a:p>
            <a:r>
              <a:rPr lang="zh-CN" altLang="en-US" sz="2800" b="1"/>
              <a:t>理想低通滤波器的截面图</a:t>
            </a:r>
          </a:p>
        </p:txBody>
      </p:sp>
      <p:sp>
        <p:nvSpPr>
          <p:cNvPr id="675853" name="Line 13">
            <a:extLst>
              <a:ext uri="{FF2B5EF4-FFF2-40B4-BE49-F238E27FC236}">
                <a16:creationId xmlns:a16="http://schemas.microsoft.com/office/drawing/2014/main" id="{22BB6CDD-5616-0176-FA03-1270D08669A3}"/>
              </a:ext>
            </a:extLst>
          </p:cNvPr>
          <p:cNvSpPr>
            <a:spLocks noChangeShapeType="1"/>
          </p:cNvSpPr>
          <p:nvPr/>
        </p:nvSpPr>
        <p:spPr bwMode="auto">
          <a:xfrm>
            <a:off x="996950" y="5095875"/>
            <a:ext cx="40386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5854" name="Line 14">
            <a:extLst>
              <a:ext uri="{FF2B5EF4-FFF2-40B4-BE49-F238E27FC236}">
                <a16:creationId xmlns:a16="http://schemas.microsoft.com/office/drawing/2014/main" id="{1BA1C90D-19FE-C1C3-E1CF-B5CAB05C2224}"/>
              </a:ext>
            </a:extLst>
          </p:cNvPr>
          <p:cNvSpPr>
            <a:spLocks noChangeShapeType="1"/>
          </p:cNvSpPr>
          <p:nvPr/>
        </p:nvSpPr>
        <p:spPr bwMode="auto">
          <a:xfrm flipV="1">
            <a:off x="996950" y="1819275"/>
            <a:ext cx="0" cy="3276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5855" name="Line 15">
            <a:extLst>
              <a:ext uri="{FF2B5EF4-FFF2-40B4-BE49-F238E27FC236}">
                <a16:creationId xmlns:a16="http://schemas.microsoft.com/office/drawing/2014/main" id="{66D7A42B-D652-D0EE-295E-40277FBB4B24}"/>
              </a:ext>
            </a:extLst>
          </p:cNvPr>
          <p:cNvSpPr>
            <a:spLocks noChangeShapeType="1"/>
          </p:cNvSpPr>
          <p:nvPr/>
        </p:nvSpPr>
        <p:spPr bwMode="auto">
          <a:xfrm flipH="1">
            <a:off x="2430463" y="3648075"/>
            <a:ext cx="22367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5856" name="Line 16">
            <a:extLst>
              <a:ext uri="{FF2B5EF4-FFF2-40B4-BE49-F238E27FC236}">
                <a16:creationId xmlns:a16="http://schemas.microsoft.com/office/drawing/2014/main" id="{43DE160F-7571-04CE-0860-C74D3DDDE4B2}"/>
              </a:ext>
            </a:extLst>
          </p:cNvPr>
          <p:cNvSpPr>
            <a:spLocks noChangeShapeType="1"/>
          </p:cNvSpPr>
          <p:nvPr/>
        </p:nvSpPr>
        <p:spPr bwMode="auto">
          <a:xfrm>
            <a:off x="2430463" y="3648075"/>
            <a:ext cx="0" cy="1447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5857" name="Text Box 17">
            <a:extLst>
              <a:ext uri="{FF2B5EF4-FFF2-40B4-BE49-F238E27FC236}">
                <a16:creationId xmlns:a16="http://schemas.microsoft.com/office/drawing/2014/main" id="{70BD71D9-EC2F-39D4-2136-648C9E7C1898}"/>
              </a:ext>
            </a:extLst>
          </p:cNvPr>
          <p:cNvSpPr txBox="1">
            <a:spLocks noChangeArrowheads="1"/>
          </p:cNvSpPr>
          <p:nvPr/>
        </p:nvSpPr>
        <p:spPr bwMode="auto">
          <a:xfrm>
            <a:off x="812800" y="5019675"/>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0</a:t>
            </a:r>
          </a:p>
        </p:txBody>
      </p:sp>
      <p:sp>
        <p:nvSpPr>
          <p:cNvPr id="675858" name="Text Box 18">
            <a:extLst>
              <a:ext uri="{FF2B5EF4-FFF2-40B4-BE49-F238E27FC236}">
                <a16:creationId xmlns:a16="http://schemas.microsoft.com/office/drawing/2014/main" id="{82BF576C-BDE6-18D1-151D-89628353D5DC}"/>
              </a:ext>
            </a:extLst>
          </p:cNvPr>
          <p:cNvSpPr txBox="1">
            <a:spLocks noChangeArrowheads="1"/>
          </p:cNvSpPr>
          <p:nvPr/>
        </p:nvSpPr>
        <p:spPr bwMode="auto">
          <a:xfrm>
            <a:off x="2152650" y="5019675"/>
            <a:ext cx="506413"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D</a:t>
            </a:r>
            <a:r>
              <a:rPr lang="en-US" altLang="zh-CN" sz="2400" b="1" baseline="-25000"/>
              <a:t>0</a:t>
            </a:r>
            <a:endParaRPr lang="en-US" altLang="zh-CN" sz="2400" b="1"/>
          </a:p>
        </p:txBody>
      </p:sp>
      <p:sp>
        <p:nvSpPr>
          <p:cNvPr id="675859" name="Text Box 19">
            <a:extLst>
              <a:ext uri="{FF2B5EF4-FFF2-40B4-BE49-F238E27FC236}">
                <a16:creationId xmlns:a16="http://schemas.microsoft.com/office/drawing/2014/main" id="{7555A779-7FCD-8681-D883-C372373A2E1E}"/>
              </a:ext>
            </a:extLst>
          </p:cNvPr>
          <p:cNvSpPr txBox="1">
            <a:spLocks noChangeArrowheads="1"/>
          </p:cNvSpPr>
          <p:nvPr/>
        </p:nvSpPr>
        <p:spPr bwMode="auto">
          <a:xfrm>
            <a:off x="4395788" y="5019675"/>
            <a:ext cx="989012"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D(</a:t>
            </a:r>
            <a:r>
              <a:rPr lang="en-US" altLang="zh-CN" sz="2400" b="1" i="1"/>
              <a:t>u,v</a:t>
            </a:r>
            <a:r>
              <a:rPr lang="en-US" altLang="zh-CN" sz="2400" b="1"/>
              <a:t>)</a:t>
            </a:r>
          </a:p>
        </p:txBody>
      </p:sp>
      <p:sp>
        <p:nvSpPr>
          <p:cNvPr id="675860" name="Text Box 20">
            <a:extLst>
              <a:ext uri="{FF2B5EF4-FFF2-40B4-BE49-F238E27FC236}">
                <a16:creationId xmlns:a16="http://schemas.microsoft.com/office/drawing/2014/main" id="{A46294E8-9653-E683-5389-96694DCFD243}"/>
              </a:ext>
            </a:extLst>
          </p:cNvPr>
          <p:cNvSpPr txBox="1">
            <a:spLocks noChangeArrowheads="1"/>
          </p:cNvSpPr>
          <p:nvPr/>
        </p:nvSpPr>
        <p:spPr bwMode="auto">
          <a:xfrm>
            <a:off x="1073150" y="1819275"/>
            <a:ext cx="1004888"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H(</a:t>
            </a:r>
            <a:r>
              <a:rPr lang="en-US" altLang="zh-CN" sz="2400" b="1" i="1"/>
              <a:t>u,v</a:t>
            </a:r>
            <a:r>
              <a:rPr lang="en-US" altLang="zh-CN" sz="2400" b="1"/>
              <a:t>)</a:t>
            </a:r>
          </a:p>
        </p:txBody>
      </p:sp>
      <p:sp>
        <p:nvSpPr>
          <p:cNvPr id="675861" name="Text Box 21">
            <a:extLst>
              <a:ext uri="{FF2B5EF4-FFF2-40B4-BE49-F238E27FC236}">
                <a16:creationId xmlns:a16="http://schemas.microsoft.com/office/drawing/2014/main" id="{C4B8B451-1DC3-0F92-C0BC-D46444BE738A}"/>
              </a:ext>
            </a:extLst>
          </p:cNvPr>
          <p:cNvSpPr txBox="1">
            <a:spLocks noChangeArrowheads="1"/>
          </p:cNvSpPr>
          <p:nvPr/>
        </p:nvSpPr>
        <p:spPr bwMode="auto">
          <a:xfrm>
            <a:off x="704850" y="3419475"/>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1</a:t>
            </a:r>
          </a:p>
        </p:txBody>
      </p:sp>
      <p:sp>
        <p:nvSpPr>
          <p:cNvPr id="675862" name="Text Box 22">
            <a:extLst>
              <a:ext uri="{FF2B5EF4-FFF2-40B4-BE49-F238E27FC236}">
                <a16:creationId xmlns:a16="http://schemas.microsoft.com/office/drawing/2014/main" id="{9890817D-DF3E-D333-F808-16E427632ADD}"/>
              </a:ext>
            </a:extLst>
          </p:cNvPr>
          <p:cNvSpPr txBox="1">
            <a:spLocks noChangeArrowheads="1"/>
          </p:cNvSpPr>
          <p:nvPr/>
        </p:nvSpPr>
        <p:spPr bwMode="auto">
          <a:xfrm>
            <a:off x="2100263" y="2200275"/>
            <a:ext cx="6072187"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spcBef>
                <a:spcPct val="50000"/>
              </a:spcBef>
            </a:pPr>
            <a:r>
              <a:rPr lang="en-US" altLang="zh-CN" sz="2400" b="1">
                <a:solidFill>
                  <a:schemeClr val="accent2"/>
                </a:solidFill>
                <a:latin typeface="方正大黑简体" pitchFamily="65" charset="-122"/>
                <a:ea typeface="方正大黑简体" pitchFamily="65" charset="-122"/>
              </a:rPr>
              <a:t>H(u,v)</a:t>
            </a:r>
            <a:r>
              <a:rPr lang="zh-CN" altLang="en-US" sz="2400" b="1">
                <a:solidFill>
                  <a:schemeClr val="accent2"/>
                </a:solidFill>
                <a:latin typeface="方正大黑简体" pitchFamily="65" charset="-122"/>
                <a:ea typeface="方正大黑简体" pitchFamily="65" charset="-122"/>
              </a:rPr>
              <a:t>作为距离函数</a:t>
            </a:r>
            <a:r>
              <a:rPr lang="en-US" altLang="zh-CN" sz="2400" b="1">
                <a:solidFill>
                  <a:schemeClr val="accent2"/>
                </a:solidFill>
                <a:latin typeface="方正大黑简体" pitchFamily="65" charset="-122"/>
                <a:ea typeface="方正大黑简体" pitchFamily="65" charset="-122"/>
              </a:rPr>
              <a:t>D(u,v)</a:t>
            </a:r>
            <a:r>
              <a:rPr lang="zh-CN" altLang="en-US" sz="2400" b="1">
                <a:solidFill>
                  <a:schemeClr val="accent2"/>
                </a:solidFill>
                <a:latin typeface="方正大黑简体" pitchFamily="65" charset="-122"/>
                <a:ea typeface="方正大黑简体" pitchFamily="65" charset="-122"/>
              </a:rPr>
              <a:t>的函数的截面图</a:t>
            </a:r>
            <a:endParaRPr lang="zh-CN" altLang="en-US" sz="2400" b="1">
              <a:latin typeface="方正大黑简体" pitchFamily="65" charset="-122"/>
              <a:ea typeface="方正大黑简体" pitchFamily="65" charset="-122"/>
            </a:endParaRPr>
          </a:p>
        </p:txBody>
      </p:sp>
    </p:spTree>
  </p:cSld>
  <p:clrMapOvr>
    <a:masterClrMapping/>
  </p:clrMapOvr>
  <p:transition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a:extLst>
              <a:ext uri="{FF2B5EF4-FFF2-40B4-BE49-F238E27FC236}">
                <a16:creationId xmlns:a16="http://schemas.microsoft.com/office/drawing/2014/main" id="{7A9A24CD-1EFB-C151-1216-003D813D69F0}"/>
              </a:ext>
            </a:extLst>
          </p:cNvPr>
          <p:cNvSpPr>
            <a:spLocks noChangeArrowheads="1"/>
          </p:cNvSpPr>
          <p:nvPr/>
        </p:nvSpPr>
        <p:spPr bwMode="auto">
          <a:xfrm>
            <a:off x="609600" y="152400"/>
            <a:ext cx="4894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3.4.3 </a:t>
            </a:r>
            <a:r>
              <a:rPr lang="zh-CN" altLang="en-US" b="1">
                <a:solidFill>
                  <a:schemeClr val="accent1"/>
                </a:solidFill>
                <a:effectLst>
                  <a:outerShdw blurRad="38100" dist="38100" dir="2700000" algn="tl">
                    <a:srgbClr val="000000"/>
                  </a:outerShdw>
                </a:effectLst>
              </a:rPr>
              <a:t>高通滤波</a:t>
            </a:r>
          </a:p>
        </p:txBody>
      </p:sp>
      <p:sp>
        <p:nvSpPr>
          <p:cNvPr id="679951" name="Rectangle 15">
            <a:extLst>
              <a:ext uri="{FF2B5EF4-FFF2-40B4-BE49-F238E27FC236}">
                <a16:creationId xmlns:a16="http://schemas.microsoft.com/office/drawing/2014/main" id="{C51BD70D-471E-CCE3-AECB-64A382457ACB}"/>
              </a:ext>
            </a:extLst>
          </p:cNvPr>
          <p:cNvSpPr>
            <a:spLocks noChangeArrowheads="1"/>
          </p:cNvSpPr>
          <p:nvPr>
            <p:ph type="body" idx="1"/>
          </p:nvPr>
        </p:nvSpPr>
        <p:spPr>
          <a:xfrm>
            <a:off x="463550" y="1196975"/>
            <a:ext cx="8077200" cy="914400"/>
          </a:xfrm>
          <a:noFill/>
          <a:ln/>
        </p:spPr>
        <p:txBody>
          <a:bodyPr/>
          <a:lstStyle/>
          <a:p>
            <a:r>
              <a:rPr lang="zh-CN" altLang="en-US" sz="2800" b="1"/>
              <a:t>理想高通滤波器的三维透视图</a:t>
            </a:r>
          </a:p>
        </p:txBody>
      </p:sp>
      <p:sp>
        <p:nvSpPr>
          <p:cNvPr id="679952" name="Line 16">
            <a:extLst>
              <a:ext uri="{FF2B5EF4-FFF2-40B4-BE49-F238E27FC236}">
                <a16:creationId xmlns:a16="http://schemas.microsoft.com/office/drawing/2014/main" id="{33FC56E0-551E-E7AB-3254-0FCCA5BF5B8C}"/>
              </a:ext>
            </a:extLst>
          </p:cNvPr>
          <p:cNvSpPr>
            <a:spLocks noChangeShapeType="1"/>
          </p:cNvSpPr>
          <p:nvPr/>
        </p:nvSpPr>
        <p:spPr bwMode="auto">
          <a:xfrm>
            <a:off x="5949950" y="4321175"/>
            <a:ext cx="1981200" cy="3048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9953" name="Line 17">
            <a:extLst>
              <a:ext uri="{FF2B5EF4-FFF2-40B4-BE49-F238E27FC236}">
                <a16:creationId xmlns:a16="http://schemas.microsoft.com/office/drawing/2014/main" id="{686F9A7C-DF72-AA39-A0AE-4B094B97780F}"/>
              </a:ext>
            </a:extLst>
          </p:cNvPr>
          <p:cNvSpPr>
            <a:spLocks noChangeShapeType="1"/>
          </p:cNvSpPr>
          <p:nvPr/>
        </p:nvSpPr>
        <p:spPr bwMode="auto">
          <a:xfrm flipH="1">
            <a:off x="1149350" y="4397375"/>
            <a:ext cx="1752600" cy="228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9954" name="Text Box 18">
            <a:extLst>
              <a:ext uri="{FF2B5EF4-FFF2-40B4-BE49-F238E27FC236}">
                <a16:creationId xmlns:a16="http://schemas.microsoft.com/office/drawing/2014/main" id="{DE0C6216-EE1A-D200-B355-29850F365CC7}"/>
              </a:ext>
            </a:extLst>
          </p:cNvPr>
          <p:cNvSpPr txBox="1">
            <a:spLocks noChangeArrowheads="1"/>
          </p:cNvSpPr>
          <p:nvPr/>
        </p:nvSpPr>
        <p:spPr bwMode="auto">
          <a:xfrm>
            <a:off x="7702550" y="4473575"/>
            <a:ext cx="341313" cy="519113"/>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b="1" i="1"/>
              <a:t>v</a:t>
            </a:r>
            <a:endParaRPr lang="en-US" altLang="zh-CN" sz="2400" b="1"/>
          </a:p>
        </p:txBody>
      </p:sp>
      <p:sp>
        <p:nvSpPr>
          <p:cNvPr id="679955" name="Text Box 19">
            <a:extLst>
              <a:ext uri="{FF2B5EF4-FFF2-40B4-BE49-F238E27FC236}">
                <a16:creationId xmlns:a16="http://schemas.microsoft.com/office/drawing/2014/main" id="{FF93AE4D-6144-883A-19FA-BD85B0CEDCB2}"/>
              </a:ext>
            </a:extLst>
          </p:cNvPr>
          <p:cNvSpPr txBox="1">
            <a:spLocks noChangeArrowheads="1"/>
          </p:cNvSpPr>
          <p:nvPr/>
        </p:nvSpPr>
        <p:spPr bwMode="auto">
          <a:xfrm>
            <a:off x="844550" y="4397375"/>
            <a:ext cx="382588" cy="519113"/>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b="1" i="1"/>
              <a:t>u</a:t>
            </a:r>
            <a:endParaRPr lang="en-US" altLang="zh-CN" sz="2400" b="1"/>
          </a:p>
        </p:txBody>
      </p:sp>
      <p:sp>
        <p:nvSpPr>
          <p:cNvPr id="679956" name="Text Box 20">
            <a:extLst>
              <a:ext uri="{FF2B5EF4-FFF2-40B4-BE49-F238E27FC236}">
                <a16:creationId xmlns:a16="http://schemas.microsoft.com/office/drawing/2014/main" id="{1EE6EBF6-C307-987A-6B26-DD0894E563B1}"/>
              </a:ext>
            </a:extLst>
          </p:cNvPr>
          <p:cNvSpPr txBox="1">
            <a:spLocks noChangeArrowheads="1"/>
          </p:cNvSpPr>
          <p:nvPr/>
        </p:nvSpPr>
        <p:spPr bwMode="auto">
          <a:xfrm>
            <a:off x="4418013" y="1806575"/>
            <a:ext cx="1004887"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H(</a:t>
            </a:r>
            <a:r>
              <a:rPr lang="en-US" altLang="zh-CN" sz="2400" b="1" i="1"/>
              <a:t>u,v</a:t>
            </a:r>
            <a:r>
              <a:rPr lang="en-US" altLang="zh-CN" sz="2400" b="1"/>
              <a:t>)</a:t>
            </a:r>
          </a:p>
        </p:txBody>
      </p:sp>
      <p:sp>
        <p:nvSpPr>
          <p:cNvPr id="679957" name="Text Box 21">
            <a:extLst>
              <a:ext uri="{FF2B5EF4-FFF2-40B4-BE49-F238E27FC236}">
                <a16:creationId xmlns:a16="http://schemas.microsoft.com/office/drawing/2014/main" id="{93135E6C-019D-B082-9D31-5CB5739E95EC}"/>
              </a:ext>
            </a:extLst>
          </p:cNvPr>
          <p:cNvSpPr txBox="1">
            <a:spLocks noChangeArrowheads="1"/>
          </p:cNvSpPr>
          <p:nvPr/>
        </p:nvSpPr>
        <p:spPr bwMode="auto">
          <a:xfrm>
            <a:off x="1889125" y="4797425"/>
            <a:ext cx="50609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spcBef>
                <a:spcPct val="50000"/>
              </a:spcBef>
            </a:pPr>
            <a:r>
              <a:rPr lang="en-US" altLang="zh-CN" sz="2400" b="1">
                <a:solidFill>
                  <a:schemeClr val="accent2"/>
                </a:solidFill>
                <a:latin typeface="方正大黑简体" pitchFamily="65" charset="-122"/>
                <a:ea typeface="方正大黑简体" pitchFamily="65" charset="-122"/>
              </a:rPr>
              <a:t>H(u,v)</a:t>
            </a:r>
            <a:r>
              <a:rPr lang="zh-CN" altLang="en-US" sz="2400" b="1">
                <a:solidFill>
                  <a:schemeClr val="accent2"/>
                </a:solidFill>
                <a:latin typeface="方正大黑简体" pitchFamily="65" charset="-122"/>
                <a:ea typeface="方正大黑简体" pitchFamily="65" charset="-122"/>
              </a:rPr>
              <a:t>作为</a:t>
            </a:r>
            <a:r>
              <a:rPr lang="en-US" altLang="zh-CN" sz="2400" b="1">
                <a:solidFill>
                  <a:schemeClr val="accent2"/>
                </a:solidFill>
                <a:latin typeface="方正大黑简体" pitchFamily="65" charset="-122"/>
                <a:ea typeface="方正大黑简体" pitchFamily="65" charset="-122"/>
              </a:rPr>
              <a:t>u</a:t>
            </a:r>
            <a:r>
              <a:rPr lang="zh-CN" altLang="en-US" sz="2400" b="1">
                <a:solidFill>
                  <a:schemeClr val="accent2"/>
                </a:solidFill>
                <a:latin typeface="方正大黑简体" pitchFamily="65" charset="-122"/>
                <a:ea typeface="方正大黑简体" pitchFamily="65" charset="-122"/>
              </a:rPr>
              <a:t>、</a:t>
            </a:r>
            <a:r>
              <a:rPr lang="en-US" altLang="zh-CN" sz="2400" b="1">
                <a:solidFill>
                  <a:schemeClr val="accent2"/>
                </a:solidFill>
                <a:latin typeface="方正大黑简体" pitchFamily="65" charset="-122"/>
                <a:ea typeface="方正大黑简体" pitchFamily="65" charset="-122"/>
              </a:rPr>
              <a:t>v</a:t>
            </a:r>
            <a:r>
              <a:rPr lang="zh-CN" altLang="en-US" sz="2400" b="1">
                <a:solidFill>
                  <a:schemeClr val="accent2"/>
                </a:solidFill>
                <a:latin typeface="方正大黑简体" pitchFamily="65" charset="-122"/>
                <a:ea typeface="方正大黑简体" pitchFamily="65" charset="-122"/>
              </a:rPr>
              <a:t>的函数的三维透视图</a:t>
            </a:r>
            <a:endParaRPr lang="zh-CN" altLang="en-US" sz="2400" b="1">
              <a:latin typeface="方正大黑简体" pitchFamily="65" charset="-122"/>
              <a:ea typeface="方正大黑简体" pitchFamily="65" charset="-122"/>
            </a:endParaRPr>
          </a:p>
        </p:txBody>
      </p:sp>
      <p:sp>
        <p:nvSpPr>
          <p:cNvPr id="679958" name="AutoShape 22">
            <a:extLst>
              <a:ext uri="{FF2B5EF4-FFF2-40B4-BE49-F238E27FC236}">
                <a16:creationId xmlns:a16="http://schemas.microsoft.com/office/drawing/2014/main" id="{AD1DD95F-EDC5-3603-55CC-17748B40D5A6}"/>
              </a:ext>
            </a:extLst>
          </p:cNvPr>
          <p:cNvSpPr>
            <a:spLocks noChangeArrowheads="1"/>
          </p:cNvSpPr>
          <p:nvPr/>
        </p:nvSpPr>
        <p:spPr bwMode="auto">
          <a:xfrm>
            <a:off x="1225550" y="3025775"/>
            <a:ext cx="6172200" cy="838200"/>
          </a:xfrm>
          <a:prstGeom prst="diamond">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9959" name="Freeform 23">
            <a:extLst>
              <a:ext uri="{FF2B5EF4-FFF2-40B4-BE49-F238E27FC236}">
                <a16:creationId xmlns:a16="http://schemas.microsoft.com/office/drawing/2014/main" id="{29D1D428-91FB-EDE3-9D06-63F14CB6C4E2}"/>
              </a:ext>
            </a:extLst>
          </p:cNvPr>
          <p:cNvSpPr>
            <a:spLocks/>
          </p:cNvSpPr>
          <p:nvPr/>
        </p:nvSpPr>
        <p:spPr bwMode="auto">
          <a:xfrm>
            <a:off x="1301750" y="3406775"/>
            <a:ext cx="6019800" cy="1066800"/>
          </a:xfrm>
          <a:custGeom>
            <a:avLst/>
            <a:gdLst>
              <a:gd name="T0" fmla="*/ 0 w 3888"/>
              <a:gd name="T1" fmla="*/ 0 h 672"/>
              <a:gd name="T2" fmla="*/ 0 w 3888"/>
              <a:gd name="T3" fmla="*/ 384 h 672"/>
              <a:gd name="T4" fmla="*/ 1968 w 3888"/>
              <a:gd name="T5" fmla="*/ 672 h 672"/>
              <a:gd name="T6" fmla="*/ 3888 w 3888"/>
              <a:gd name="T7" fmla="*/ 432 h 672"/>
              <a:gd name="T8" fmla="*/ 3888 w 3888"/>
              <a:gd name="T9" fmla="*/ 0 h 672"/>
              <a:gd name="T10" fmla="*/ 1968 w 3888"/>
              <a:gd name="T11" fmla="*/ 240 h 672"/>
              <a:gd name="T12" fmla="*/ 0 w 3888"/>
              <a:gd name="T13" fmla="*/ 0 h 672"/>
            </a:gdLst>
            <a:ahLst/>
            <a:cxnLst>
              <a:cxn ang="0">
                <a:pos x="T0" y="T1"/>
              </a:cxn>
              <a:cxn ang="0">
                <a:pos x="T2" y="T3"/>
              </a:cxn>
              <a:cxn ang="0">
                <a:pos x="T4" y="T5"/>
              </a:cxn>
              <a:cxn ang="0">
                <a:pos x="T6" y="T7"/>
              </a:cxn>
              <a:cxn ang="0">
                <a:pos x="T8" y="T9"/>
              </a:cxn>
              <a:cxn ang="0">
                <a:pos x="T10" y="T11"/>
              </a:cxn>
              <a:cxn ang="0">
                <a:pos x="T12" y="T13"/>
              </a:cxn>
            </a:cxnLst>
            <a:rect l="0" t="0" r="r" b="b"/>
            <a:pathLst>
              <a:path w="3888" h="672">
                <a:moveTo>
                  <a:pt x="0" y="0"/>
                </a:moveTo>
                <a:lnTo>
                  <a:pt x="0" y="384"/>
                </a:lnTo>
                <a:lnTo>
                  <a:pt x="1968" y="672"/>
                </a:lnTo>
                <a:lnTo>
                  <a:pt x="3888" y="432"/>
                </a:lnTo>
                <a:lnTo>
                  <a:pt x="3888" y="0"/>
                </a:lnTo>
                <a:lnTo>
                  <a:pt x="1968" y="240"/>
                </a:lnTo>
                <a:lnTo>
                  <a:pt x="0" y="0"/>
                </a:lnTo>
                <a:close/>
              </a:path>
            </a:pathLst>
          </a:custGeom>
          <a:solidFill>
            <a:srgbClr val="D60093"/>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9960" name="Oval 24">
            <a:extLst>
              <a:ext uri="{FF2B5EF4-FFF2-40B4-BE49-F238E27FC236}">
                <a16:creationId xmlns:a16="http://schemas.microsoft.com/office/drawing/2014/main" id="{2561E919-58B2-D3C9-3996-7F2E886F0105}"/>
              </a:ext>
            </a:extLst>
          </p:cNvPr>
          <p:cNvSpPr>
            <a:spLocks noChangeArrowheads="1"/>
          </p:cNvSpPr>
          <p:nvPr/>
        </p:nvSpPr>
        <p:spPr bwMode="auto">
          <a:xfrm>
            <a:off x="3587750" y="3254375"/>
            <a:ext cx="1447800" cy="3048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9961" name="Line 25">
            <a:extLst>
              <a:ext uri="{FF2B5EF4-FFF2-40B4-BE49-F238E27FC236}">
                <a16:creationId xmlns:a16="http://schemas.microsoft.com/office/drawing/2014/main" id="{3ED4B52C-E2C6-527F-5F52-61BA43BE7608}"/>
              </a:ext>
            </a:extLst>
          </p:cNvPr>
          <p:cNvSpPr>
            <a:spLocks noChangeShapeType="1"/>
          </p:cNvSpPr>
          <p:nvPr/>
        </p:nvSpPr>
        <p:spPr bwMode="auto">
          <a:xfrm flipV="1">
            <a:off x="4349750" y="2035175"/>
            <a:ext cx="0" cy="12954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9962" name="Line 26">
            <a:extLst>
              <a:ext uri="{FF2B5EF4-FFF2-40B4-BE49-F238E27FC236}">
                <a16:creationId xmlns:a16="http://schemas.microsoft.com/office/drawing/2014/main" id="{7A714C50-5844-31E5-EF00-93082117581C}"/>
              </a:ext>
            </a:extLst>
          </p:cNvPr>
          <p:cNvSpPr>
            <a:spLocks noChangeShapeType="1"/>
          </p:cNvSpPr>
          <p:nvPr/>
        </p:nvSpPr>
        <p:spPr bwMode="auto">
          <a:xfrm>
            <a:off x="4349750" y="3787775"/>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ransition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a:extLst>
              <a:ext uri="{FF2B5EF4-FFF2-40B4-BE49-F238E27FC236}">
                <a16:creationId xmlns:a16="http://schemas.microsoft.com/office/drawing/2014/main" id="{82EA4A93-506B-5C82-833E-69B6910F07D5}"/>
              </a:ext>
            </a:extLst>
          </p:cNvPr>
          <p:cNvSpPr>
            <a:spLocks noChangeArrowheads="1"/>
          </p:cNvSpPr>
          <p:nvPr/>
        </p:nvSpPr>
        <p:spPr bwMode="auto">
          <a:xfrm>
            <a:off x="609600" y="152400"/>
            <a:ext cx="4894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3.4.3 </a:t>
            </a:r>
            <a:r>
              <a:rPr lang="zh-CN" altLang="en-US" b="1">
                <a:solidFill>
                  <a:schemeClr val="accent1"/>
                </a:solidFill>
                <a:effectLst>
                  <a:outerShdw blurRad="38100" dist="38100" dir="2700000" algn="tl">
                    <a:srgbClr val="000000"/>
                  </a:outerShdw>
                </a:effectLst>
              </a:rPr>
              <a:t>高通滤波</a:t>
            </a:r>
          </a:p>
        </p:txBody>
      </p:sp>
      <p:sp>
        <p:nvSpPr>
          <p:cNvPr id="677897" name="Rectangle 9">
            <a:extLst>
              <a:ext uri="{FF2B5EF4-FFF2-40B4-BE49-F238E27FC236}">
                <a16:creationId xmlns:a16="http://schemas.microsoft.com/office/drawing/2014/main" id="{91F2BC19-5CC3-C464-BAAA-39A7D4D380AA}"/>
              </a:ext>
            </a:extLst>
          </p:cNvPr>
          <p:cNvSpPr>
            <a:spLocks noChangeArrowheads="1"/>
          </p:cNvSpPr>
          <p:nvPr/>
        </p:nvSpPr>
        <p:spPr bwMode="auto">
          <a:xfrm>
            <a:off x="0" y="765175"/>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二、巴特沃斯高通滤波器</a:t>
            </a:r>
          </a:p>
        </p:txBody>
      </p:sp>
      <p:sp>
        <p:nvSpPr>
          <p:cNvPr id="677898" name="Rectangle 10">
            <a:extLst>
              <a:ext uri="{FF2B5EF4-FFF2-40B4-BE49-F238E27FC236}">
                <a16:creationId xmlns:a16="http://schemas.microsoft.com/office/drawing/2014/main" id="{831D7DE6-FD4D-8004-687A-25385C03DDE0}"/>
              </a:ext>
            </a:extLst>
          </p:cNvPr>
          <p:cNvSpPr>
            <a:spLocks noChangeArrowheads="1"/>
          </p:cNvSpPr>
          <p:nvPr/>
        </p:nvSpPr>
        <p:spPr bwMode="auto">
          <a:xfrm>
            <a:off x="679450" y="4365625"/>
            <a:ext cx="7200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i="1">
                <a:effectLst>
                  <a:outerShdw blurRad="38100" dist="38100" dir="2700000" algn="tl">
                    <a:srgbClr val="000000"/>
                  </a:outerShdw>
                </a:effectLst>
              </a:rPr>
              <a:t>n </a:t>
            </a:r>
            <a:r>
              <a:rPr lang="zh-CN" altLang="en-US" sz="2400" b="1">
                <a:effectLst>
                  <a:outerShdw blurRad="38100" dist="38100" dir="2700000" algn="tl">
                    <a:srgbClr val="000000"/>
                  </a:outerShdw>
                </a:effectLst>
              </a:rPr>
              <a:t>为滤波器的阶次，</a:t>
            </a:r>
            <a:r>
              <a:rPr lang="en-US" altLang="zh-CN" sz="2400" b="1" i="1">
                <a:effectLst>
                  <a:outerShdw blurRad="38100" dist="38100" dir="2700000" algn="tl">
                    <a:srgbClr val="000000"/>
                  </a:outerShdw>
                </a:effectLst>
              </a:rPr>
              <a:t>D</a:t>
            </a:r>
            <a:r>
              <a:rPr lang="en-US" altLang="zh-CN" sz="2400" b="1" i="1" baseline="-25000">
                <a:effectLst>
                  <a:outerShdw blurRad="38100" dist="38100" dir="2700000" algn="tl">
                    <a:srgbClr val="000000"/>
                  </a:outerShdw>
                </a:effectLst>
              </a:rPr>
              <a:t>0</a:t>
            </a:r>
            <a:r>
              <a:rPr lang="zh-CN" altLang="en-US" sz="2400" b="1">
                <a:effectLst>
                  <a:outerShdw blurRad="38100" dist="38100" dir="2700000" algn="tl">
                    <a:srgbClr val="000000"/>
                  </a:outerShdw>
                </a:effectLst>
              </a:rPr>
              <a:t>为滤波器的截止频率</a:t>
            </a:r>
          </a:p>
        </p:txBody>
      </p:sp>
      <p:graphicFrame>
        <p:nvGraphicFramePr>
          <p:cNvPr id="677899" name="Object 11">
            <a:extLst>
              <a:ext uri="{FF2B5EF4-FFF2-40B4-BE49-F238E27FC236}">
                <a16:creationId xmlns:a16="http://schemas.microsoft.com/office/drawing/2014/main" id="{F2E06EF5-56C8-0016-72EF-804457FD9863}"/>
              </a:ext>
            </a:extLst>
          </p:cNvPr>
          <p:cNvGraphicFramePr>
            <a:graphicFrameLocks noChangeAspect="1"/>
          </p:cNvGraphicFramePr>
          <p:nvPr/>
        </p:nvGraphicFramePr>
        <p:xfrm>
          <a:off x="1758950" y="2997200"/>
          <a:ext cx="3733800" cy="920750"/>
        </p:xfrm>
        <a:graphic>
          <a:graphicData uri="http://schemas.openxmlformats.org/presentationml/2006/ole">
            <mc:AlternateContent xmlns:mc="http://schemas.openxmlformats.org/markup-compatibility/2006">
              <mc:Choice xmlns:v="urn:schemas-microsoft-com:vml" Requires="v">
                <p:oleObj name="Microsoft 公式 3.0" r:id="rId3" imgW="40373300" imgH="9944100" progId="Equation.3">
                  <p:embed/>
                </p:oleObj>
              </mc:Choice>
              <mc:Fallback>
                <p:oleObj name="Microsoft 公式 3.0" r:id="rId3" imgW="40373300" imgH="99441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8950" y="2997200"/>
                        <a:ext cx="3733800"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7900" name="Rectangle 12">
            <a:extLst>
              <a:ext uri="{FF2B5EF4-FFF2-40B4-BE49-F238E27FC236}">
                <a16:creationId xmlns:a16="http://schemas.microsoft.com/office/drawing/2014/main" id="{0FD60072-CBDF-4327-44DC-476C5E363677}"/>
              </a:ext>
            </a:extLst>
          </p:cNvPr>
          <p:cNvSpPr>
            <a:spLocks noGrp="1" noChangeArrowheads="1"/>
          </p:cNvSpPr>
          <p:nvPr>
            <p:ph type="body" idx="1"/>
          </p:nvPr>
        </p:nvSpPr>
        <p:spPr>
          <a:xfrm>
            <a:off x="0" y="1773238"/>
            <a:ext cx="9577388" cy="2438400"/>
          </a:xfrm>
          <a:noFill/>
          <a:ln/>
        </p:spPr>
        <p:txBody>
          <a:bodyPr/>
          <a:lstStyle/>
          <a:p>
            <a:pPr>
              <a:buFont typeface="Monotype Sorts" pitchFamily="2" charset="2"/>
              <a:buNone/>
            </a:pPr>
            <a:r>
              <a:rPr lang="zh-CN" altLang="en-US" sz="2400" b="1">
                <a:solidFill>
                  <a:srgbClr val="34F7F2"/>
                </a:solidFill>
              </a:rPr>
              <a:t>定义：一个截止频率在与原点距离为</a:t>
            </a:r>
            <a:r>
              <a:rPr lang="en-US" altLang="zh-CN" sz="2400" b="1">
                <a:solidFill>
                  <a:srgbClr val="34F7F2"/>
                </a:solidFill>
              </a:rPr>
              <a:t>D0</a:t>
            </a:r>
            <a:r>
              <a:rPr lang="zh-CN" altLang="en-US" sz="2400" b="1">
                <a:solidFill>
                  <a:srgbClr val="34F7F2"/>
                </a:solidFill>
              </a:rPr>
              <a:t>的</a:t>
            </a:r>
            <a:r>
              <a:rPr lang="en-US" altLang="zh-CN" sz="2400" b="1">
                <a:solidFill>
                  <a:srgbClr val="34F7F2"/>
                </a:solidFill>
              </a:rPr>
              <a:t>n</a:t>
            </a:r>
            <a:r>
              <a:rPr lang="zh-CN" altLang="en-US" sz="2400" b="1">
                <a:solidFill>
                  <a:srgbClr val="34F7F2"/>
                </a:solidFill>
              </a:rPr>
              <a:t>阶</a:t>
            </a:r>
            <a:r>
              <a:rPr lang="en-US" altLang="zh-CN" sz="2400" b="1">
                <a:solidFill>
                  <a:srgbClr val="34F7F2"/>
                </a:solidFill>
              </a:rPr>
              <a:t>Butterworth</a:t>
            </a:r>
            <a:r>
              <a:rPr lang="zh-CN" altLang="en-US" sz="2400" b="1">
                <a:solidFill>
                  <a:srgbClr val="34F7F2"/>
                </a:solidFill>
              </a:rPr>
              <a:t>高通滤波器（</a:t>
            </a:r>
            <a:r>
              <a:rPr lang="en-US" altLang="zh-CN" sz="2400" b="1">
                <a:solidFill>
                  <a:srgbClr val="34F7F2"/>
                </a:solidFill>
              </a:rPr>
              <a:t>BHPF</a:t>
            </a:r>
            <a:r>
              <a:rPr lang="zh-CN" altLang="en-US" sz="2400" b="1">
                <a:solidFill>
                  <a:srgbClr val="34F7F2"/>
                </a:solidFill>
              </a:rPr>
              <a:t>）的变换函数如下：</a:t>
            </a:r>
          </a:p>
        </p:txBody>
      </p:sp>
    </p:spTree>
  </p:cSld>
  <p:clrMapOvr>
    <a:masterClrMapping/>
  </p:clrMapOvr>
  <p:transition advTm="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a:extLst>
              <a:ext uri="{FF2B5EF4-FFF2-40B4-BE49-F238E27FC236}">
                <a16:creationId xmlns:a16="http://schemas.microsoft.com/office/drawing/2014/main" id="{9A8DE8DE-21DF-CD10-22E3-7DD6B49D2220}"/>
              </a:ext>
            </a:extLst>
          </p:cNvPr>
          <p:cNvSpPr>
            <a:spLocks noChangeArrowheads="1"/>
          </p:cNvSpPr>
          <p:nvPr/>
        </p:nvSpPr>
        <p:spPr bwMode="auto">
          <a:xfrm>
            <a:off x="609600" y="152400"/>
            <a:ext cx="4894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3.4.3 </a:t>
            </a:r>
            <a:r>
              <a:rPr lang="zh-CN" altLang="en-US" b="1">
                <a:solidFill>
                  <a:schemeClr val="accent1"/>
                </a:solidFill>
                <a:effectLst>
                  <a:outerShdw blurRad="38100" dist="38100" dir="2700000" algn="tl">
                    <a:srgbClr val="000000"/>
                  </a:outerShdw>
                </a:effectLst>
              </a:rPr>
              <a:t>高通滤波</a:t>
            </a:r>
          </a:p>
        </p:txBody>
      </p:sp>
      <p:sp>
        <p:nvSpPr>
          <p:cNvPr id="681992" name="Rectangle 8">
            <a:extLst>
              <a:ext uri="{FF2B5EF4-FFF2-40B4-BE49-F238E27FC236}">
                <a16:creationId xmlns:a16="http://schemas.microsoft.com/office/drawing/2014/main" id="{5ABB1C9C-1AA3-E67E-B743-FC83C185B282}"/>
              </a:ext>
            </a:extLst>
          </p:cNvPr>
          <p:cNvSpPr>
            <a:spLocks noChangeArrowheads="1"/>
          </p:cNvSpPr>
          <p:nvPr>
            <p:ph type="body" idx="1"/>
          </p:nvPr>
        </p:nvSpPr>
        <p:spPr>
          <a:xfrm>
            <a:off x="390525" y="981075"/>
            <a:ext cx="8382000" cy="914400"/>
          </a:xfrm>
          <a:noFill/>
          <a:ln/>
        </p:spPr>
        <p:txBody>
          <a:bodyPr/>
          <a:lstStyle/>
          <a:p>
            <a:pPr>
              <a:buFont typeface="Monotype Sorts" pitchFamily="2" charset="2"/>
              <a:buNone/>
            </a:pPr>
            <a:r>
              <a:rPr lang="en-US" altLang="zh-CN" sz="2800" b="1"/>
              <a:t>Butterworth</a:t>
            </a:r>
            <a:r>
              <a:rPr lang="zh-CN" altLang="en-US" sz="2800" b="1"/>
              <a:t>高通滤波器的截面图</a:t>
            </a:r>
          </a:p>
        </p:txBody>
      </p:sp>
      <p:grpSp>
        <p:nvGrpSpPr>
          <p:cNvPr id="682012" name="Group 28">
            <a:extLst>
              <a:ext uri="{FF2B5EF4-FFF2-40B4-BE49-F238E27FC236}">
                <a16:creationId xmlns:a16="http://schemas.microsoft.com/office/drawing/2014/main" id="{43386BD7-E7A9-06D2-2980-8A9E88A0C94B}"/>
              </a:ext>
            </a:extLst>
          </p:cNvPr>
          <p:cNvGrpSpPr>
            <a:grpSpLocks/>
          </p:cNvGrpSpPr>
          <p:nvPr/>
        </p:nvGrpSpPr>
        <p:grpSpPr bwMode="auto">
          <a:xfrm>
            <a:off x="1181100" y="1484313"/>
            <a:ext cx="8353425" cy="3657600"/>
            <a:chOff x="744" y="1872"/>
            <a:chExt cx="5262" cy="2304"/>
          </a:xfrm>
        </p:grpSpPr>
        <p:sp>
          <p:nvSpPr>
            <p:cNvPr id="681993" name="Line 9">
              <a:extLst>
                <a:ext uri="{FF2B5EF4-FFF2-40B4-BE49-F238E27FC236}">
                  <a16:creationId xmlns:a16="http://schemas.microsoft.com/office/drawing/2014/main" id="{7BCD2805-35F5-391C-C9A6-C21B2EA62B75}"/>
                </a:ext>
              </a:extLst>
            </p:cNvPr>
            <p:cNvSpPr>
              <a:spLocks noChangeShapeType="1"/>
            </p:cNvSpPr>
            <p:nvPr/>
          </p:nvSpPr>
          <p:spPr bwMode="auto">
            <a:xfrm>
              <a:off x="1096" y="3936"/>
              <a:ext cx="2544"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1994" name="Line 10">
              <a:extLst>
                <a:ext uri="{FF2B5EF4-FFF2-40B4-BE49-F238E27FC236}">
                  <a16:creationId xmlns:a16="http://schemas.microsoft.com/office/drawing/2014/main" id="{3A2EE6B3-101D-2083-D83E-DF3A9195E898}"/>
                </a:ext>
              </a:extLst>
            </p:cNvPr>
            <p:cNvSpPr>
              <a:spLocks noChangeShapeType="1"/>
            </p:cNvSpPr>
            <p:nvPr/>
          </p:nvSpPr>
          <p:spPr bwMode="auto">
            <a:xfrm flipV="1">
              <a:off x="1096" y="1872"/>
              <a:ext cx="0" cy="206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1995" name="Line 11">
              <a:extLst>
                <a:ext uri="{FF2B5EF4-FFF2-40B4-BE49-F238E27FC236}">
                  <a16:creationId xmlns:a16="http://schemas.microsoft.com/office/drawing/2014/main" id="{7ABA3096-68D9-4E61-F13C-2E00D7CC6C2A}"/>
                </a:ext>
              </a:extLst>
            </p:cNvPr>
            <p:cNvSpPr>
              <a:spLocks noChangeShapeType="1"/>
            </p:cNvSpPr>
            <p:nvPr/>
          </p:nvSpPr>
          <p:spPr bwMode="auto">
            <a:xfrm>
              <a:off x="1056" y="3312"/>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1996" name="Line 12">
              <a:extLst>
                <a:ext uri="{FF2B5EF4-FFF2-40B4-BE49-F238E27FC236}">
                  <a16:creationId xmlns:a16="http://schemas.microsoft.com/office/drawing/2014/main" id="{17156D85-67CF-51E6-2004-B3689CBBB9DC}"/>
                </a:ext>
              </a:extLst>
            </p:cNvPr>
            <p:cNvSpPr>
              <a:spLocks noChangeShapeType="1"/>
            </p:cNvSpPr>
            <p:nvPr/>
          </p:nvSpPr>
          <p:spPr bwMode="auto">
            <a:xfrm flipH="1">
              <a:off x="2440" y="3840"/>
              <a:ext cx="8"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1997" name="Text Box 13">
              <a:extLst>
                <a:ext uri="{FF2B5EF4-FFF2-40B4-BE49-F238E27FC236}">
                  <a16:creationId xmlns:a16="http://schemas.microsoft.com/office/drawing/2014/main" id="{8FFAC65C-37CB-68F3-EA45-5F0B7DB43E87}"/>
                </a:ext>
              </a:extLst>
            </p:cNvPr>
            <p:cNvSpPr txBox="1">
              <a:spLocks noChangeArrowheads="1"/>
            </p:cNvSpPr>
            <p:nvPr/>
          </p:nvSpPr>
          <p:spPr bwMode="auto">
            <a:xfrm>
              <a:off x="980" y="3888"/>
              <a:ext cx="212"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0</a:t>
              </a:r>
            </a:p>
          </p:txBody>
        </p:sp>
        <p:sp>
          <p:nvSpPr>
            <p:cNvPr id="681998" name="Text Box 14">
              <a:extLst>
                <a:ext uri="{FF2B5EF4-FFF2-40B4-BE49-F238E27FC236}">
                  <a16:creationId xmlns:a16="http://schemas.microsoft.com/office/drawing/2014/main" id="{B4A153AB-4D75-53D0-97BD-0F29A36731FE}"/>
                </a:ext>
              </a:extLst>
            </p:cNvPr>
            <p:cNvSpPr txBox="1">
              <a:spLocks noChangeArrowheads="1"/>
            </p:cNvSpPr>
            <p:nvPr/>
          </p:nvSpPr>
          <p:spPr bwMode="auto">
            <a:xfrm>
              <a:off x="2318" y="3888"/>
              <a:ext cx="212"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2</a:t>
              </a:r>
            </a:p>
          </p:txBody>
        </p:sp>
        <p:sp>
          <p:nvSpPr>
            <p:cNvPr id="681999" name="Text Box 15">
              <a:extLst>
                <a:ext uri="{FF2B5EF4-FFF2-40B4-BE49-F238E27FC236}">
                  <a16:creationId xmlns:a16="http://schemas.microsoft.com/office/drawing/2014/main" id="{9B6AA98A-EA07-1272-D429-2689B951BBBA}"/>
                </a:ext>
              </a:extLst>
            </p:cNvPr>
            <p:cNvSpPr txBox="1">
              <a:spLocks noChangeArrowheads="1"/>
            </p:cNvSpPr>
            <p:nvPr/>
          </p:nvSpPr>
          <p:spPr bwMode="auto">
            <a:xfrm>
              <a:off x="3696" y="3792"/>
              <a:ext cx="879"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D(</a:t>
              </a:r>
              <a:r>
                <a:rPr lang="en-US" altLang="zh-CN" sz="2400" b="1" i="1"/>
                <a:t>u,v</a:t>
              </a:r>
              <a:r>
                <a:rPr lang="en-US" altLang="zh-CN" sz="2400" b="1"/>
                <a:t>)/D</a:t>
              </a:r>
              <a:r>
                <a:rPr lang="en-US" altLang="zh-CN" sz="2400" b="1" baseline="-25000"/>
                <a:t>0</a:t>
              </a:r>
              <a:endParaRPr lang="en-US" altLang="zh-CN" sz="2400" b="1"/>
            </a:p>
          </p:txBody>
        </p:sp>
        <p:sp>
          <p:nvSpPr>
            <p:cNvPr id="682000" name="Text Box 16">
              <a:extLst>
                <a:ext uri="{FF2B5EF4-FFF2-40B4-BE49-F238E27FC236}">
                  <a16:creationId xmlns:a16="http://schemas.microsoft.com/office/drawing/2014/main" id="{61A6FA75-49CF-3EB2-17C2-6AFD42B0231C}"/>
                </a:ext>
              </a:extLst>
            </p:cNvPr>
            <p:cNvSpPr txBox="1">
              <a:spLocks noChangeArrowheads="1"/>
            </p:cNvSpPr>
            <p:nvPr/>
          </p:nvSpPr>
          <p:spPr bwMode="auto">
            <a:xfrm>
              <a:off x="1144" y="1872"/>
              <a:ext cx="633"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H(</a:t>
              </a:r>
              <a:r>
                <a:rPr lang="en-US" altLang="zh-CN" sz="2400" b="1" i="1"/>
                <a:t>u,v</a:t>
              </a:r>
              <a:r>
                <a:rPr lang="en-US" altLang="zh-CN" sz="2400" b="1"/>
                <a:t>)</a:t>
              </a:r>
            </a:p>
          </p:txBody>
        </p:sp>
        <p:sp>
          <p:nvSpPr>
            <p:cNvPr id="682001" name="Text Box 17">
              <a:extLst>
                <a:ext uri="{FF2B5EF4-FFF2-40B4-BE49-F238E27FC236}">
                  <a16:creationId xmlns:a16="http://schemas.microsoft.com/office/drawing/2014/main" id="{9F9A3038-F809-DA5D-997B-35202E467E74}"/>
                </a:ext>
              </a:extLst>
            </p:cNvPr>
            <p:cNvSpPr txBox="1">
              <a:spLocks noChangeArrowheads="1"/>
            </p:cNvSpPr>
            <p:nvPr/>
          </p:nvSpPr>
          <p:spPr bwMode="auto">
            <a:xfrm>
              <a:off x="864" y="2544"/>
              <a:ext cx="212"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1</a:t>
              </a:r>
            </a:p>
          </p:txBody>
        </p:sp>
        <p:sp>
          <p:nvSpPr>
            <p:cNvPr id="682002" name="Text Box 18">
              <a:extLst>
                <a:ext uri="{FF2B5EF4-FFF2-40B4-BE49-F238E27FC236}">
                  <a16:creationId xmlns:a16="http://schemas.microsoft.com/office/drawing/2014/main" id="{11CD069E-958D-B888-DCA8-D50552EB2770}"/>
                </a:ext>
              </a:extLst>
            </p:cNvPr>
            <p:cNvSpPr txBox="1">
              <a:spLocks noChangeArrowheads="1"/>
            </p:cNvSpPr>
            <p:nvPr/>
          </p:nvSpPr>
          <p:spPr bwMode="auto">
            <a:xfrm>
              <a:off x="2378" y="2069"/>
              <a:ext cx="3628"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spcBef>
                  <a:spcPct val="50000"/>
                </a:spcBef>
              </a:pPr>
              <a:r>
                <a:rPr lang="en-US" altLang="zh-CN" sz="2400" b="1">
                  <a:solidFill>
                    <a:schemeClr val="accent2"/>
                  </a:solidFill>
                  <a:latin typeface="方正大黑简体" pitchFamily="65" charset="-122"/>
                  <a:ea typeface="方正大黑简体" pitchFamily="65" charset="-122"/>
                </a:rPr>
                <a:t>H(u,v)</a:t>
              </a:r>
              <a:r>
                <a:rPr lang="zh-CN" altLang="en-US" sz="2400" b="1">
                  <a:solidFill>
                    <a:schemeClr val="accent2"/>
                  </a:solidFill>
                  <a:latin typeface="方正大黑简体" pitchFamily="65" charset="-122"/>
                  <a:ea typeface="方正大黑简体" pitchFamily="65" charset="-122"/>
                </a:rPr>
                <a:t>作为</a:t>
              </a:r>
              <a:r>
                <a:rPr lang="en-US" altLang="zh-CN" sz="2400" b="1">
                  <a:solidFill>
                    <a:schemeClr val="accent2"/>
                  </a:solidFill>
                  <a:latin typeface="方正大黑简体" pitchFamily="65" charset="-122"/>
                  <a:ea typeface="方正大黑简体" pitchFamily="65" charset="-122"/>
                </a:rPr>
                <a:t>D(u,v)/D</a:t>
              </a:r>
              <a:r>
                <a:rPr lang="en-US" altLang="zh-CN" sz="2400" b="1" baseline="-25000">
                  <a:solidFill>
                    <a:schemeClr val="accent2"/>
                  </a:solidFill>
                  <a:latin typeface="方正大黑简体" pitchFamily="65" charset="-122"/>
                  <a:ea typeface="方正大黑简体" pitchFamily="65" charset="-122"/>
                </a:rPr>
                <a:t>0</a:t>
              </a:r>
              <a:r>
                <a:rPr lang="zh-CN" altLang="en-US" sz="2400" b="1">
                  <a:solidFill>
                    <a:schemeClr val="accent2"/>
                  </a:solidFill>
                  <a:latin typeface="方正大黑简体" pitchFamily="65" charset="-122"/>
                  <a:ea typeface="方正大黑简体" pitchFamily="65" charset="-122"/>
                </a:rPr>
                <a:t>的函数的截面图</a:t>
              </a:r>
              <a:endParaRPr lang="zh-CN" altLang="en-US" sz="2400" b="1">
                <a:latin typeface="方正大黑简体" pitchFamily="65" charset="-122"/>
                <a:ea typeface="方正大黑简体" pitchFamily="65" charset="-122"/>
              </a:endParaRPr>
            </a:p>
          </p:txBody>
        </p:sp>
        <p:sp>
          <p:nvSpPr>
            <p:cNvPr id="682003" name="Text Box 19">
              <a:extLst>
                <a:ext uri="{FF2B5EF4-FFF2-40B4-BE49-F238E27FC236}">
                  <a16:creationId xmlns:a16="http://schemas.microsoft.com/office/drawing/2014/main" id="{911D7D11-1948-6F0D-B1DC-B44B66C4C8BD}"/>
                </a:ext>
              </a:extLst>
            </p:cNvPr>
            <p:cNvSpPr txBox="1">
              <a:spLocks noChangeArrowheads="1"/>
            </p:cNvSpPr>
            <p:nvPr/>
          </p:nvSpPr>
          <p:spPr bwMode="auto">
            <a:xfrm>
              <a:off x="1680" y="3888"/>
              <a:ext cx="212"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1</a:t>
              </a:r>
            </a:p>
          </p:txBody>
        </p:sp>
        <p:sp>
          <p:nvSpPr>
            <p:cNvPr id="682004" name="Text Box 20">
              <a:extLst>
                <a:ext uri="{FF2B5EF4-FFF2-40B4-BE49-F238E27FC236}">
                  <a16:creationId xmlns:a16="http://schemas.microsoft.com/office/drawing/2014/main" id="{B1F37E7E-F584-8198-1EFD-45D866F15F8B}"/>
                </a:ext>
              </a:extLst>
            </p:cNvPr>
            <p:cNvSpPr txBox="1">
              <a:spLocks noChangeArrowheads="1"/>
            </p:cNvSpPr>
            <p:nvPr/>
          </p:nvSpPr>
          <p:spPr bwMode="auto">
            <a:xfrm>
              <a:off x="2976" y="3888"/>
              <a:ext cx="212"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3</a:t>
              </a:r>
            </a:p>
          </p:txBody>
        </p:sp>
        <p:sp>
          <p:nvSpPr>
            <p:cNvPr id="682005" name="Text Box 21">
              <a:extLst>
                <a:ext uri="{FF2B5EF4-FFF2-40B4-BE49-F238E27FC236}">
                  <a16:creationId xmlns:a16="http://schemas.microsoft.com/office/drawing/2014/main" id="{51F236EC-623B-6514-C1BF-81F68F19812A}"/>
                </a:ext>
              </a:extLst>
            </p:cNvPr>
            <p:cNvSpPr txBox="1">
              <a:spLocks noChangeArrowheads="1"/>
            </p:cNvSpPr>
            <p:nvPr/>
          </p:nvSpPr>
          <p:spPr bwMode="auto">
            <a:xfrm>
              <a:off x="744" y="3168"/>
              <a:ext cx="356"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0.5</a:t>
              </a:r>
            </a:p>
          </p:txBody>
        </p:sp>
        <p:sp>
          <p:nvSpPr>
            <p:cNvPr id="682006" name="Line 22">
              <a:extLst>
                <a:ext uri="{FF2B5EF4-FFF2-40B4-BE49-F238E27FC236}">
                  <a16:creationId xmlns:a16="http://schemas.microsoft.com/office/drawing/2014/main" id="{63B8E39F-2B24-72E6-E7A3-08EC7CE6DC8A}"/>
                </a:ext>
              </a:extLst>
            </p:cNvPr>
            <p:cNvSpPr>
              <a:spLocks noChangeShapeType="1"/>
            </p:cNvSpPr>
            <p:nvPr/>
          </p:nvSpPr>
          <p:spPr bwMode="auto">
            <a:xfrm flipH="1" flipV="1">
              <a:off x="3072" y="384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2007" name="Line 23">
              <a:extLst>
                <a:ext uri="{FF2B5EF4-FFF2-40B4-BE49-F238E27FC236}">
                  <a16:creationId xmlns:a16="http://schemas.microsoft.com/office/drawing/2014/main" id="{6DD3A6CC-7716-22FE-E92E-C7CAC62C155C}"/>
                </a:ext>
              </a:extLst>
            </p:cNvPr>
            <p:cNvSpPr>
              <a:spLocks noChangeShapeType="1"/>
            </p:cNvSpPr>
            <p:nvPr/>
          </p:nvSpPr>
          <p:spPr bwMode="auto">
            <a:xfrm flipH="1">
              <a:off x="1776" y="3840"/>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2008" name="Line 24">
              <a:extLst>
                <a:ext uri="{FF2B5EF4-FFF2-40B4-BE49-F238E27FC236}">
                  <a16:creationId xmlns:a16="http://schemas.microsoft.com/office/drawing/2014/main" id="{2F00C39A-ECAA-4029-14A7-80CCD55F6CEB}"/>
                </a:ext>
              </a:extLst>
            </p:cNvPr>
            <p:cNvSpPr>
              <a:spLocks noChangeShapeType="1"/>
            </p:cNvSpPr>
            <p:nvPr/>
          </p:nvSpPr>
          <p:spPr bwMode="auto">
            <a:xfrm>
              <a:off x="1104" y="3312"/>
              <a:ext cx="81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2009" name="Line 25">
              <a:extLst>
                <a:ext uri="{FF2B5EF4-FFF2-40B4-BE49-F238E27FC236}">
                  <a16:creationId xmlns:a16="http://schemas.microsoft.com/office/drawing/2014/main" id="{0BEFE5FD-7162-AC44-57B5-8629940C8A31}"/>
                </a:ext>
              </a:extLst>
            </p:cNvPr>
            <p:cNvSpPr>
              <a:spLocks noChangeShapeType="1"/>
            </p:cNvSpPr>
            <p:nvPr/>
          </p:nvSpPr>
          <p:spPr bwMode="auto">
            <a:xfrm>
              <a:off x="1920" y="3312"/>
              <a:ext cx="0" cy="62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2010" name="Freeform 26">
              <a:extLst>
                <a:ext uri="{FF2B5EF4-FFF2-40B4-BE49-F238E27FC236}">
                  <a16:creationId xmlns:a16="http://schemas.microsoft.com/office/drawing/2014/main" id="{0769C3A6-A540-168C-2E58-4A40CD64DCD1}"/>
                </a:ext>
              </a:extLst>
            </p:cNvPr>
            <p:cNvSpPr>
              <a:spLocks/>
            </p:cNvSpPr>
            <p:nvPr/>
          </p:nvSpPr>
          <p:spPr bwMode="auto">
            <a:xfrm>
              <a:off x="1104" y="2784"/>
              <a:ext cx="1968" cy="1152"/>
            </a:xfrm>
            <a:custGeom>
              <a:avLst/>
              <a:gdLst>
                <a:gd name="T0" fmla="*/ 0 w 1968"/>
                <a:gd name="T1" fmla="*/ 960 h 960"/>
                <a:gd name="T2" fmla="*/ 192 w 1968"/>
                <a:gd name="T3" fmla="*/ 912 h 960"/>
                <a:gd name="T4" fmla="*/ 432 w 1968"/>
                <a:gd name="T5" fmla="*/ 768 h 960"/>
                <a:gd name="T6" fmla="*/ 816 w 1968"/>
                <a:gd name="T7" fmla="*/ 432 h 960"/>
                <a:gd name="T8" fmla="*/ 1200 w 1968"/>
                <a:gd name="T9" fmla="*/ 192 h 960"/>
                <a:gd name="T10" fmla="*/ 1584 w 1968"/>
                <a:gd name="T11" fmla="*/ 48 h 960"/>
                <a:gd name="T12" fmla="*/ 1968 w 1968"/>
                <a:gd name="T13" fmla="*/ 0 h 960"/>
              </a:gdLst>
              <a:ahLst/>
              <a:cxnLst>
                <a:cxn ang="0">
                  <a:pos x="T0" y="T1"/>
                </a:cxn>
                <a:cxn ang="0">
                  <a:pos x="T2" y="T3"/>
                </a:cxn>
                <a:cxn ang="0">
                  <a:pos x="T4" y="T5"/>
                </a:cxn>
                <a:cxn ang="0">
                  <a:pos x="T6" y="T7"/>
                </a:cxn>
                <a:cxn ang="0">
                  <a:pos x="T8" y="T9"/>
                </a:cxn>
                <a:cxn ang="0">
                  <a:pos x="T10" y="T11"/>
                </a:cxn>
                <a:cxn ang="0">
                  <a:pos x="T12" y="T13"/>
                </a:cxn>
              </a:cxnLst>
              <a:rect l="0" t="0" r="r" b="b"/>
              <a:pathLst>
                <a:path w="1968" h="960">
                  <a:moveTo>
                    <a:pt x="0" y="960"/>
                  </a:moveTo>
                  <a:cubicBezTo>
                    <a:pt x="60" y="952"/>
                    <a:pt x="120" y="944"/>
                    <a:pt x="192" y="912"/>
                  </a:cubicBezTo>
                  <a:cubicBezTo>
                    <a:pt x="264" y="880"/>
                    <a:pt x="328" y="848"/>
                    <a:pt x="432" y="768"/>
                  </a:cubicBezTo>
                  <a:cubicBezTo>
                    <a:pt x="536" y="688"/>
                    <a:pt x="688" y="528"/>
                    <a:pt x="816" y="432"/>
                  </a:cubicBezTo>
                  <a:cubicBezTo>
                    <a:pt x="944" y="336"/>
                    <a:pt x="1072" y="256"/>
                    <a:pt x="1200" y="192"/>
                  </a:cubicBezTo>
                  <a:cubicBezTo>
                    <a:pt x="1328" y="128"/>
                    <a:pt x="1456" y="80"/>
                    <a:pt x="1584" y="48"/>
                  </a:cubicBezTo>
                  <a:cubicBezTo>
                    <a:pt x="1712" y="16"/>
                    <a:pt x="1840" y="8"/>
                    <a:pt x="1968" y="0"/>
                  </a:cubicBez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rgbClr val="FF33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82011" name="Line 27">
              <a:extLst>
                <a:ext uri="{FF2B5EF4-FFF2-40B4-BE49-F238E27FC236}">
                  <a16:creationId xmlns:a16="http://schemas.microsoft.com/office/drawing/2014/main" id="{C9792C2E-C11A-678F-9465-6EEA1B1D0288}"/>
                </a:ext>
              </a:extLst>
            </p:cNvPr>
            <p:cNvSpPr>
              <a:spLocks noChangeShapeType="1"/>
            </p:cNvSpPr>
            <p:nvPr/>
          </p:nvSpPr>
          <p:spPr bwMode="auto">
            <a:xfrm>
              <a:off x="1056" y="2688"/>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682013" name="Rectangle 29">
            <a:extLst>
              <a:ext uri="{FF2B5EF4-FFF2-40B4-BE49-F238E27FC236}">
                <a16:creationId xmlns:a16="http://schemas.microsoft.com/office/drawing/2014/main" id="{2D5CB946-08AF-6CDC-99DE-4F14EC25EE43}"/>
              </a:ext>
            </a:extLst>
          </p:cNvPr>
          <p:cNvSpPr>
            <a:spLocks noChangeArrowheads="1"/>
          </p:cNvSpPr>
          <p:nvPr/>
        </p:nvSpPr>
        <p:spPr bwMode="auto">
          <a:xfrm>
            <a:off x="606425" y="5229225"/>
            <a:ext cx="92170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FF99"/>
                </a:solidFill>
              </a:rPr>
              <a:t>高通巴特沃斯滤波器在通过和滤掉的频率之间也没有不连续的分界，由于在高低频率间的过渡比较光滑，所以用巴持沃斯滤波器得到的输出图其振铃效应不明显。</a:t>
            </a:r>
          </a:p>
        </p:txBody>
      </p:sp>
    </p:spTree>
  </p:cSld>
  <p:clrMapOvr>
    <a:masterClrMapping/>
  </p:clrMapOvr>
  <p:transition advTm="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a:extLst>
              <a:ext uri="{FF2B5EF4-FFF2-40B4-BE49-F238E27FC236}">
                <a16:creationId xmlns:a16="http://schemas.microsoft.com/office/drawing/2014/main" id="{EB190056-AED2-6959-AEE0-1E355D563150}"/>
              </a:ext>
            </a:extLst>
          </p:cNvPr>
          <p:cNvSpPr>
            <a:spLocks noChangeArrowheads="1"/>
          </p:cNvSpPr>
          <p:nvPr/>
        </p:nvSpPr>
        <p:spPr bwMode="auto">
          <a:xfrm>
            <a:off x="463550" y="0"/>
            <a:ext cx="4894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3.4.3 </a:t>
            </a:r>
            <a:r>
              <a:rPr lang="zh-CN" altLang="en-US" b="1">
                <a:solidFill>
                  <a:schemeClr val="accent1"/>
                </a:solidFill>
                <a:effectLst>
                  <a:outerShdw blurRad="38100" dist="38100" dir="2700000" algn="tl">
                    <a:srgbClr val="000000"/>
                  </a:outerShdw>
                </a:effectLst>
              </a:rPr>
              <a:t>高通滤波</a:t>
            </a:r>
          </a:p>
        </p:txBody>
      </p:sp>
      <p:sp>
        <p:nvSpPr>
          <p:cNvPr id="684056" name="Rectangle 24">
            <a:extLst>
              <a:ext uri="{FF2B5EF4-FFF2-40B4-BE49-F238E27FC236}">
                <a16:creationId xmlns:a16="http://schemas.microsoft.com/office/drawing/2014/main" id="{A975EC2E-D436-D942-D5F9-B5A4C405473C}"/>
              </a:ext>
            </a:extLst>
          </p:cNvPr>
          <p:cNvSpPr>
            <a:spLocks noGrp="1" noChangeArrowheads="1"/>
          </p:cNvSpPr>
          <p:nvPr>
            <p:ph type="body" sz="half" idx="1"/>
          </p:nvPr>
        </p:nvSpPr>
        <p:spPr>
          <a:xfrm>
            <a:off x="0" y="476250"/>
            <a:ext cx="9267825" cy="4114800"/>
          </a:xfrm>
          <a:noFill/>
          <a:ln/>
        </p:spPr>
        <p:txBody>
          <a:bodyPr/>
          <a:lstStyle/>
          <a:p>
            <a:pPr>
              <a:buFont typeface="Monotype Sorts" pitchFamily="2" charset="2"/>
              <a:buNone/>
            </a:pPr>
            <a:r>
              <a:rPr lang="en-US" altLang="zh-CN" sz="2400" b="1">
                <a:solidFill>
                  <a:schemeClr val="tx2"/>
                </a:solidFill>
              </a:rPr>
              <a:t>    Butterworth</a:t>
            </a:r>
            <a:r>
              <a:rPr lang="zh-CN" altLang="en-US" sz="2400" b="1">
                <a:solidFill>
                  <a:schemeClr val="tx2"/>
                </a:solidFill>
              </a:rPr>
              <a:t>高通滤波器截止频率设计</a:t>
            </a:r>
          </a:p>
          <a:p>
            <a:pPr lvl="1"/>
            <a:r>
              <a:rPr lang="zh-CN" altLang="en-US" sz="2000" b="1">
                <a:solidFill>
                  <a:srgbClr val="34F7F2"/>
                </a:solidFill>
              </a:rPr>
              <a:t>变换函数中不存在一个不连续点作为一个通过的和被滤掉的截止频率的明显划分</a:t>
            </a:r>
          </a:p>
          <a:p>
            <a:pPr lvl="1"/>
            <a:r>
              <a:rPr lang="zh-CN" altLang="en-US" sz="2000" b="1">
                <a:solidFill>
                  <a:srgbClr val="FF9900"/>
                </a:solidFill>
              </a:rPr>
              <a:t>通常把</a:t>
            </a:r>
            <a:r>
              <a:rPr lang="en-US" altLang="zh-CN" sz="2000" b="1">
                <a:solidFill>
                  <a:srgbClr val="FF9900"/>
                </a:solidFill>
              </a:rPr>
              <a:t>H(u,v)</a:t>
            </a:r>
            <a:r>
              <a:rPr lang="zh-CN" altLang="en-US" sz="2000" b="1">
                <a:solidFill>
                  <a:srgbClr val="FF9900"/>
                </a:solidFill>
              </a:rPr>
              <a:t>开始小于其最大值（</a:t>
            </a:r>
            <a:r>
              <a:rPr lang="en-US" altLang="zh-CN" sz="2000" b="1">
                <a:solidFill>
                  <a:srgbClr val="FF9900"/>
                </a:solidFill>
              </a:rPr>
              <a:t>1</a:t>
            </a:r>
            <a:r>
              <a:rPr lang="zh-CN" altLang="en-US" sz="2000" b="1">
                <a:solidFill>
                  <a:srgbClr val="FF9900"/>
                </a:solidFill>
              </a:rPr>
              <a:t>）的一定比例的点当作其截止频率点</a:t>
            </a:r>
          </a:p>
          <a:p>
            <a:pPr lvl="1"/>
            <a:r>
              <a:rPr lang="zh-CN" altLang="en-US" sz="2000" b="1"/>
              <a:t>有两种选择：</a:t>
            </a:r>
          </a:p>
          <a:p>
            <a:pPr lvl="1">
              <a:buFontTx/>
              <a:buNone/>
            </a:pPr>
            <a:r>
              <a:rPr lang="zh-CN" altLang="en-US" sz="2000" b="1">
                <a:solidFill>
                  <a:srgbClr val="CCCCFF"/>
                </a:solidFill>
              </a:rPr>
              <a:t>选择</a:t>
            </a:r>
            <a:r>
              <a:rPr lang="en-US" altLang="zh-CN" sz="2000" b="1">
                <a:solidFill>
                  <a:srgbClr val="CCCCFF"/>
                </a:solidFill>
              </a:rPr>
              <a:t>1</a:t>
            </a:r>
            <a:r>
              <a:rPr lang="zh-CN" altLang="en-US" sz="2000" b="1">
                <a:solidFill>
                  <a:srgbClr val="CCCCFF"/>
                </a:solidFill>
              </a:rPr>
              <a:t>：</a:t>
            </a:r>
            <a:r>
              <a:rPr lang="en-US" altLang="zh-CN" sz="2000" b="1">
                <a:solidFill>
                  <a:srgbClr val="CCCCFF"/>
                </a:solidFill>
              </a:rPr>
              <a:t>H(u,v) = 0.5    </a:t>
            </a:r>
            <a:r>
              <a:rPr lang="zh-CN" altLang="en-US" sz="2000" b="1">
                <a:solidFill>
                  <a:srgbClr val="CCCCFF"/>
                </a:solidFill>
              </a:rPr>
              <a:t>当 </a:t>
            </a:r>
            <a:r>
              <a:rPr lang="en-US" altLang="zh-CN" sz="2000" b="1">
                <a:solidFill>
                  <a:srgbClr val="CCCCFF"/>
                </a:solidFill>
              </a:rPr>
              <a:t>D</a:t>
            </a:r>
            <a:r>
              <a:rPr lang="en-US" altLang="zh-CN" sz="2000" b="1" baseline="-25000">
                <a:solidFill>
                  <a:srgbClr val="CCCCFF"/>
                </a:solidFill>
              </a:rPr>
              <a:t>0</a:t>
            </a:r>
            <a:r>
              <a:rPr lang="en-US" altLang="zh-CN" sz="2000" b="1">
                <a:solidFill>
                  <a:srgbClr val="CCCCFF"/>
                </a:solidFill>
              </a:rPr>
              <a:t> =  D(u,v)</a:t>
            </a:r>
            <a:r>
              <a:rPr lang="zh-CN" altLang="en-US" sz="2000" b="1">
                <a:solidFill>
                  <a:srgbClr val="CCCCFF"/>
                </a:solidFill>
              </a:rPr>
              <a:t>时</a:t>
            </a:r>
          </a:p>
          <a:p>
            <a:pPr lvl="1">
              <a:buFontTx/>
              <a:buNone/>
            </a:pPr>
            <a:endParaRPr lang="zh-CN" altLang="en-US" sz="2000" b="1">
              <a:solidFill>
                <a:srgbClr val="CCCCFF"/>
              </a:solidFill>
            </a:endParaRPr>
          </a:p>
          <a:p>
            <a:pPr lvl="1">
              <a:buFontTx/>
              <a:buNone/>
            </a:pPr>
            <a:endParaRPr lang="zh-CN" altLang="en-US" sz="2000" b="1"/>
          </a:p>
          <a:p>
            <a:pPr lvl="1">
              <a:buFontTx/>
              <a:buNone/>
            </a:pPr>
            <a:endParaRPr lang="zh-CN" altLang="en-US" sz="2000" b="1"/>
          </a:p>
          <a:p>
            <a:pPr lvl="1">
              <a:buFontTx/>
              <a:buNone/>
            </a:pPr>
            <a:endParaRPr lang="zh-CN" altLang="en-US" sz="2000" b="1"/>
          </a:p>
          <a:p>
            <a:pPr lvl="1">
              <a:buFontTx/>
              <a:buNone/>
            </a:pPr>
            <a:r>
              <a:rPr lang="zh-CN" altLang="en-US" sz="2000" b="1">
                <a:solidFill>
                  <a:srgbClr val="CCCCFF"/>
                </a:solidFill>
              </a:rPr>
              <a:t>选择</a:t>
            </a:r>
            <a:r>
              <a:rPr lang="en-US" altLang="zh-CN" sz="2000" b="1">
                <a:solidFill>
                  <a:srgbClr val="CCCCFF"/>
                </a:solidFill>
              </a:rPr>
              <a:t>2</a:t>
            </a:r>
            <a:r>
              <a:rPr lang="zh-CN" altLang="en-US" sz="2000" b="1">
                <a:solidFill>
                  <a:srgbClr val="CCCCFF"/>
                </a:solidFill>
              </a:rPr>
              <a:t>：</a:t>
            </a:r>
            <a:r>
              <a:rPr lang="en-US" altLang="zh-CN" sz="2000" b="1">
                <a:solidFill>
                  <a:srgbClr val="CCCCFF"/>
                </a:solidFill>
              </a:rPr>
              <a:t>H(u,v) =           </a:t>
            </a:r>
            <a:r>
              <a:rPr lang="zh-CN" altLang="en-US" sz="2000" b="1">
                <a:solidFill>
                  <a:srgbClr val="CCCCFF"/>
                </a:solidFill>
              </a:rPr>
              <a:t>当 </a:t>
            </a:r>
            <a:r>
              <a:rPr lang="en-US" altLang="zh-CN" sz="2000" b="1">
                <a:solidFill>
                  <a:srgbClr val="CCCCFF"/>
                </a:solidFill>
              </a:rPr>
              <a:t>D</a:t>
            </a:r>
            <a:r>
              <a:rPr lang="en-US" altLang="zh-CN" sz="2000" b="1" baseline="-25000">
                <a:solidFill>
                  <a:srgbClr val="CCCCFF"/>
                </a:solidFill>
              </a:rPr>
              <a:t>0</a:t>
            </a:r>
            <a:r>
              <a:rPr lang="en-US" altLang="zh-CN" sz="2000" b="1">
                <a:solidFill>
                  <a:srgbClr val="CCCCFF"/>
                </a:solidFill>
              </a:rPr>
              <a:t> =  D(u,v)</a:t>
            </a:r>
            <a:r>
              <a:rPr lang="zh-CN" altLang="en-US" sz="2000" b="1">
                <a:solidFill>
                  <a:srgbClr val="CCCCFF"/>
                </a:solidFill>
              </a:rPr>
              <a:t>时</a:t>
            </a:r>
          </a:p>
          <a:p>
            <a:pPr lvl="1">
              <a:buFontTx/>
              <a:buNone/>
            </a:pPr>
            <a:endParaRPr lang="zh-CN" altLang="en-US" sz="2000" b="1"/>
          </a:p>
          <a:p>
            <a:pPr lvl="1" algn="just">
              <a:buFontTx/>
              <a:buNone/>
            </a:pPr>
            <a:endParaRPr lang="en-US" altLang="zh-CN" sz="2000" b="1">
              <a:solidFill>
                <a:srgbClr val="A1010C"/>
              </a:solidFill>
            </a:endParaRPr>
          </a:p>
        </p:txBody>
      </p:sp>
      <p:grpSp>
        <p:nvGrpSpPr>
          <p:cNvPr id="684059" name="Group 27">
            <a:extLst>
              <a:ext uri="{FF2B5EF4-FFF2-40B4-BE49-F238E27FC236}">
                <a16:creationId xmlns:a16="http://schemas.microsoft.com/office/drawing/2014/main" id="{A201CB4E-ACF7-9260-B489-229E430F5FD7}"/>
              </a:ext>
            </a:extLst>
          </p:cNvPr>
          <p:cNvGrpSpPr>
            <a:grpSpLocks/>
          </p:cNvGrpSpPr>
          <p:nvPr/>
        </p:nvGrpSpPr>
        <p:grpSpPr bwMode="auto">
          <a:xfrm>
            <a:off x="1758950" y="2781300"/>
            <a:ext cx="4848225" cy="1179513"/>
            <a:chOff x="1108" y="2976"/>
            <a:chExt cx="3054" cy="743"/>
          </a:xfrm>
        </p:grpSpPr>
        <p:graphicFrame>
          <p:nvGraphicFramePr>
            <p:cNvPr id="684057" name="Object 25">
              <a:extLst>
                <a:ext uri="{FF2B5EF4-FFF2-40B4-BE49-F238E27FC236}">
                  <a16:creationId xmlns:a16="http://schemas.microsoft.com/office/drawing/2014/main" id="{FC8621B3-FAAA-E558-8CFB-CCA0D97C7A9E}"/>
                </a:ext>
              </a:extLst>
            </p:cNvPr>
            <p:cNvGraphicFramePr>
              <a:graphicFrameLocks noChangeAspect="1"/>
            </p:cNvGraphicFramePr>
            <p:nvPr/>
          </p:nvGraphicFramePr>
          <p:xfrm>
            <a:off x="1108" y="2976"/>
            <a:ext cx="3054" cy="743"/>
          </p:xfrm>
          <a:graphic>
            <a:graphicData uri="http://schemas.openxmlformats.org/presentationml/2006/ole">
              <mc:AlternateContent xmlns:mc="http://schemas.openxmlformats.org/markup-compatibility/2006">
                <mc:Choice xmlns:v="urn:schemas-microsoft-com:vml" Requires="v">
                  <p:oleObj name="公式" r:id="rId3" imgW="1701800" imgH="431800" progId="Equation.3">
                    <p:embed/>
                  </p:oleObj>
                </mc:Choice>
                <mc:Fallback>
                  <p:oleObj name="公式" r:id="rId3" imgW="1701800" imgH="43180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 y="2976"/>
                          <a:ext cx="3054" cy="743"/>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4058" name="Rectangle 26">
              <a:extLst>
                <a:ext uri="{FF2B5EF4-FFF2-40B4-BE49-F238E27FC236}">
                  <a16:creationId xmlns:a16="http://schemas.microsoft.com/office/drawing/2014/main" id="{89855D1F-8CB6-E577-1D5D-438F3C55AB23}"/>
                </a:ext>
              </a:extLst>
            </p:cNvPr>
            <p:cNvSpPr>
              <a:spLocks noChangeArrowheads="1"/>
            </p:cNvSpPr>
            <p:nvPr/>
          </p:nvSpPr>
          <p:spPr bwMode="auto">
            <a:xfrm>
              <a:off x="2574" y="3383"/>
              <a:ext cx="1248" cy="24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en-US" altLang="zh-CN" b="1" i="1">
                  <a:solidFill>
                    <a:schemeClr val="bg2"/>
                  </a:solidFill>
                </a:rPr>
                <a:t>D</a:t>
              </a:r>
              <a:r>
                <a:rPr lang="en-US" altLang="zh-CN" b="1" i="1" baseline="-25000">
                  <a:solidFill>
                    <a:schemeClr val="bg2"/>
                  </a:solidFill>
                </a:rPr>
                <a:t>0  </a:t>
              </a:r>
              <a:r>
                <a:rPr lang="en-US" altLang="zh-CN" b="1" i="1">
                  <a:solidFill>
                    <a:schemeClr val="bg2"/>
                  </a:solidFill>
                </a:rPr>
                <a:t>/ D(u,v</a:t>
              </a:r>
              <a:r>
                <a:rPr lang="en-US" altLang="zh-CN" sz="3600" b="1" i="1">
                  <a:solidFill>
                    <a:schemeClr val="bg2"/>
                  </a:solidFill>
                </a:rPr>
                <a:t>)</a:t>
              </a:r>
              <a:endParaRPr lang="en-US" altLang="zh-CN" sz="2400" b="1">
                <a:solidFill>
                  <a:schemeClr val="bg2"/>
                </a:solidFill>
              </a:endParaRPr>
            </a:p>
          </p:txBody>
        </p:sp>
      </p:grpSp>
      <p:graphicFrame>
        <p:nvGraphicFramePr>
          <p:cNvPr id="684063" name="Object 31">
            <a:extLst>
              <a:ext uri="{FF2B5EF4-FFF2-40B4-BE49-F238E27FC236}">
                <a16:creationId xmlns:a16="http://schemas.microsoft.com/office/drawing/2014/main" id="{D762A77B-09EB-234E-408B-37F36894F206}"/>
              </a:ext>
            </a:extLst>
          </p:cNvPr>
          <p:cNvGraphicFramePr>
            <a:graphicFrameLocks noChangeAspect="1"/>
          </p:cNvGraphicFramePr>
          <p:nvPr/>
        </p:nvGraphicFramePr>
        <p:xfrm>
          <a:off x="2449513" y="4149725"/>
          <a:ext cx="584200" cy="330200"/>
        </p:xfrm>
        <a:graphic>
          <a:graphicData uri="http://schemas.openxmlformats.org/presentationml/2006/ole">
            <mc:AlternateContent xmlns:mc="http://schemas.openxmlformats.org/markup-compatibility/2006">
              <mc:Choice xmlns:v="urn:schemas-microsoft-com:vml" Requires="v">
                <p:oleObj name="Equation" r:id="rId5" imgW="13462000" imgH="7607300" progId="Equation.DSMT4">
                  <p:embed/>
                </p:oleObj>
              </mc:Choice>
              <mc:Fallback>
                <p:oleObj name="Equation" r:id="rId5" imgW="13462000" imgH="7607300" progId="Equation.DSMT4">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9513" y="4149725"/>
                        <a:ext cx="584200" cy="3302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4067" name="Object 35">
            <a:extLst>
              <a:ext uri="{FF2B5EF4-FFF2-40B4-BE49-F238E27FC236}">
                <a16:creationId xmlns:a16="http://schemas.microsoft.com/office/drawing/2014/main" id="{0945F508-9535-B752-7F1D-23F7BB3AAB9C}"/>
              </a:ext>
            </a:extLst>
          </p:cNvPr>
          <p:cNvGraphicFramePr>
            <a:graphicFrameLocks noChangeAspect="1"/>
          </p:cNvGraphicFramePr>
          <p:nvPr>
            <p:ph sz="half" idx="2"/>
          </p:nvPr>
        </p:nvGraphicFramePr>
        <p:xfrm>
          <a:off x="679450" y="4868863"/>
          <a:ext cx="7751763" cy="889000"/>
        </p:xfrm>
        <a:graphic>
          <a:graphicData uri="http://schemas.openxmlformats.org/presentationml/2006/ole">
            <mc:AlternateContent xmlns:mc="http://schemas.openxmlformats.org/markup-compatibility/2006">
              <mc:Choice xmlns:v="urn:schemas-microsoft-com:vml" Requires="v">
                <p:oleObj name="公式" r:id="rId7" imgW="3721100" imgH="431800" progId="Equation.3">
                  <p:embed/>
                </p:oleObj>
              </mc:Choice>
              <mc:Fallback>
                <p:oleObj name="公式" r:id="rId7" imgW="3721100" imgH="431800" progId="Equation.3">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450" y="4868863"/>
                        <a:ext cx="7751763" cy="88900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Tm="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812C221E-53B1-715F-BE77-50A966E25271}"/>
              </a:ext>
            </a:extLst>
          </p:cNvPr>
          <p:cNvSpPr>
            <a:spLocks noChangeArrowheads="1"/>
          </p:cNvSpPr>
          <p:nvPr/>
        </p:nvSpPr>
        <p:spPr bwMode="auto">
          <a:xfrm>
            <a:off x="463550" y="0"/>
            <a:ext cx="4894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3.4.3 </a:t>
            </a:r>
            <a:r>
              <a:rPr lang="zh-CN" altLang="en-US" b="1">
                <a:solidFill>
                  <a:schemeClr val="accent1"/>
                </a:solidFill>
                <a:effectLst>
                  <a:outerShdw blurRad="38100" dist="38100" dir="2700000" algn="tl">
                    <a:srgbClr val="000000"/>
                  </a:outerShdw>
                </a:effectLst>
              </a:rPr>
              <a:t>高通滤波</a:t>
            </a:r>
          </a:p>
        </p:txBody>
      </p:sp>
      <p:sp>
        <p:nvSpPr>
          <p:cNvPr id="689163" name="Rectangle 11">
            <a:extLst>
              <a:ext uri="{FF2B5EF4-FFF2-40B4-BE49-F238E27FC236}">
                <a16:creationId xmlns:a16="http://schemas.microsoft.com/office/drawing/2014/main" id="{81A93E02-23DF-21AA-9A30-6DD1F1FC485D}"/>
              </a:ext>
            </a:extLst>
          </p:cNvPr>
          <p:cNvSpPr>
            <a:spLocks noGrp="1" noChangeArrowheads="1"/>
          </p:cNvSpPr>
          <p:nvPr>
            <p:ph type="body" idx="1"/>
          </p:nvPr>
        </p:nvSpPr>
        <p:spPr>
          <a:xfrm>
            <a:off x="463550" y="1341438"/>
            <a:ext cx="8153400" cy="3313112"/>
          </a:xfrm>
          <a:noFill/>
          <a:ln/>
        </p:spPr>
        <p:txBody>
          <a:bodyPr/>
          <a:lstStyle/>
          <a:p>
            <a:r>
              <a:rPr lang="en-US" altLang="zh-CN" sz="2800" b="1">
                <a:solidFill>
                  <a:srgbClr val="34F7F2"/>
                </a:solidFill>
              </a:rPr>
              <a:t>Butterworth</a:t>
            </a:r>
            <a:r>
              <a:rPr lang="zh-CN" altLang="en-US" sz="2800" b="1">
                <a:solidFill>
                  <a:srgbClr val="34F7F2"/>
                </a:solidFill>
              </a:rPr>
              <a:t>高通滤波器的分析</a:t>
            </a:r>
          </a:p>
          <a:p>
            <a:pPr lvl="1"/>
            <a:r>
              <a:rPr lang="zh-CN" altLang="en-US" sz="2400" b="1">
                <a:solidFill>
                  <a:srgbClr val="FFFF00"/>
                </a:solidFill>
              </a:rPr>
              <a:t>问题：低频成分被严重地消弱了，使图像失去层次</a:t>
            </a:r>
          </a:p>
          <a:p>
            <a:pPr lvl="1"/>
            <a:r>
              <a:rPr lang="zh-CN" altLang="en-US" sz="2400" b="1">
                <a:solidFill>
                  <a:srgbClr val="FFFF00"/>
                </a:solidFill>
              </a:rPr>
              <a:t>改进措施：</a:t>
            </a:r>
          </a:p>
          <a:p>
            <a:pPr lvl="2"/>
            <a:r>
              <a:rPr lang="zh-CN" altLang="en-US" b="1">
                <a:solidFill>
                  <a:srgbClr val="FF9900"/>
                </a:solidFill>
              </a:rPr>
              <a:t>加一个常数到变换函数 </a:t>
            </a:r>
            <a:r>
              <a:rPr lang="en-US" altLang="zh-CN" b="1">
                <a:solidFill>
                  <a:srgbClr val="FF9900"/>
                </a:solidFill>
              </a:rPr>
              <a:t>H(u,v) + A </a:t>
            </a:r>
          </a:p>
          <a:p>
            <a:pPr lvl="2">
              <a:buFontTx/>
              <a:buNone/>
            </a:pPr>
            <a:r>
              <a:rPr lang="zh-CN" altLang="en-US" b="1"/>
              <a:t>这种方法被称为高频强调</a:t>
            </a:r>
          </a:p>
          <a:p>
            <a:pPr lvl="2"/>
            <a:r>
              <a:rPr lang="zh-CN" altLang="en-US" b="1">
                <a:solidFill>
                  <a:srgbClr val="CCCCFF"/>
                </a:solidFill>
              </a:rPr>
              <a:t>为了解决变暗的趋势，在变换结果图像上再进行一次直方图均衡化。这种方法被称为后滤波处理</a:t>
            </a:r>
          </a:p>
        </p:txBody>
      </p:sp>
    </p:spTree>
  </p:cSld>
  <p:clrMapOvr>
    <a:masterClrMapping/>
  </p:clrMapOvr>
  <p:transition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44" name="Rectangle 2056">
            <a:extLst>
              <a:ext uri="{FF2B5EF4-FFF2-40B4-BE49-F238E27FC236}">
                <a16:creationId xmlns:a16="http://schemas.microsoft.com/office/drawing/2014/main" id="{7560D1DE-481A-CC45-EA73-B1F75CCA8D9D}"/>
              </a:ext>
            </a:extLst>
          </p:cNvPr>
          <p:cNvSpPr>
            <a:spLocks noChangeArrowheads="1"/>
          </p:cNvSpPr>
          <p:nvPr/>
        </p:nvSpPr>
        <p:spPr bwMode="auto">
          <a:xfrm>
            <a:off x="247650" y="188913"/>
            <a:ext cx="5686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巴特沃斯高通滤波器的处理效果</a:t>
            </a:r>
          </a:p>
        </p:txBody>
      </p:sp>
      <p:pic>
        <p:nvPicPr>
          <p:cNvPr id="475145" name="Picture 2057">
            <a:extLst>
              <a:ext uri="{FF2B5EF4-FFF2-40B4-BE49-F238E27FC236}">
                <a16:creationId xmlns:a16="http://schemas.microsoft.com/office/drawing/2014/main" id="{A4A56AE0-9453-E812-EB90-A3A946075EC6}"/>
              </a:ext>
            </a:extLst>
          </p:cNvPr>
          <p:cNvPicPr>
            <a:picLocks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0" y="1052513"/>
            <a:ext cx="9490075" cy="3360737"/>
          </a:xfr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
        <p:nvSpPr>
          <p:cNvPr id="475147" name="Rectangle 2059">
            <a:extLst>
              <a:ext uri="{FF2B5EF4-FFF2-40B4-BE49-F238E27FC236}">
                <a16:creationId xmlns:a16="http://schemas.microsoft.com/office/drawing/2014/main" id="{589D3730-D400-F80C-0204-246568120CA2}"/>
              </a:ext>
            </a:extLst>
          </p:cNvPr>
          <p:cNvSpPr>
            <a:spLocks noChangeArrowheads="1"/>
          </p:cNvSpPr>
          <p:nvPr/>
        </p:nvSpPr>
        <p:spPr bwMode="auto">
          <a:xfrm>
            <a:off x="0" y="4581525"/>
            <a:ext cx="9505950" cy="204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34F7F2"/>
                </a:solidFill>
              </a:rPr>
              <a:t>图</a:t>
            </a:r>
            <a:r>
              <a:rPr lang="en-US" altLang="zh-CN" sz="2000" b="1">
                <a:solidFill>
                  <a:srgbClr val="34F7F2"/>
                </a:solidFill>
              </a:rPr>
              <a:t>(a)</a:t>
            </a:r>
            <a:r>
              <a:rPr lang="zh-CN" altLang="en-US" sz="2000" b="1">
                <a:solidFill>
                  <a:srgbClr val="34F7F2"/>
                </a:solidFill>
              </a:rPr>
              <a:t>为一幅比较模糊的图象</a:t>
            </a:r>
          </a:p>
          <a:p>
            <a:r>
              <a:rPr lang="zh-CN" altLang="en-US" sz="2000" b="1">
                <a:solidFill>
                  <a:srgbClr val="00FF99"/>
                </a:solidFill>
              </a:rPr>
              <a:t>图</a:t>
            </a:r>
            <a:r>
              <a:rPr lang="en-US" altLang="zh-CN" sz="2000" b="1">
                <a:solidFill>
                  <a:srgbClr val="00FF99"/>
                </a:solidFill>
              </a:rPr>
              <a:t>(b)</a:t>
            </a:r>
            <a:r>
              <a:rPr lang="zh-CN" altLang="en-US" sz="2000" b="1">
                <a:solidFill>
                  <a:srgbClr val="00FF99"/>
                </a:solidFill>
              </a:rPr>
              <a:t>给出用阶数为</a:t>
            </a:r>
            <a:r>
              <a:rPr lang="en-US" altLang="zh-CN" sz="2000" b="1">
                <a:solidFill>
                  <a:srgbClr val="00FF99"/>
                </a:solidFill>
              </a:rPr>
              <a:t>1</a:t>
            </a:r>
            <a:r>
              <a:rPr lang="zh-CN" altLang="en-US" sz="2000" b="1">
                <a:solidFill>
                  <a:srgbClr val="00FF99"/>
                </a:solidFill>
              </a:rPr>
              <a:t>的巴特沃斯高通滤波器进行处理所得到的结果。因为高通处理后低频分量大部分被滤除，所以虽然图中各区域的边界得到了较明显的增强，但图中原来比较平滑区域内部的灰度动态范围被压缩，整幅图比较昏暗。</a:t>
            </a:r>
          </a:p>
          <a:p>
            <a:r>
              <a:rPr lang="zh-CN" altLang="en-US" sz="2000" b="1">
                <a:solidFill>
                  <a:srgbClr val="CCFF99"/>
                </a:solidFill>
              </a:rPr>
              <a:t>图</a:t>
            </a:r>
            <a:r>
              <a:rPr lang="en-US" altLang="zh-CN" sz="2000" b="1">
                <a:solidFill>
                  <a:srgbClr val="CCFF99"/>
                </a:solidFill>
              </a:rPr>
              <a:t>(c)</a:t>
            </a:r>
            <a:r>
              <a:rPr lang="zh-CN" altLang="en-US" sz="2000" b="1">
                <a:solidFill>
                  <a:srgbClr val="CCFF99"/>
                </a:solidFill>
              </a:rPr>
              <a:t>给出</a:t>
            </a:r>
            <a:r>
              <a:rPr lang="zh-CN" altLang="en-US" sz="2000" b="1">
                <a:solidFill>
                  <a:srgbClr val="FF9900"/>
                </a:solidFill>
                <a:effectLst>
                  <a:outerShdw blurRad="38100" dist="38100" dir="2700000" algn="tl">
                    <a:srgbClr val="000000"/>
                  </a:outerShdw>
                </a:effectLst>
              </a:rPr>
              <a:t>变换函数 </a:t>
            </a:r>
            <a:r>
              <a:rPr lang="en-US" altLang="zh-CN" sz="2000" b="1">
                <a:solidFill>
                  <a:srgbClr val="FF9900"/>
                </a:solidFill>
                <a:effectLst>
                  <a:outerShdw blurRad="38100" dist="38100" dir="2700000" algn="tl">
                    <a:srgbClr val="000000"/>
                  </a:outerShdw>
                </a:effectLst>
              </a:rPr>
              <a:t>H(u,v) + A</a:t>
            </a:r>
            <a:r>
              <a:rPr lang="en-US" altLang="zh-CN" b="1">
                <a:solidFill>
                  <a:srgbClr val="FF9900"/>
                </a:solidFill>
                <a:effectLst>
                  <a:outerShdw blurRad="38100" dist="38100" dir="2700000" algn="tl">
                    <a:srgbClr val="000000"/>
                  </a:outerShdw>
                </a:effectLst>
              </a:rPr>
              <a:t> </a:t>
            </a:r>
            <a:r>
              <a:rPr lang="en-US" altLang="zh-CN" sz="2000" b="1">
                <a:solidFill>
                  <a:srgbClr val="CCFF99"/>
                </a:solidFill>
              </a:rPr>
              <a:t>(A=0.5)</a:t>
            </a:r>
            <a:r>
              <a:rPr lang="zh-CN" altLang="en-US" sz="2000" b="1">
                <a:solidFill>
                  <a:srgbClr val="CCFF99"/>
                </a:solidFill>
              </a:rPr>
              <a:t>的结果，不仅边缘得到了增强，整个图象层次也比较丰富。</a:t>
            </a:r>
          </a:p>
        </p:txBody>
      </p:sp>
    </p:spTree>
  </p:cSld>
  <p:clrMapOvr>
    <a:masterClrMapping/>
  </p:clrMapOvr>
  <p:transition advTm="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Rectangle 3">
            <a:extLst>
              <a:ext uri="{FF2B5EF4-FFF2-40B4-BE49-F238E27FC236}">
                <a16:creationId xmlns:a16="http://schemas.microsoft.com/office/drawing/2014/main" id="{E7A552FE-43E5-7B49-F896-15D6DFF8373C}"/>
              </a:ext>
            </a:extLst>
          </p:cNvPr>
          <p:cNvSpPr>
            <a:spLocks noChangeArrowheads="1"/>
          </p:cNvSpPr>
          <p:nvPr/>
        </p:nvSpPr>
        <p:spPr bwMode="auto">
          <a:xfrm>
            <a:off x="0" y="3789363"/>
            <a:ext cx="8626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i="1">
                <a:solidFill>
                  <a:srgbClr val="34F7F2"/>
                </a:solidFill>
                <a:effectLst>
                  <a:outerShdw blurRad="38100" dist="38100" dir="2700000" algn="tl">
                    <a:srgbClr val="000000"/>
                  </a:outerShdw>
                </a:effectLst>
              </a:rPr>
              <a:t>n </a:t>
            </a:r>
            <a:r>
              <a:rPr lang="zh-CN" altLang="en-US" sz="2400" b="1">
                <a:solidFill>
                  <a:srgbClr val="34F7F2"/>
                </a:solidFill>
                <a:effectLst>
                  <a:outerShdw blurRad="38100" dist="38100" dir="2700000" algn="tl">
                    <a:srgbClr val="000000"/>
                  </a:outerShdw>
                </a:effectLst>
              </a:rPr>
              <a:t>为滤波器的阶次，</a:t>
            </a:r>
            <a:r>
              <a:rPr lang="en-US" altLang="zh-CN" sz="2400" b="1" i="1">
                <a:solidFill>
                  <a:srgbClr val="34F7F2"/>
                </a:solidFill>
                <a:effectLst>
                  <a:outerShdw blurRad="38100" dist="38100" dir="2700000" algn="tl">
                    <a:srgbClr val="000000"/>
                  </a:outerShdw>
                </a:effectLst>
              </a:rPr>
              <a:t>D</a:t>
            </a:r>
            <a:r>
              <a:rPr lang="en-US" altLang="zh-CN" sz="2400" b="1" i="1" baseline="-25000">
                <a:solidFill>
                  <a:srgbClr val="34F7F2"/>
                </a:solidFill>
                <a:effectLst>
                  <a:outerShdw blurRad="38100" dist="38100" dir="2700000" algn="tl">
                    <a:srgbClr val="000000"/>
                  </a:outerShdw>
                </a:effectLst>
              </a:rPr>
              <a:t>0</a:t>
            </a:r>
            <a:r>
              <a:rPr lang="zh-CN" altLang="en-US" sz="2400" b="1">
                <a:solidFill>
                  <a:srgbClr val="34F7F2"/>
                </a:solidFill>
                <a:effectLst>
                  <a:outerShdw blurRad="38100" dist="38100" dir="2700000" algn="tl">
                    <a:srgbClr val="000000"/>
                  </a:outerShdw>
                </a:effectLst>
              </a:rPr>
              <a:t>为滤波器的放射中心，</a:t>
            </a:r>
            <a:r>
              <a:rPr lang="en-US" altLang="zh-CN" sz="2400" b="1">
                <a:solidFill>
                  <a:srgbClr val="34F7F2"/>
                </a:solidFill>
                <a:effectLst>
                  <a:outerShdw blurRad="38100" dist="38100" dir="2700000" algn="tl">
                    <a:srgbClr val="000000"/>
                  </a:outerShdw>
                </a:effectLst>
              </a:rPr>
              <a:t>W</a:t>
            </a:r>
            <a:r>
              <a:rPr lang="zh-CN" altLang="en-US" sz="2400" b="1">
                <a:solidFill>
                  <a:srgbClr val="34F7F2"/>
                </a:solidFill>
                <a:effectLst>
                  <a:outerShdw blurRad="38100" dist="38100" dir="2700000" algn="tl">
                    <a:srgbClr val="000000"/>
                  </a:outerShdw>
                </a:effectLst>
              </a:rPr>
              <a:t>为阻带宽度</a:t>
            </a:r>
          </a:p>
        </p:txBody>
      </p:sp>
      <p:sp>
        <p:nvSpPr>
          <p:cNvPr id="444420" name="Rectangle 4">
            <a:extLst>
              <a:ext uri="{FF2B5EF4-FFF2-40B4-BE49-F238E27FC236}">
                <a16:creationId xmlns:a16="http://schemas.microsoft.com/office/drawing/2014/main" id="{CA89E067-4E7F-FF0B-6E61-CC5E900E45A0}"/>
              </a:ext>
            </a:extLst>
          </p:cNvPr>
          <p:cNvSpPr>
            <a:spLocks noChangeArrowheads="1"/>
          </p:cNvSpPr>
          <p:nvPr/>
        </p:nvSpPr>
        <p:spPr bwMode="auto">
          <a:xfrm>
            <a:off x="0" y="1700213"/>
            <a:ext cx="518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巴特沃斯带阻滤波器</a:t>
            </a:r>
          </a:p>
        </p:txBody>
      </p:sp>
      <p:graphicFrame>
        <p:nvGraphicFramePr>
          <p:cNvPr id="444421" name="Object 5">
            <a:extLst>
              <a:ext uri="{FF2B5EF4-FFF2-40B4-BE49-F238E27FC236}">
                <a16:creationId xmlns:a16="http://schemas.microsoft.com/office/drawing/2014/main" id="{A5965CF9-DC04-C0B9-1E1A-F3C6C82832FE}"/>
              </a:ext>
            </a:extLst>
          </p:cNvPr>
          <p:cNvGraphicFramePr>
            <a:graphicFrameLocks noChangeAspect="1"/>
          </p:cNvGraphicFramePr>
          <p:nvPr/>
        </p:nvGraphicFramePr>
        <p:xfrm>
          <a:off x="0" y="2205038"/>
          <a:ext cx="4383088" cy="1517650"/>
        </p:xfrm>
        <a:graphic>
          <a:graphicData uri="http://schemas.openxmlformats.org/presentationml/2006/ole">
            <mc:AlternateContent xmlns:mc="http://schemas.openxmlformats.org/markup-compatibility/2006">
              <mc:Choice xmlns:v="urn:schemas-microsoft-com:vml" Requires="v">
                <p:oleObj name="Microsoft 公式 3.0" r:id="rId3" imgW="47396400" imgH="16383000" progId="Equation.3">
                  <p:embed/>
                </p:oleObj>
              </mc:Choice>
              <mc:Fallback>
                <p:oleObj name="Microsoft 公式 3.0" r:id="rId3" imgW="47396400" imgH="163830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05038"/>
                        <a:ext cx="4383088" cy="151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4422" name="Rectangle 6">
            <a:extLst>
              <a:ext uri="{FF2B5EF4-FFF2-40B4-BE49-F238E27FC236}">
                <a16:creationId xmlns:a16="http://schemas.microsoft.com/office/drawing/2014/main" id="{DE310F40-40FF-9749-84FB-D0508DFC6A19}"/>
              </a:ext>
            </a:extLst>
          </p:cNvPr>
          <p:cNvSpPr>
            <a:spLocks noChangeArrowheads="1"/>
          </p:cNvSpPr>
          <p:nvPr/>
        </p:nvSpPr>
        <p:spPr bwMode="auto">
          <a:xfrm>
            <a:off x="0" y="-26988"/>
            <a:ext cx="55626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rgbClr val="34F7F2"/>
                </a:solidFill>
                <a:effectLst>
                  <a:outerShdw blurRad="38100" dist="38100" dir="2700000" algn="tl">
                    <a:srgbClr val="000000"/>
                  </a:outerShdw>
                </a:effectLst>
              </a:rPr>
              <a:t>  3.4.4  </a:t>
            </a:r>
            <a:r>
              <a:rPr lang="zh-CN" altLang="en-US" b="1">
                <a:effectLst>
                  <a:outerShdw blurRad="38100" dist="38100" dir="2700000" algn="tl">
                    <a:srgbClr val="000000"/>
                  </a:outerShdw>
                </a:effectLst>
              </a:rPr>
              <a:t>巴特沃斯</a:t>
            </a:r>
            <a:r>
              <a:rPr lang="zh-CN" altLang="en-US" b="1">
                <a:solidFill>
                  <a:srgbClr val="34F7F2"/>
                </a:solidFill>
                <a:effectLst>
                  <a:outerShdw blurRad="38100" dist="38100" dir="2700000" algn="tl">
                    <a:srgbClr val="000000"/>
                  </a:outerShdw>
                </a:effectLst>
              </a:rPr>
              <a:t>带通与带阻滤波</a:t>
            </a:r>
          </a:p>
        </p:txBody>
      </p:sp>
      <p:sp>
        <p:nvSpPr>
          <p:cNvPr id="444423" name="Rectangle 7">
            <a:extLst>
              <a:ext uri="{FF2B5EF4-FFF2-40B4-BE49-F238E27FC236}">
                <a16:creationId xmlns:a16="http://schemas.microsoft.com/office/drawing/2014/main" id="{4BE381BF-421C-DFFA-6B6A-5036AC4203F1}"/>
              </a:ext>
            </a:extLst>
          </p:cNvPr>
          <p:cNvSpPr>
            <a:spLocks noChangeArrowheads="1"/>
          </p:cNvSpPr>
          <p:nvPr/>
        </p:nvSpPr>
        <p:spPr bwMode="auto">
          <a:xfrm>
            <a:off x="0" y="4292600"/>
            <a:ext cx="518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chemeClr val="tx2"/>
                </a:solidFill>
                <a:effectLst>
                  <a:outerShdw blurRad="38100" dist="38100" dir="2700000" algn="tl">
                    <a:srgbClr val="000000"/>
                  </a:outerShdw>
                </a:effectLst>
              </a:rPr>
              <a:t>巴特沃斯带通滤波器</a:t>
            </a:r>
          </a:p>
        </p:txBody>
      </p:sp>
      <p:graphicFrame>
        <p:nvGraphicFramePr>
          <p:cNvPr id="444424" name="Object 8">
            <a:extLst>
              <a:ext uri="{FF2B5EF4-FFF2-40B4-BE49-F238E27FC236}">
                <a16:creationId xmlns:a16="http://schemas.microsoft.com/office/drawing/2014/main" id="{AA089860-F482-9822-A6F7-A565789D3CF2}"/>
              </a:ext>
            </a:extLst>
          </p:cNvPr>
          <p:cNvGraphicFramePr>
            <a:graphicFrameLocks noChangeAspect="1"/>
          </p:cNvGraphicFramePr>
          <p:nvPr/>
        </p:nvGraphicFramePr>
        <p:xfrm>
          <a:off x="0" y="4868863"/>
          <a:ext cx="5195888" cy="460375"/>
        </p:xfrm>
        <a:graphic>
          <a:graphicData uri="http://schemas.openxmlformats.org/presentationml/2006/ole">
            <mc:AlternateContent xmlns:mc="http://schemas.openxmlformats.org/markup-compatibility/2006">
              <mc:Choice xmlns:v="urn:schemas-microsoft-com:vml" Requires="v">
                <p:oleObj name="公式" r:id="rId5" imgW="56172100" imgH="4978400" progId="Equation.3">
                  <p:embed/>
                </p:oleObj>
              </mc:Choice>
              <mc:Fallback>
                <p:oleObj name="公式" r:id="rId5" imgW="56172100" imgH="49784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868863"/>
                        <a:ext cx="5195888"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4425" name="Rectangle 9">
            <a:extLst>
              <a:ext uri="{FF2B5EF4-FFF2-40B4-BE49-F238E27FC236}">
                <a16:creationId xmlns:a16="http://schemas.microsoft.com/office/drawing/2014/main" id="{929E934C-CDE6-4968-3B5D-B41D61237E0C}"/>
              </a:ext>
            </a:extLst>
          </p:cNvPr>
          <p:cNvSpPr>
            <a:spLocks noChangeArrowheads="1"/>
          </p:cNvSpPr>
          <p:nvPr/>
        </p:nvSpPr>
        <p:spPr bwMode="auto">
          <a:xfrm>
            <a:off x="0" y="549275"/>
            <a:ext cx="92900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CCFF99"/>
                </a:solidFill>
              </a:rPr>
              <a:t>带通滤波器允许一定频率范围内的信号通过而阻止其它频军范围内的信号通过，与此相对应，带阻滤波器阻止一定频率范围内的信号通过而允许其它频率范围内的信号通过。</a:t>
            </a:r>
          </a:p>
        </p:txBody>
      </p:sp>
      <p:pic>
        <p:nvPicPr>
          <p:cNvPr id="444426" name="Picture 10">
            <a:extLst>
              <a:ext uri="{FF2B5EF4-FFF2-40B4-BE49-F238E27FC236}">
                <a16:creationId xmlns:a16="http://schemas.microsoft.com/office/drawing/2014/main" id="{86E9DF56-9AA7-DC5C-2F9A-0D0E8D00032B}"/>
              </a:ext>
            </a:extLst>
          </p:cNvPr>
          <p:cNvPicPr>
            <a:picLocks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a:xfrm>
            <a:off x="5503863" y="1773238"/>
            <a:ext cx="3562350" cy="1892300"/>
          </a:xfr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pic>
        <p:nvPicPr>
          <p:cNvPr id="444428" name="Picture 12">
            <a:extLst>
              <a:ext uri="{FF2B5EF4-FFF2-40B4-BE49-F238E27FC236}">
                <a16:creationId xmlns:a16="http://schemas.microsoft.com/office/drawing/2014/main" id="{79B254E8-E206-D28B-E604-819CA1D16A79}"/>
              </a:ext>
            </a:extLst>
          </p:cNvPr>
          <p:cNvPicPr>
            <a:picLocks noChangeAspect="1" noChangeArrowheads="1"/>
          </p:cNvPicPr>
          <p:nvPr>
            <p:ph sz="half" idx="2"/>
          </p:nvPr>
        </p:nvPicPr>
        <p:blipFill>
          <a:blip r:embed="rId8">
            <a:extLst>
              <a:ext uri="{28A0092B-C50C-407E-A947-70E740481C1C}">
                <a14:useLocalDpi xmlns:a14="http://schemas.microsoft.com/office/drawing/2010/main" val="0"/>
              </a:ext>
            </a:extLst>
          </a:blip>
          <a:srcRect/>
          <a:stretch>
            <a:fillRect/>
          </a:stretch>
        </p:blipFill>
        <p:spPr>
          <a:xfrm>
            <a:off x="5503863" y="4437063"/>
            <a:ext cx="3965575" cy="2317750"/>
          </a:xfr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Tree>
  </p:cSld>
  <p:clrMapOvr>
    <a:masterClrMapping/>
  </p:clrMapOvr>
  <p:transition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58" name="Rectangle 50">
            <a:extLst>
              <a:ext uri="{FF2B5EF4-FFF2-40B4-BE49-F238E27FC236}">
                <a16:creationId xmlns:a16="http://schemas.microsoft.com/office/drawing/2014/main" id="{EDD6FB46-6BA6-0B12-824D-2A7D8AEAFD11}"/>
              </a:ext>
            </a:extLst>
          </p:cNvPr>
          <p:cNvSpPr>
            <a:spLocks noChangeArrowheads="1"/>
          </p:cNvSpPr>
          <p:nvPr/>
        </p:nvSpPr>
        <p:spPr bwMode="auto">
          <a:xfrm>
            <a:off x="247650" y="0"/>
            <a:ext cx="388778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a:t>
            </a:r>
            <a:r>
              <a:rPr lang="en-US" altLang="zh-CN" b="1">
                <a:solidFill>
                  <a:srgbClr val="34F7F2"/>
                </a:solidFill>
                <a:effectLst>
                  <a:outerShdw blurRad="38100" dist="38100" dir="2700000" algn="tl">
                    <a:srgbClr val="000000"/>
                  </a:outerShdw>
                </a:effectLst>
              </a:rPr>
              <a:t>3.4.5 </a:t>
            </a:r>
            <a:r>
              <a:rPr lang="zh-CN" altLang="en-US" b="1">
                <a:solidFill>
                  <a:srgbClr val="34F7F2"/>
                </a:solidFill>
                <a:effectLst>
                  <a:outerShdw blurRad="38100" dist="38100" dir="2700000" algn="tl">
                    <a:srgbClr val="000000"/>
                  </a:outerShdw>
                </a:effectLst>
              </a:rPr>
              <a:t>同态滤波</a:t>
            </a:r>
          </a:p>
        </p:txBody>
      </p:sp>
      <p:sp>
        <p:nvSpPr>
          <p:cNvPr id="247862" name="Rectangle 54">
            <a:extLst>
              <a:ext uri="{FF2B5EF4-FFF2-40B4-BE49-F238E27FC236}">
                <a16:creationId xmlns:a16="http://schemas.microsoft.com/office/drawing/2014/main" id="{27BE6F0A-6706-8AE9-0A25-FE7898D23754}"/>
              </a:ext>
            </a:extLst>
          </p:cNvPr>
          <p:cNvSpPr>
            <a:spLocks noGrp="1" noChangeArrowheads="1"/>
          </p:cNvSpPr>
          <p:nvPr>
            <p:ph type="body" idx="1"/>
          </p:nvPr>
        </p:nvSpPr>
        <p:spPr>
          <a:xfrm>
            <a:off x="247650" y="1412875"/>
            <a:ext cx="9791700" cy="2879725"/>
          </a:xfrm>
          <a:noFill/>
          <a:ln/>
        </p:spPr>
        <p:txBody>
          <a:bodyPr/>
          <a:lstStyle/>
          <a:p>
            <a:pPr>
              <a:buFont typeface="Monotype Sorts" pitchFamily="2" charset="2"/>
              <a:buNone/>
            </a:pPr>
            <a:r>
              <a:rPr lang="zh-CN" altLang="en-US" sz="2800" b="1">
                <a:solidFill>
                  <a:schemeClr val="tx2"/>
                </a:solidFill>
              </a:rPr>
              <a:t>同态滤波器的基本思想</a:t>
            </a:r>
          </a:p>
          <a:p>
            <a:pPr lvl="1"/>
            <a:r>
              <a:rPr lang="zh-CN" altLang="en-US" sz="2400" b="1">
                <a:solidFill>
                  <a:srgbClr val="34F7F2"/>
                </a:solidFill>
              </a:rPr>
              <a:t>一个图像</a:t>
            </a:r>
            <a:r>
              <a:rPr lang="en-US" altLang="zh-CN" sz="2400" b="1">
                <a:solidFill>
                  <a:srgbClr val="34F7F2"/>
                </a:solidFill>
              </a:rPr>
              <a:t>f(x,y)</a:t>
            </a:r>
            <a:r>
              <a:rPr lang="zh-CN" altLang="en-US" sz="2400" b="1">
                <a:solidFill>
                  <a:srgbClr val="34F7F2"/>
                </a:solidFill>
              </a:rPr>
              <a:t>可以根据它的照度和反射分量的乘积来表示</a:t>
            </a:r>
          </a:p>
          <a:p>
            <a:pPr lvl="1">
              <a:buFontTx/>
              <a:buNone/>
            </a:pPr>
            <a:r>
              <a:rPr lang="zh-CN" altLang="en-US" sz="2400" b="1"/>
              <a:t>			 </a:t>
            </a:r>
            <a:r>
              <a:rPr lang="en-US" altLang="zh-CN" sz="2400" b="1" i="1"/>
              <a:t>f </a:t>
            </a:r>
            <a:r>
              <a:rPr lang="en-US" altLang="zh-CN" sz="2400" b="1"/>
              <a:t>(</a:t>
            </a:r>
            <a:r>
              <a:rPr lang="en-US" altLang="zh-CN" sz="2400" b="1" i="1"/>
              <a:t>x,y</a:t>
            </a:r>
            <a:r>
              <a:rPr lang="en-US" altLang="zh-CN" sz="2400" b="1"/>
              <a:t>) = </a:t>
            </a:r>
            <a:r>
              <a:rPr lang="en-US" altLang="zh-CN" sz="2400" b="1" i="1"/>
              <a:t>i </a:t>
            </a:r>
            <a:r>
              <a:rPr lang="en-US" altLang="zh-CN" sz="2400" b="1"/>
              <a:t>(</a:t>
            </a:r>
            <a:r>
              <a:rPr lang="en-US" altLang="zh-CN" sz="2400" b="1" i="1"/>
              <a:t>x,y</a:t>
            </a:r>
            <a:r>
              <a:rPr lang="en-US" altLang="zh-CN" sz="2400" b="1"/>
              <a:t>)</a:t>
            </a:r>
            <a:r>
              <a:rPr lang="en-US" altLang="zh-CN" sz="2400" b="1" i="1"/>
              <a:t>r </a:t>
            </a:r>
            <a:r>
              <a:rPr lang="en-US" altLang="zh-CN" sz="2400" b="1"/>
              <a:t>(</a:t>
            </a:r>
            <a:r>
              <a:rPr lang="en-US" altLang="zh-CN" sz="2400" b="1" i="1"/>
              <a:t>x,y</a:t>
            </a:r>
            <a:r>
              <a:rPr lang="en-US" altLang="zh-CN" sz="2400" b="1"/>
              <a:t>)</a:t>
            </a:r>
          </a:p>
          <a:p>
            <a:pPr lvl="1"/>
            <a:r>
              <a:rPr lang="zh-CN" altLang="en-US" sz="2400" b="1">
                <a:solidFill>
                  <a:srgbClr val="FF9900"/>
                </a:solidFill>
              </a:rPr>
              <a:t>其中：</a:t>
            </a:r>
            <a:r>
              <a:rPr lang="en-US" altLang="zh-CN" sz="2400" b="1" i="1">
                <a:solidFill>
                  <a:srgbClr val="FF9900"/>
                </a:solidFill>
              </a:rPr>
              <a:t>i </a:t>
            </a:r>
            <a:r>
              <a:rPr lang="en-US" altLang="zh-CN" sz="2400" b="1">
                <a:solidFill>
                  <a:srgbClr val="FF9900"/>
                </a:solidFill>
              </a:rPr>
              <a:t>(</a:t>
            </a:r>
            <a:r>
              <a:rPr lang="en-US" altLang="zh-CN" sz="2400" b="1" i="1">
                <a:solidFill>
                  <a:srgbClr val="FF9900"/>
                </a:solidFill>
              </a:rPr>
              <a:t>x,y</a:t>
            </a:r>
            <a:r>
              <a:rPr lang="en-US" altLang="zh-CN" sz="2400" b="1">
                <a:solidFill>
                  <a:srgbClr val="FF9900"/>
                </a:solidFill>
              </a:rPr>
              <a:t>)</a:t>
            </a:r>
            <a:r>
              <a:rPr lang="zh-CN" altLang="en-US" sz="2400" b="1">
                <a:solidFill>
                  <a:srgbClr val="FF9900"/>
                </a:solidFill>
              </a:rPr>
              <a:t>为照度函数，</a:t>
            </a:r>
          </a:p>
          <a:p>
            <a:pPr lvl="1">
              <a:buFontTx/>
              <a:buNone/>
            </a:pPr>
            <a:r>
              <a:rPr lang="zh-CN" altLang="en-US" sz="2400" b="1">
                <a:solidFill>
                  <a:srgbClr val="FF9900"/>
                </a:solidFill>
              </a:rPr>
              <a:t>		         </a:t>
            </a:r>
            <a:r>
              <a:rPr lang="en-US" altLang="zh-CN" sz="2400" b="1" i="1">
                <a:solidFill>
                  <a:srgbClr val="FF9900"/>
                </a:solidFill>
              </a:rPr>
              <a:t>r </a:t>
            </a:r>
            <a:r>
              <a:rPr lang="en-US" altLang="zh-CN" sz="2400" b="1">
                <a:solidFill>
                  <a:srgbClr val="FF9900"/>
                </a:solidFill>
              </a:rPr>
              <a:t>(</a:t>
            </a:r>
            <a:r>
              <a:rPr lang="en-US" altLang="zh-CN" sz="2400" b="1" i="1">
                <a:solidFill>
                  <a:srgbClr val="FF9900"/>
                </a:solidFill>
              </a:rPr>
              <a:t>x,y</a:t>
            </a:r>
            <a:r>
              <a:rPr lang="en-US" altLang="zh-CN" sz="2400" b="1">
                <a:solidFill>
                  <a:srgbClr val="FF9900"/>
                </a:solidFill>
              </a:rPr>
              <a:t>)</a:t>
            </a:r>
            <a:r>
              <a:rPr lang="zh-CN" altLang="en-US" sz="2400" b="1">
                <a:solidFill>
                  <a:srgbClr val="FF9900"/>
                </a:solidFill>
              </a:rPr>
              <a:t>反射分量函数</a:t>
            </a:r>
          </a:p>
          <a:p>
            <a:pPr lvl="1"/>
            <a:r>
              <a:rPr lang="zh-CN" altLang="en-US" sz="2400" b="1">
                <a:solidFill>
                  <a:srgbClr val="CCCCFF"/>
                </a:solidFill>
              </a:rPr>
              <a:t>通过同时实现压缩亮度范围和增强对比度，来改进图像的表现</a:t>
            </a:r>
          </a:p>
        </p:txBody>
      </p:sp>
      <p:sp>
        <p:nvSpPr>
          <p:cNvPr id="247863" name="Rectangle 55">
            <a:extLst>
              <a:ext uri="{FF2B5EF4-FFF2-40B4-BE49-F238E27FC236}">
                <a16:creationId xmlns:a16="http://schemas.microsoft.com/office/drawing/2014/main" id="{5EFF80E0-1522-CBF7-E904-A134F08D9D8B}"/>
              </a:ext>
            </a:extLst>
          </p:cNvPr>
          <p:cNvSpPr>
            <a:spLocks noChangeArrowheads="1"/>
          </p:cNvSpPr>
          <p:nvPr/>
        </p:nvSpPr>
        <p:spPr bwMode="auto">
          <a:xfrm>
            <a:off x="534988" y="4206875"/>
            <a:ext cx="8856662" cy="265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marL="742950" indent="-285750">
              <a:spcBef>
                <a:spcPct val="20000"/>
              </a:spcBef>
              <a:buClr>
                <a:schemeClr val="tx1"/>
              </a:buClr>
              <a:buChar char="–"/>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marL="1143000" indent="-228600">
              <a:spcBef>
                <a:spcPct val="20000"/>
              </a:spcBef>
              <a:buClr>
                <a:schemeClr val="tx1"/>
              </a:buClr>
              <a:buChar char="»"/>
              <a:defRPr kumimoji="1" sz="24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marL="1600200" indent="-228600">
              <a:spcBef>
                <a:spcPct val="20000"/>
              </a:spcBef>
              <a:buClr>
                <a:schemeClr val="tx2"/>
              </a:buClr>
              <a:buSzPct val="63000"/>
              <a:buFont typeface="Monotype Sorts" pitchFamily="2" charset="2"/>
              <a:buChar char="n"/>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marL="2057400" indent="-228600">
              <a:spcBef>
                <a:spcPct val="20000"/>
              </a:spcBef>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lr>
                <a:schemeClr val="tx1"/>
              </a:buClr>
              <a:buChar cha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a:buFont typeface="Monotype Sorts" pitchFamily="2" charset="2"/>
              <a:buNone/>
            </a:pPr>
            <a:r>
              <a:rPr lang="zh-CN" altLang="en-US" sz="2400" b="1"/>
              <a:t>定义：因为两个函数乘积的傅立叶变换不是可分离的，也即：</a:t>
            </a:r>
          </a:p>
          <a:p>
            <a:pPr lvl="1" algn="just">
              <a:buFontTx/>
              <a:buNone/>
            </a:pPr>
            <a:r>
              <a:rPr lang="zh-CN" altLang="en-US" sz="2400" b="1"/>
              <a:t>			</a:t>
            </a:r>
            <a:r>
              <a:rPr lang="en-US" altLang="zh-CN" sz="2400" b="1">
                <a:solidFill>
                  <a:srgbClr val="34F7F2"/>
                </a:solidFill>
              </a:rPr>
              <a:t>F{f(x,y)} ≠ F{i(x,y)}F{r(x,y)}</a:t>
            </a:r>
          </a:p>
          <a:p>
            <a:pPr lvl="1" algn="just">
              <a:buFontTx/>
              <a:buNone/>
            </a:pPr>
            <a:r>
              <a:rPr lang="en-US" altLang="zh-CN" sz="2400" b="1"/>
              <a:t>	</a:t>
            </a:r>
            <a:r>
              <a:rPr lang="zh-CN" altLang="en-US" sz="2400" b="1"/>
              <a:t>假设我们定义</a:t>
            </a:r>
          </a:p>
          <a:p>
            <a:pPr lvl="1" algn="just">
              <a:buFontTx/>
              <a:buNone/>
            </a:pPr>
            <a:r>
              <a:rPr lang="zh-CN" altLang="en-US" sz="2400" b="1"/>
              <a:t>	</a:t>
            </a:r>
            <a:r>
              <a:rPr lang="en-US" altLang="zh-CN" sz="2400" b="1">
                <a:solidFill>
                  <a:srgbClr val="34F7F2"/>
                </a:solidFill>
              </a:rPr>
              <a:t>z(x,y) = ln f(x,y) </a:t>
            </a:r>
          </a:p>
          <a:p>
            <a:pPr lvl="1" algn="just">
              <a:buFontTx/>
              <a:buNone/>
            </a:pPr>
            <a:r>
              <a:rPr lang="en-US" altLang="zh-CN" sz="2400" b="1">
                <a:solidFill>
                  <a:srgbClr val="34F7F2"/>
                </a:solidFill>
              </a:rPr>
              <a:t>		        = ln (i(x,y)r(x,y) )</a:t>
            </a:r>
          </a:p>
          <a:p>
            <a:pPr lvl="1" algn="just">
              <a:buFontTx/>
              <a:buNone/>
            </a:pPr>
            <a:r>
              <a:rPr lang="en-US" altLang="zh-CN" sz="2400" b="1">
                <a:solidFill>
                  <a:srgbClr val="34F7F2"/>
                </a:solidFill>
              </a:rPr>
              <a:t>		        = ln i(x,y) + ln r(x,y)	</a:t>
            </a:r>
          </a:p>
        </p:txBody>
      </p:sp>
      <p:sp>
        <p:nvSpPr>
          <p:cNvPr id="247864" name="Rectangle 56">
            <a:extLst>
              <a:ext uri="{FF2B5EF4-FFF2-40B4-BE49-F238E27FC236}">
                <a16:creationId xmlns:a16="http://schemas.microsoft.com/office/drawing/2014/main" id="{0702F752-D59C-86EF-0E69-C05D24271A1C}"/>
              </a:ext>
            </a:extLst>
          </p:cNvPr>
          <p:cNvSpPr>
            <a:spLocks noChangeArrowheads="1"/>
          </p:cNvSpPr>
          <p:nvPr/>
        </p:nvSpPr>
        <p:spPr bwMode="auto">
          <a:xfrm>
            <a:off x="463550" y="620713"/>
            <a:ext cx="92884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FF9900"/>
                </a:solidFill>
              </a:rPr>
              <a:t>同态滤波是一种在频域中同时将图象亮度范围进行压缩和将图象对比度进行增强的方法。</a:t>
            </a:r>
          </a:p>
        </p:txBody>
      </p:sp>
    </p:spTree>
  </p:cSld>
  <p:clrMapOvr>
    <a:masterClrMapping/>
  </p:clrMapOvr>
  <p:transition advTm="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E9E0E112-DA5F-A475-E016-BD5E832CB455}"/>
              </a:ext>
            </a:extLst>
          </p:cNvPr>
          <p:cNvSpPr>
            <a:spLocks noChangeArrowheads="1"/>
          </p:cNvSpPr>
          <p:nvPr/>
        </p:nvSpPr>
        <p:spPr bwMode="auto">
          <a:xfrm>
            <a:off x="247650" y="0"/>
            <a:ext cx="388778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a:t>
            </a:r>
            <a:r>
              <a:rPr lang="en-US" altLang="zh-CN" b="1">
                <a:solidFill>
                  <a:srgbClr val="34F7F2"/>
                </a:solidFill>
                <a:effectLst>
                  <a:outerShdw blurRad="38100" dist="38100" dir="2700000" algn="tl">
                    <a:srgbClr val="000000"/>
                  </a:outerShdw>
                </a:effectLst>
              </a:rPr>
              <a:t>3.4.5 </a:t>
            </a:r>
            <a:r>
              <a:rPr lang="zh-CN" altLang="en-US" b="1">
                <a:solidFill>
                  <a:srgbClr val="34F7F2"/>
                </a:solidFill>
                <a:effectLst>
                  <a:outerShdw blurRad="38100" dist="38100" dir="2700000" algn="tl">
                    <a:srgbClr val="000000"/>
                  </a:outerShdw>
                </a:effectLst>
              </a:rPr>
              <a:t>同态滤波</a:t>
            </a:r>
          </a:p>
        </p:txBody>
      </p:sp>
      <p:sp>
        <p:nvSpPr>
          <p:cNvPr id="691206" name="Rectangle 6">
            <a:extLst>
              <a:ext uri="{FF2B5EF4-FFF2-40B4-BE49-F238E27FC236}">
                <a16:creationId xmlns:a16="http://schemas.microsoft.com/office/drawing/2014/main" id="{898C69FF-A958-7F1B-7360-ED97244D5043}"/>
              </a:ext>
            </a:extLst>
          </p:cNvPr>
          <p:cNvSpPr>
            <a:spLocks noChangeArrowheads="1"/>
          </p:cNvSpPr>
          <p:nvPr/>
        </p:nvSpPr>
        <p:spPr bwMode="auto">
          <a:xfrm>
            <a:off x="390525" y="765175"/>
            <a:ext cx="9288463" cy="629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r>
              <a:rPr lang="zh-CN" altLang="en-US" sz="2400" b="1">
                <a:solidFill>
                  <a:schemeClr val="tx2"/>
                </a:solidFill>
              </a:rPr>
              <a:t>那么有</a:t>
            </a:r>
            <a:r>
              <a:rPr lang="zh-CN" altLang="en-US" sz="2400" b="1">
                <a:solidFill>
                  <a:schemeClr val="accent2"/>
                </a:solidFill>
              </a:rPr>
              <a:t>：</a:t>
            </a:r>
            <a:endParaRPr lang="zh-CN" altLang="en-US" sz="2400" b="1">
              <a:solidFill>
                <a:srgbClr val="A1010C"/>
              </a:solidFill>
            </a:endParaRPr>
          </a:p>
          <a:p>
            <a:pPr lvl="1"/>
            <a:r>
              <a:rPr lang="en-US" altLang="zh-CN" sz="2400" b="1">
                <a:solidFill>
                  <a:srgbClr val="34F7F2"/>
                </a:solidFill>
              </a:rPr>
              <a:t>F{z(x,y)} = F{ln f(x,y)}  = F{ln i(x,y)} + F{ln r(x,y)}		</a:t>
            </a:r>
          </a:p>
          <a:p>
            <a:pPr lvl="1"/>
            <a:r>
              <a:rPr lang="en-US" altLang="zh-CN" sz="2400" b="1">
                <a:solidFill>
                  <a:srgbClr val="34F7F2"/>
                </a:solidFill>
              </a:rPr>
              <a:t>	</a:t>
            </a:r>
            <a:r>
              <a:rPr lang="zh-CN" altLang="en-US" sz="2400" b="1">
                <a:solidFill>
                  <a:srgbClr val="34F7F2"/>
                </a:solidFill>
              </a:rPr>
              <a:t>或	</a:t>
            </a:r>
            <a:r>
              <a:rPr lang="en-US" altLang="zh-CN" sz="2400" b="1">
                <a:solidFill>
                  <a:srgbClr val="34F7F2"/>
                </a:solidFill>
              </a:rPr>
              <a:t>Z(u,v) = I(u,v) + R(u,v)		</a:t>
            </a:r>
          </a:p>
          <a:p>
            <a:pPr lvl="1"/>
            <a:r>
              <a:rPr lang="en-US" altLang="zh-CN" sz="2400" b="1">
                <a:solidFill>
                  <a:srgbClr val="A1010C"/>
                </a:solidFill>
              </a:rPr>
              <a:t>	</a:t>
            </a:r>
            <a:r>
              <a:rPr lang="zh-CN" altLang="en-US" sz="2400" b="1">
                <a:solidFill>
                  <a:srgbClr val="FF9900"/>
                </a:solidFill>
              </a:rPr>
              <a:t>其中</a:t>
            </a:r>
            <a:r>
              <a:rPr lang="en-US" altLang="zh-CN" sz="2400" b="1">
                <a:solidFill>
                  <a:srgbClr val="FF9900"/>
                </a:solidFill>
              </a:rPr>
              <a:t>I(u,v) </a:t>
            </a:r>
            <a:r>
              <a:rPr lang="zh-CN" altLang="en-US" sz="2400" b="1">
                <a:solidFill>
                  <a:srgbClr val="FF9900"/>
                </a:solidFill>
              </a:rPr>
              <a:t>和</a:t>
            </a:r>
            <a:r>
              <a:rPr lang="en-US" altLang="zh-CN" sz="2400" b="1">
                <a:solidFill>
                  <a:srgbClr val="FF9900"/>
                </a:solidFill>
              </a:rPr>
              <a:t>R(u,v)</a:t>
            </a:r>
            <a:r>
              <a:rPr lang="zh-CN" altLang="en-US" sz="2400" b="1">
                <a:solidFill>
                  <a:srgbClr val="FF9900"/>
                </a:solidFill>
              </a:rPr>
              <a:t>分别是</a:t>
            </a:r>
            <a:r>
              <a:rPr lang="en-US" altLang="zh-CN" sz="2400" b="1">
                <a:solidFill>
                  <a:srgbClr val="FF9900"/>
                </a:solidFill>
              </a:rPr>
              <a:t>ln i(x,y) </a:t>
            </a:r>
            <a:r>
              <a:rPr lang="zh-CN" altLang="en-US" sz="2400" b="1">
                <a:solidFill>
                  <a:srgbClr val="FF9900"/>
                </a:solidFill>
              </a:rPr>
              <a:t>和</a:t>
            </a:r>
            <a:r>
              <a:rPr lang="en-US" altLang="zh-CN" sz="2400" b="1">
                <a:solidFill>
                  <a:srgbClr val="FF9900"/>
                </a:solidFill>
              </a:rPr>
              <a:t>ln r(x,y)</a:t>
            </a:r>
            <a:r>
              <a:rPr lang="zh-CN" altLang="en-US" sz="2400" b="1">
                <a:solidFill>
                  <a:srgbClr val="FF9900"/>
                </a:solidFill>
              </a:rPr>
              <a:t>的傅立叶变换</a:t>
            </a:r>
          </a:p>
          <a:p>
            <a:pPr lvl="1"/>
            <a:r>
              <a:rPr lang="zh-CN" altLang="en-US" sz="2400" b="1">
                <a:solidFill>
                  <a:schemeClr val="tx2"/>
                </a:solidFill>
              </a:rPr>
              <a:t>用滤波器函数</a:t>
            </a:r>
            <a:r>
              <a:rPr lang="en-US" altLang="zh-CN" sz="2400" b="1">
                <a:solidFill>
                  <a:schemeClr val="tx2"/>
                </a:solidFill>
              </a:rPr>
              <a:t>H(u,v)</a:t>
            </a:r>
            <a:r>
              <a:rPr lang="zh-CN" altLang="en-US" sz="2400" b="1">
                <a:solidFill>
                  <a:schemeClr val="tx2"/>
                </a:solidFill>
              </a:rPr>
              <a:t>的方法处理</a:t>
            </a:r>
            <a:r>
              <a:rPr lang="en-US" altLang="zh-CN" sz="2400" b="1">
                <a:solidFill>
                  <a:schemeClr val="tx2"/>
                </a:solidFill>
              </a:rPr>
              <a:t>Z(u,v)</a:t>
            </a:r>
            <a:r>
              <a:rPr lang="zh-CN" altLang="en-US" sz="2400" b="1">
                <a:solidFill>
                  <a:schemeClr val="tx2"/>
                </a:solidFill>
              </a:rPr>
              <a:t>，有：</a:t>
            </a:r>
          </a:p>
          <a:p>
            <a:pPr lvl="1"/>
            <a:r>
              <a:rPr lang="zh-CN" altLang="en-US" sz="2400" b="1">
                <a:solidFill>
                  <a:srgbClr val="FF0000"/>
                </a:solidFill>
              </a:rPr>
              <a:t>	</a:t>
            </a:r>
            <a:r>
              <a:rPr lang="en-US" altLang="zh-CN" sz="2400" b="1">
                <a:solidFill>
                  <a:srgbClr val="34F7F2"/>
                </a:solidFill>
              </a:rPr>
              <a:t>S(u,v) = H(u,v)Z(u,v) = H(u,v)I(u,v) + H(u,v)R(u,v) </a:t>
            </a:r>
          </a:p>
          <a:p>
            <a:pPr lvl="1"/>
            <a:r>
              <a:rPr lang="en-US" altLang="zh-CN" sz="2400" b="1">
                <a:solidFill>
                  <a:srgbClr val="A1010C"/>
                </a:solidFill>
              </a:rPr>
              <a:t>	</a:t>
            </a:r>
            <a:r>
              <a:rPr lang="zh-CN" altLang="en-US" sz="2400" b="1">
                <a:solidFill>
                  <a:srgbClr val="FF9900"/>
                </a:solidFill>
              </a:rPr>
              <a:t>其中</a:t>
            </a:r>
            <a:r>
              <a:rPr lang="en-US" altLang="zh-CN" sz="2400" b="1">
                <a:solidFill>
                  <a:srgbClr val="FF9900"/>
                </a:solidFill>
              </a:rPr>
              <a:t>S(u,v)</a:t>
            </a:r>
            <a:r>
              <a:rPr lang="zh-CN" altLang="en-US" sz="2400" b="1">
                <a:solidFill>
                  <a:srgbClr val="FF9900"/>
                </a:solidFill>
              </a:rPr>
              <a:t>是结果图像的傅立叶变换</a:t>
            </a:r>
          </a:p>
          <a:p>
            <a:pPr lvl="1"/>
            <a:r>
              <a:rPr lang="zh-CN" altLang="en-US" sz="2400" b="1">
                <a:solidFill>
                  <a:schemeClr val="tx2"/>
                </a:solidFill>
              </a:rPr>
              <a:t>在空域中：</a:t>
            </a:r>
          </a:p>
          <a:p>
            <a:pPr lvl="1"/>
            <a:r>
              <a:rPr lang="en-US" altLang="zh-CN" sz="2400" b="1">
                <a:solidFill>
                  <a:srgbClr val="34F7F2"/>
                </a:solidFill>
              </a:rPr>
              <a:t>s(x,y) = F</a:t>
            </a:r>
            <a:r>
              <a:rPr lang="en-US" altLang="zh-CN" sz="2400" b="1" baseline="30000">
                <a:solidFill>
                  <a:srgbClr val="34F7F2"/>
                </a:solidFill>
              </a:rPr>
              <a:t>-1</a:t>
            </a:r>
            <a:r>
              <a:rPr lang="en-US" altLang="zh-CN" sz="2400" b="1">
                <a:solidFill>
                  <a:srgbClr val="34F7F2"/>
                </a:solidFill>
              </a:rPr>
              <a:t>{S(u,v)} = F</a:t>
            </a:r>
            <a:r>
              <a:rPr lang="en-US" altLang="zh-CN" sz="2400" b="1" baseline="30000">
                <a:solidFill>
                  <a:srgbClr val="34F7F2"/>
                </a:solidFill>
              </a:rPr>
              <a:t>-1</a:t>
            </a:r>
            <a:r>
              <a:rPr lang="en-US" altLang="zh-CN" sz="2400" b="1">
                <a:solidFill>
                  <a:srgbClr val="34F7F2"/>
                </a:solidFill>
              </a:rPr>
              <a:t>{H(u,v)I(u,v)} + F</a:t>
            </a:r>
            <a:r>
              <a:rPr lang="en-US" altLang="zh-CN" sz="2400" b="1" baseline="30000">
                <a:solidFill>
                  <a:srgbClr val="34F7F2"/>
                </a:solidFill>
              </a:rPr>
              <a:t>-1</a:t>
            </a:r>
            <a:r>
              <a:rPr lang="en-US" altLang="zh-CN" sz="2400" b="1">
                <a:solidFill>
                  <a:srgbClr val="34F7F2"/>
                </a:solidFill>
              </a:rPr>
              <a:t>{H(u,v)R(u,v)}</a:t>
            </a:r>
          </a:p>
          <a:p>
            <a:pPr lvl="1"/>
            <a:r>
              <a:rPr lang="zh-CN" altLang="en-US" sz="2400" b="1">
                <a:solidFill>
                  <a:schemeClr val="tx2"/>
                </a:solidFill>
              </a:rPr>
              <a:t>通过设：</a:t>
            </a:r>
          </a:p>
          <a:p>
            <a:pPr lvl="1"/>
            <a:r>
              <a:rPr lang="zh-CN" altLang="en-US" sz="2400" b="1">
                <a:solidFill>
                  <a:srgbClr val="A1010C"/>
                </a:solidFill>
              </a:rPr>
              <a:t>  </a:t>
            </a:r>
            <a:r>
              <a:rPr lang="en-US" altLang="zh-CN" sz="2400" b="1">
                <a:solidFill>
                  <a:srgbClr val="34F7F2"/>
                </a:solidFill>
              </a:rPr>
              <a:t>i’(x,y) = F</a:t>
            </a:r>
            <a:r>
              <a:rPr lang="en-US" altLang="zh-CN" sz="2400" b="1" baseline="30000">
                <a:solidFill>
                  <a:srgbClr val="34F7F2"/>
                </a:solidFill>
              </a:rPr>
              <a:t>-1</a:t>
            </a:r>
            <a:r>
              <a:rPr lang="en-US" altLang="zh-CN" sz="2400" b="1">
                <a:solidFill>
                  <a:srgbClr val="34F7F2"/>
                </a:solidFill>
              </a:rPr>
              <a:t>{H(u,v)I(u,v)}      	r’(x,y) = F</a:t>
            </a:r>
            <a:r>
              <a:rPr lang="en-US" altLang="zh-CN" sz="2400" b="1" baseline="30000">
                <a:solidFill>
                  <a:srgbClr val="34F7F2"/>
                </a:solidFill>
              </a:rPr>
              <a:t>-1</a:t>
            </a:r>
            <a:r>
              <a:rPr lang="en-US" altLang="zh-CN" sz="2400" b="1">
                <a:solidFill>
                  <a:srgbClr val="34F7F2"/>
                </a:solidFill>
              </a:rPr>
              <a:t>{H(u,v)R(u,v)} 	</a:t>
            </a:r>
            <a:r>
              <a:rPr lang="en-US" altLang="zh-CN" sz="2400" b="1">
                <a:solidFill>
                  <a:srgbClr val="A1010C"/>
                </a:solidFill>
              </a:rPr>
              <a:t>	</a:t>
            </a:r>
          </a:p>
          <a:p>
            <a:pPr lvl="1"/>
            <a:r>
              <a:rPr lang="zh-CN" altLang="en-US" sz="2400" b="1">
                <a:solidFill>
                  <a:schemeClr val="tx2"/>
                </a:solidFill>
              </a:rPr>
              <a:t>可以表示为：</a:t>
            </a:r>
          </a:p>
          <a:p>
            <a:pPr lvl="1"/>
            <a:r>
              <a:rPr lang="zh-CN" altLang="en-US" sz="2400" b="1">
                <a:solidFill>
                  <a:srgbClr val="A1010C"/>
                </a:solidFill>
              </a:rPr>
              <a:t>			</a:t>
            </a:r>
            <a:r>
              <a:rPr lang="en-US" altLang="zh-CN" sz="2400" b="1">
                <a:solidFill>
                  <a:srgbClr val="34F7F2"/>
                </a:solidFill>
              </a:rPr>
              <a:t>s(x,y) = i’(x,y) + r’(x,y)	</a:t>
            </a:r>
            <a:r>
              <a:rPr lang="en-US" altLang="zh-CN" sz="2400" b="1">
                <a:solidFill>
                  <a:srgbClr val="A1010C"/>
                </a:solidFill>
              </a:rPr>
              <a:t>	</a:t>
            </a:r>
          </a:p>
          <a:p>
            <a:pPr lvl="1"/>
            <a:r>
              <a:rPr lang="zh-CN" altLang="en-US" sz="2400" b="1">
                <a:solidFill>
                  <a:srgbClr val="CCCCFF"/>
                </a:solidFill>
              </a:rPr>
              <a:t>最后，通过</a:t>
            </a:r>
            <a:r>
              <a:rPr lang="en-US" altLang="zh-CN" sz="2400" b="1">
                <a:solidFill>
                  <a:srgbClr val="CCCCFF"/>
                </a:solidFill>
              </a:rPr>
              <a:t>i’(x,y) </a:t>
            </a:r>
            <a:r>
              <a:rPr lang="zh-CN" altLang="en-US" sz="2400" b="1">
                <a:solidFill>
                  <a:srgbClr val="CCCCFF"/>
                </a:solidFill>
              </a:rPr>
              <a:t>和 </a:t>
            </a:r>
            <a:r>
              <a:rPr lang="en-US" altLang="zh-CN" sz="2400" b="1">
                <a:solidFill>
                  <a:srgbClr val="CCCCFF"/>
                </a:solidFill>
              </a:rPr>
              <a:t>r’(x,y)</a:t>
            </a:r>
            <a:r>
              <a:rPr lang="zh-CN" altLang="en-US" sz="2400" b="1">
                <a:solidFill>
                  <a:srgbClr val="CCCCFF"/>
                </a:solidFill>
              </a:rPr>
              <a:t>的逆操作（指数操作）产生增强后的图像</a:t>
            </a:r>
            <a:r>
              <a:rPr lang="en-US" altLang="zh-CN" sz="2400" b="1">
                <a:solidFill>
                  <a:srgbClr val="CCCCFF"/>
                </a:solidFill>
              </a:rPr>
              <a:t>g(x,y)</a:t>
            </a:r>
          </a:p>
          <a:p>
            <a:pPr lvl="1"/>
            <a:endParaRPr lang="en-US" altLang="zh-CN" sz="2400" b="1">
              <a:solidFill>
                <a:srgbClr val="CCCCFF"/>
              </a:solidFill>
            </a:endParaRPr>
          </a:p>
        </p:txBody>
      </p:sp>
    </p:spTree>
  </p:cSld>
  <p:clrMapOvr>
    <a:masterClrMapping/>
  </p:clrMapOvr>
  <p:transition advTm="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a:extLst>
              <a:ext uri="{FF2B5EF4-FFF2-40B4-BE49-F238E27FC236}">
                <a16:creationId xmlns:a16="http://schemas.microsoft.com/office/drawing/2014/main" id="{732DF34E-76DB-5277-DC5D-9DF3AB6C6DBF}"/>
              </a:ext>
            </a:extLst>
          </p:cNvPr>
          <p:cNvSpPr>
            <a:spLocks noChangeArrowheads="1"/>
          </p:cNvSpPr>
          <p:nvPr/>
        </p:nvSpPr>
        <p:spPr bwMode="auto">
          <a:xfrm>
            <a:off x="247650" y="0"/>
            <a:ext cx="388778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a:t>
            </a:r>
            <a:r>
              <a:rPr lang="en-US" altLang="zh-CN" b="1">
                <a:solidFill>
                  <a:srgbClr val="34F7F2"/>
                </a:solidFill>
                <a:effectLst>
                  <a:outerShdw blurRad="38100" dist="38100" dir="2700000" algn="tl">
                    <a:srgbClr val="000000"/>
                  </a:outerShdw>
                </a:effectLst>
              </a:rPr>
              <a:t>3.4.5 </a:t>
            </a:r>
            <a:r>
              <a:rPr lang="zh-CN" altLang="en-US" b="1">
                <a:solidFill>
                  <a:srgbClr val="34F7F2"/>
                </a:solidFill>
                <a:effectLst>
                  <a:outerShdw blurRad="38100" dist="38100" dir="2700000" algn="tl">
                    <a:srgbClr val="000000"/>
                  </a:outerShdw>
                </a:effectLst>
              </a:rPr>
              <a:t>同态滤波</a:t>
            </a:r>
          </a:p>
        </p:txBody>
      </p:sp>
      <p:sp>
        <p:nvSpPr>
          <p:cNvPr id="693252" name="Rectangle 4">
            <a:extLst>
              <a:ext uri="{FF2B5EF4-FFF2-40B4-BE49-F238E27FC236}">
                <a16:creationId xmlns:a16="http://schemas.microsoft.com/office/drawing/2014/main" id="{CF6B91EC-0BBE-692C-950E-2D5A4BF4964D}"/>
              </a:ext>
            </a:extLst>
          </p:cNvPr>
          <p:cNvSpPr>
            <a:spLocks noChangeArrowheads="1"/>
          </p:cNvSpPr>
          <p:nvPr/>
        </p:nvSpPr>
        <p:spPr bwMode="auto">
          <a:xfrm>
            <a:off x="463550" y="836613"/>
            <a:ext cx="91440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r>
              <a:rPr lang="zh-CN" altLang="en-US" sz="2400" b="1">
                <a:solidFill>
                  <a:srgbClr val="FFFF00"/>
                </a:solidFill>
              </a:rPr>
              <a:t>也即：</a:t>
            </a:r>
          </a:p>
          <a:p>
            <a:pPr lvl="1"/>
            <a:r>
              <a:rPr lang="en-US" altLang="zh-CN" sz="2400" b="1">
                <a:solidFill>
                  <a:srgbClr val="34F7F2"/>
                </a:solidFill>
              </a:rPr>
              <a:t>g(x,y) = exp[s(x,y)] = exp[i’(x,y)] exp[r’(x,y)] = i</a:t>
            </a:r>
            <a:r>
              <a:rPr lang="en-US" altLang="zh-CN" sz="2400" b="1" baseline="-25000">
                <a:solidFill>
                  <a:srgbClr val="34F7F2"/>
                </a:solidFill>
              </a:rPr>
              <a:t>0</a:t>
            </a:r>
            <a:r>
              <a:rPr lang="en-US" altLang="zh-CN" sz="2400" b="1">
                <a:solidFill>
                  <a:srgbClr val="34F7F2"/>
                </a:solidFill>
              </a:rPr>
              <a:t>(x,y)r</a:t>
            </a:r>
            <a:r>
              <a:rPr lang="en-US" altLang="zh-CN" sz="2400" b="1" baseline="-25000">
                <a:solidFill>
                  <a:srgbClr val="34F7F2"/>
                </a:solidFill>
              </a:rPr>
              <a:t>0</a:t>
            </a:r>
            <a:r>
              <a:rPr lang="en-US" altLang="zh-CN" sz="2400" b="1">
                <a:solidFill>
                  <a:srgbClr val="34F7F2"/>
                </a:solidFill>
              </a:rPr>
              <a:t>(x,y)</a:t>
            </a:r>
            <a:r>
              <a:rPr lang="en-US" altLang="zh-CN" sz="2400" b="1">
                <a:solidFill>
                  <a:srgbClr val="A1010C"/>
                </a:solidFill>
              </a:rPr>
              <a:t>  </a:t>
            </a:r>
          </a:p>
          <a:p>
            <a:pPr lvl="1"/>
            <a:r>
              <a:rPr lang="en-US" altLang="zh-CN" sz="2400" b="1">
                <a:solidFill>
                  <a:srgbClr val="A1010C"/>
                </a:solidFill>
              </a:rPr>
              <a:t>		</a:t>
            </a:r>
            <a:r>
              <a:rPr lang="zh-CN" altLang="en-US" sz="2400" b="1">
                <a:solidFill>
                  <a:schemeClr val="accent2"/>
                </a:solidFill>
              </a:rPr>
              <a:t>其中</a:t>
            </a:r>
            <a:r>
              <a:rPr lang="zh-CN" altLang="en-US" sz="2400" b="1">
                <a:solidFill>
                  <a:srgbClr val="A1010C"/>
                </a:solidFill>
              </a:rPr>
              <a:t>		</a:t>
            </a:r>
            <a:r>
              <a:rPr lang="en-US" altLang="zh-CN" sz="2400" b="1">
                <a:solidFill>
                  <a:srgbClr val="34F7F2"/>
                </a:solidFill>
              </a:rPr>
              <a:t>i</a:t>
            </a:r>
            <a:r>
              <a:rPr lang="en-US" altLang="zh-CN" sz="2400" b="1" baseline="-25000">
                <a:solidFill>
                  <a:srgbClr val="34F7F2"/>
                </a:solidFill>
              </a:rPr>
              <a:t>0</a:t>
            </a:r>
            <a:r>
              <a:rPr lang="en-US" altLang="zh-CN" sz="2400" b="1">
                <a:solidFill>
                  <a:srgbClr val="34F7F2"/>
                </a:solidFill>
              </a:rPr>
              <a:t>(x,y) = exp[i’(x,y)] 	</a:t>
            </a:r>
          </a:p>
          <a:p>
            <a:pPr lvl="1"/>
            <a:r>
              <a:rPr lang="en-US" altLang="zh-CN" sz="2400" b="1">
                <a:solidFill>
                  <a:srgbClr val="A1010C"/>
                </a:solidFill>
              </a:rPr>
              <a:t>		</a:t>
            </a:r>
            <a:r>
              <a:rPr lang="zh-CN" altLang="en-US" sz="2400" b="1">
                <a:solidFill>
                  <a:schemeClr val="accent2"/>
                </a:solidFill>
              </a:rPr>
              <a:t>和</a:t>
            </a:r>
            <a:r>
              <a:rPr lang="zh-CN" altLang="en-US" sz="2400" b="1">
                <a:solidFill>
                  <a:srgbClr val="A1010C"/>
                </a:solidFill>
              </a:rPr>
              <a:t>		</a:t>
            </a:r>
            <a:r>
              <a:rPr lang="en-US" altLang="zh-CN" sz="2400" b="1">
                <a:solidFill>
                  <a:srgbClr val="34F7F2"/>
                </a:solidFill>
              </a:rPr>
              <a:t>r</a:t>
            </a:r>
            <a:r>
              <a:rPr lang="en-US" altLang="zh-CN" sz="2400" b="1" baseline="-25000">
                <a:solidFill>
                  <a:srgbClr val="34F7F2"/>
                </a:solidFill>
              </a:rPr>
              <a:t>0</a:t>
            </a:r>
            <a:r>
              <a:rPr lang="en-US" altLang="zh-CN" sz="2400" b="1">
                <a:solidFill>
                  <a:srgbClr val="34F7F2"/>
                </a:solidFill>
              </a:rPr>
              <a:t>(x,y) = exp[r’(x,y)]	</a:t>
            </a:r>
          </a:p>
          <a:p>
            <a:pPr lvl="1"/>
            <a:r>
              <a:rPr lang="en-US" altLang="zh-CN" sz="2400" b="1">
                <a:solidFill>
                  <a:srgbClr val="A1010C"/>
                </a:solidFill>
              </a:rPr>
              <a:t>		</a:t>
            </a:r>
            <a:r>
              <a:rPr lang="zh-CN" altLang="en-US" sz="2400" b="1">
                <a:solidFill>
                  <a:srgbClr val="FFFF00"/>
                </a:solidFill>
              </a:rPr>
              <a:t>是输出图像的明度和反射分量</a:t>
            </a:r>
            <a:endParaRPr lang="zh-CN" altLang="en-US" sz="2400" b="1">
              <a:solidFill>
                <a:srgbClr val="A1010C"/>
              </a:solidFill>
            </a:endParaRPr>
          </a:p>
          <a:p>
            <a:pPr lvl="1"/>
            <a:r>
              <a:rPr lang="zh-CN" altLang="en-US" sz="2400" b="1">
                <a:solidFill>
                  <a:srgbClr val="A1010C"/>
                </a:solidFill>
              </a:rPr>
              <a:t>			</a:t>
            </a:r>
            <a:r>
              <a:rPr lang="en-US" altLang="zh-CN" sz="2400" b="1">
                <a:solidFill>
                  <a:srgbClr val="34F7F2"/>
                </a:solidFill>
              </a:rPr>
              <a:t>g</a:t>
            </a:r>
            <a:r>
              <a:rPr lang="en-US" altLang="zh-CN" sz="2400" b="1" baseline="-25000">
                <a:solidFill>
                  <a:srgbClr val="34F7F2"/>
                </a:solidFill>
              </a:rPr>
              <a:t>0</a:t>
            </a:r>
            <a:r>
              <a:rPr lang="en-US" altLang="zh-CN" sz="2400" b="1">
                <a:solidFill>
                  <a:srgbClr val="34F7F2"/>
                </a:solidFill>
              </a:rPr>
              <a:t>(x,y) = i</a:t>
            </a:r>
            <a:r>
              <a:rPr lang="en-US" altLang="zh-CN" sz="2400" b="1" baseline="-25000">
                <a:solidFill>
                  <a:srgbClr val="34F7F2"/>
                </a:solidFill>
              </a:rPr>
              <a:t>0</a:t>
            </a:r>
            <a:r>
              <a:rPr lang="en-US" altLang="zh-CN" sz="2400" b="1">
                <a:solidFill>
                  <a:srgbClr val="34F7F2"/>
                </a:solidFill>
              </a:rPr>
              <a:t>(x,y) r</a:t>
            </a:r>
            <a:r>
              <a:rPr lang="en-US" altLang="zh-CN" sz="2400" b="1" baseline="-25000">
                <a:solidFill>
                  <a:srgbClr val="34F7F2"/>
                </a:solidFill>
              </a:rPr>
              <a:t>0</a:t>
            </a:r>
            <a:r>
              <a:rPr lang="en-US" altLang="zh-CN" sz="2400" b="1">
                <a:solidFill>
                  <a:srgbClr val="34F7F2"/>
                </a:solidFill>
              </a:rPr>
              <a:t>(x,y)</a:t>
            </a:r>
          </a:p>
          <a:p>
            <a:pPr lvl="1"/>
            <a:r>
              <a:rPr lang="zh-CN" altLang="en-US" sz="2400" b="1">
                <a:solidFill>
                  <a:srgbClr val="FFFF00"/>
                </a:solidFill>
              </a:rPr>
              <a:t>利用前述概念进行增强的方法可以归纳为：</a:t>
            </a:r>
          </a:p>
          <a:p>
            <a:pPr lvl="1"/>
            <a:endParaRPr lang="zh-CN" altLang="en-US" sz="2400" b="1">
              <a:solidFill>
                <a:srgbClr val="FFFF00"/>
              </a:solidFill>
            </a:endParaRPr>
          </a:p>
          <a:p>
            <a:pPr lvl="1"/>
            <a:endParaRPr lang="zh-CN" altLang="en-US" sz="2400" b="1">
              <a:solidFill>
                <a:srgbClr val="A1010C"/>
              </a:solidFill>
            </a:endParaRPr>
          </a:p>
          <a:p>
            <a:pPr lvl="1"/>
            <a:endParaRPr lang="zh-CN" altLang="en-US" sz="2400" b="1">
              <a:solidFill>
                <a:srgbClr val="A1010C"/>
              </a:solidFill>
            </a:endParaRPr>
          </a:p>
          <a:p>
            <a:pPr lvl="1"/>
            <a:r>
              <a:rPr lang="zh-CN" altLang="en-US" sz="2400" b="1">
                <a:solidFill>
                  <a:srgbClr val="CCCCFF"/>
                </a:solidFill>
              </a:rPr>
              <a:t>在此特定应用中，问题的关键在于将照度和反射分量用进行分离。同态滤波器函数</a:t>
            </a:r>
            <a:r>
              <a:rPr lang="en-US" altLang="zh-CN" sz="2400" b="1">
                <a:solidFill>
                  <a:srgbClr val="CCCCFF"/>
                </a:solidFill>
              </a:rPr>
              <a:t>H(u,v)</a:t>
            </a:r>
            <a:r>
              <a:rPr lang="zh-CN" altLang="en-US" sz="2400" b="1">
                <a:solidFill>
                  <a:srgbClr val="CCCCFF"/>
                </a:solidFill>
              </a:rPr>
              <a:t>能够分别对这两部分进行操作。</a:t>
            </a:r>
          </a:p>
        </p:txBody>
      </p:sp>
      <p:grpSp>
        <p:nvGrpSpPr>
          <p:cNvPr id="693253" name="Group 5">
            <a:extLst>
              <a:ext uri="{FF2B5EF4-FFF2-40B4-BE49-F238E27FC236}">
                <a16:creationId xmlns:a16="http://schemas.microsoft.com/office/drawing/2014/main" id="{F7A9335E-761C-B4E2-E49B-BF43C10CCD92}"/>
              </a:ext>
            </a:extLst>
          </p:cNvPr>
          <p:cNvGrpSpPr>
            <a:grpSpLocks/>
          </p:cNvGrpSpPr>
          <p:nvPr/>
        </p:nvGrpSpPr>
        <p:grpSpPr bwMode="auto">
          <a:xfrm>
            <a:off x="390525" y="3644900"/>
            <a:ext cx="8382000" cy="609600"/>
            <a:chOff x="480" y="2160"/>
            <a:chExt cx="5280" cy="384"/>
          </a:xfrm>
        </p:grpSpPr>
        <p:sp>
          <p:nvSpPr>
            <p:cNvPr id="693254" name="AutoShape 6">
              <a:extLst>
                <a:ext uri="{FF2B5EF4-FFF2-40B4-BE49-F238E27FC236}">
                  <a16:creationId xmlns:a16="http://schemas.microsoft.com/office/drawing/2014/main" id="{FD52E08B-A781-4ECF-997D-455017F1A1E8}"/>
                </a:ext>
              </a:extLst>
            </p:cNvPr>
            <p:cNvSpPr>
              <a:spLocks noChangeArrowheads="1"/>
            </p:cNvSpPr>
            <p:nvPr/>
          </p:nvSpPr>
          <p:spPr bwMode="auto">
            <a:xfrm>
              <a:off x="960" y="2256"/>
              <a:ext cx="192" cy="240"/>
            </a:xfrm>
            <a:prstGeom prst="rightArrow">
              <a:avLst>
                <a:gd name="adj1" fmla="val 50000"/>
                <a:gd name="adj2" fmla="val 25000"/>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3255" name="Rectangle 7">
              <a:extLst>
                <a:ext uri="{FF2B5EF4-FFF2-40B4-BE49-F238E27FC236}">
                  <a16:creationId xmlns:a16="http://schemas.microsoft.com/office/drawing/2014/main" id="{30F833B5-B813-782E-7158-C4B6BC70C5AA}"/>
                </a:ext>
              </a:extLst>
            </p:cNvPr>
            <p:cNvSpPr>
              <a:spLocks noChangeArrowheads="1"/>
            </p:cNvSpPr>
            <p:nvPr/>
          </p:nvSpPr>
          <p:spPr bwMode="auto">
            <a:xfrm>
              <a:off x="1152" y="2160"/>
              <a:ext cx="576" cy="384"/>
            </a:xfrm>
            <a:prstGeom prst="rect">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en-US" altLang="zh-CN" sz="2400" b="1"/>
                <a:t>ln</a:t>
              </a:r>
            </a:p>
          </p:txBody>
        </p:sp>
        <p:sp>
          <p:nvSpPr>
            <p:cNvPr id="693256" name="AutoShape 8">
              <a:extLst>
                <a:ext uri="{FF2B5EF4-FFF2-40B4-BE49-F238E27FC236}">
                  <a16:creationId xmlns:a16="http://schemas.microsoft.com/office/drawing/2014/main" id="{BA2AC2A7-4A95-13B1-6DBF-56C1405A085F}"/>
                </a:ext>
              </a:extLst>
            </p:cNvPr>
            <p:cNvSpPr>
              <a:spLocks noChangeArrowheads="1"/>
            </p:cNvSpPr>
            <p:nvPr/>
          </p:nvSpPr>
          <p:spPr bwMode="auto">
            <a:xfrm>
              <a:off x="1728" y="2256"/>
              <a:ext cx="192" cy="240"/>
            </a:xfrm>
            <a:prstGeom prst="rightArrow">
              <a:avLst>
                <a:gd name="adj1" fmla="val 50000"/>
                <a:gd name="adj2" fmla="val 25000"/>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3257" name="Rectangle 9">
              <a:extLst>
                <a:ext uri="{FF2B5EF4-FFF2-40B4-BE49-F238E27FC236}">
                  <a16:creationId xmlns:a16="http://schemas.microsoft.com/office/drawing/2014/main" id="{0386F09D-38C1-5265-3259-247FD32BC66B}"/>
                </a:ext>
              </a:extLst>
            </p:cNvPr>
            <p:cNvSpPr>
              <a:spLocks noChangeArrowheads="1"/>
            </p:cNvSpPr>
            <p:nvPr/>
          </p:nvSpPr>
          <p:spPr bwMode="auto">
            <a:xfrm>
              <a:off x="1920" y="2160"/>
              <a:ext cx="576" cy="384"/>
            </a:xfrm>
            <a:prstGeom prst="rect">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en-US" altLang="zh-CN" sz="2400" b="1"/>
                <a:t>FFT</a:t>
              </a:r>
            </a:p>
          </p:txBody>
        </p:sp>
        <p:sp>
          <p:nvSpPr>
            <p:cNvPr id="693258" name="AutoShape 10">
              <a:extLst>
                <a:ext uri="{FF2B5EF4-FFF2-40B4-BE49-F238E27FC236}">
                  <a16:creationId xmlns:a16="http://schemas.microsoft.com/office/drawing/2014/main" id="{D969839D-EA65-B10B-2F62-C4070E521C2A}"/>
                </a:ext>
              </a:extLst>
            </p:cNvPr>
            <p:cNvSpPr>
              <a:spLocks noChangeArrowheads="1"/>
            </p:cNvSpPr>
            <p:nvPr/>
          </p:nvSpPr>
          <p:spPr bwMode="auto">
            <a:xfrm>
              <a:off x="2496" y="2256"/>
              <a:ext cx="288" cy="240"/>
            </a:xfrm>
            <a:prstGeom prst="rightArrow">
              <a:avLst>
                <a:gd name="adj1" fmla="val 50000"/>
                <a:gd name="adj2" fmla="val 30000"/>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3259" name="Rectangle 11">
              <a:extLst>
                <a:ext uri="{FF2B5EF4-FFF2-40B4-BE49-F238E27FC236}">
                  <a16:creationId xmlns:a16="http://schemas.microsoft.com/office/drawing/2014/main" id="{C879FD9E-00B8-C510-51D0-BBB262DCC52B}"/>
                </a:ext>
              </a:extLst>
            </p:cNvPr>
            <p:cNvSpPr>
              <a:spLocks noChangeArrowheads="1"/>
            </p:cNvSpPr>
            <p:nvPr/>
          </p:nvSpPr>
          <p:spPr bwMode="auto">
            <a:xfrm>
              <a:off x="2784" y="2160"/>
              <a:ext cx="576" cy="384"/>
            </a:xfrm>
            <a:prstGeom prst="rect">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en-US" altLang="zh-CN" sz="2400" b="1"/>
                <a:t>H(u,v)</a:t>
              </a:r>
            </a:p>
          </p:txBody>
        </p:sp>
        <p:sp>
          <p:nvSpPr>
            <p:cNvPr id="693260" name="AutoShape 12">
              <a:extLst>
                <a:ext uri="{FF2B5EF4-FFF2-40B4-BE49-F238E27FC236}">
                  <a16:creationId xmlns:a16="http://schemas.microsoft.com/office/drawing/2014/main" id="{4305077F-C84C-C506-1F48-27388752266E}"/>
                </a:ext>
              </a:extLst>
            </p:cNvPr>
            <p:cNvSpPr>
              <a:spLocks noChangeArrowheads="1"/>
            </p:cNvSpPr>
            <p:nvPr/>
          </p:nvSpPr>
          <p:spPr bwMode="auto">
            <a:xfrm>
              <a:off x="3360" y="2256"/>
              <a:ext cx="288" cy="240"/>
            </a:xfrm>
            <a:prstGeom prst="rightArrow">
              <a:avLst>
                <a:gd name="adj1" fmla="val 50000"/>
                <a:gd name="adj2" fmla="val 30000"/>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3261" name="Rectangle 13">
              <a:extLst>
                <a:ext uri="{FF2B5EF4-FFF2-40B4-BE49-F238E27FC236}">
                  <a16:creationId xmlns:a16="http://schemas.microsoft.com/office/drawing/2014/main" id="{767856F9-1691-9BFD-9BC6-D0F60ED650D9}"/>
                </a:ext>
              </a:extLst>
            </p:cNvPr>
            <p:cNvSpPr>
              <a:spLocks noChangeArrowheads="1"/>
            </p:cNvSpPr>
            <p:nvPr/>
          </p:nvSpPr>
          <p:spPr bwMode="auto">
            <a:xfrm>
              <a:off x="3648" y="2160"/>
              <a:ext cx="576" cy="384"/>
            </a:xfrm>
            <a:prstGeom prst="rect">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en-US" altLang="en-US" sz="2400" b="1"/>
                <a:t>(</a:t>
              </a:r>
              <a:r>
                <a:rPr lang="en-US" altLang="zh-CN" sz="2400" b="1"/>
                <a:t>FFT)</a:t>
              </a:r>
              <a:r>
                <a:rPr lang="en-US" altLang="zh-CN" sz="2400" b="1" baseline="30000"/>
                <a:t>-1</a:t>
              </a:r>
              <a:endParaRPr lang="en-US" altLang="zh-CN" sz="2400" b="1"/>
            </a:p>
          </p:txBody>
        </p:sp>
        <p:sp>
          <p:nvSpPr>
            <p:cNvPr id="693262" name="AutoShape 14">
              <a:extLst>
                <a:ext uri="{FF2B5EF4-FFF2-40B4-BE49-F238E27FC236}">
                  <a16:creationId xmlns:a16="http://schemas.microsoft.com/office/drawing/2014/main" id="{A0447C90-A791-D14B-FA45-060D9FA3A467}"/>
                </a:ext>
              </a:extLst>
            </p:cNvPr>
            <p:cNvSpPr>
              <a:spLocks noChangeArrowheads="1"/>
            </p:cNvSpPr>
            <p:nvPr/>
          </p:nvSpPr>
          <p:spPr bwMode="auto">
            <a:xfrm>
              <a:off x="4224" y="2256"/>
              <a:ext cx="288" cy="240"/>
            </a:xfrm>
            <a:prstGeom prst="rightArrow">
              <a:avLst>
                <a:gd name="adj1" fmla="val 50000"/>
                <a:gd name="adj2" fmla="val 30000"/>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3263" name="Rectangle 15">
              <a:extLst>
                <a:ext uri="{FF2B5EF4-FFF2-40B4-BE49-F238E27FC236}">
                  <a16:creationId xmlns:a16="http://schemas.microsoft.com/office/drawing/2014/main" id="{D4B2DD3D-4DE1-FDA5-7D6C-530D7F48322F}"/>
                </a:ext>
              </a:extLst>
            </p:cNvPr>
            <p:cNvSpPr>
              <a:spLocks noChangeArrowheads="1"/>
            </p:cNvSpPr>
            <p:nvPr/>
          </p:nvSpPr>
          <p:spPr bwMode="auto">
            <a:xfrm>
              <a:off x="4512" y="2160"/>
              <a:ext cx="576" cy="384"/>
            </a:xfrm>
            <a:prstGeom prst="rect">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en-US" altLang="zh-CN" sz="2400" b="1"/>
                <a:t>exp</a:t>
              </a:r>
            </a:p>
          </p:txBody>
        </p:sp>
        <p:sp>
          <p:nvSpPr>
            <p:cNvPr id="693264" name="Text Box 16">
              <a:extLst>
                <a:ext uri="{FF2B5EF4-FFF2-40B4-BE49-F238E27FC236}">
                  <a16:creationId xmlns:a16="http://schemas.microsoft.com/office/drawing/2014/main" id="{FBCBDF8B-EF49-039D-5D3B-F4AAFA41C76F}"/>
                </a:ext>
              </a:extLst>
            </p:cNvPr>
            <p:cNvSpPr txBox="1">
              <a:spLocks noChangeArrowheads="1"/>
            </p:cNvSpPr>
            <p:nvPr/>
          </p:nvSpPr>
          <p:spPr bwMode="auto">
            <a:xfrm>
              <a:off x="480" y="2208"/>
              <a:ext cx="537"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i="1"/>
                <a:t>f</a:t>
              </a:r>
              <a:r>
                <a:rPr lang="en-US" altLang="zh-CN" sz="2400" b="1"/>
                <a:t>(</a:t>
              </a:r>
              <a:r>
                <a:rPr lang="en-US" altLang="zh-CN" sz="2400" b="1" i="1"/>
                <a:t>x,y</a:t>
              </a:r>
              <a:r>
                <a:rPr lang="en-US" altLang="zh-CN" sz="2400" b="1"/>
                <a:t>)</a:t>
              </a:r>
            </a:p>
          </p:txBody>
        </p:sp>
        <p:sp>
          <p:nvSpPr>
            <p:cNvPr id="693265" name="AutoShape 17">
              <a:extLst>
                <a:ext uri="{FF2B5EF4-FFF2-40B4-BE49-F238E27FC236}">
                  <a16:creationId xmlns:a16="http://schemas.microsoft.com/office/drawing/2014/main" id="{A635401F-74AD-C7FC-01DB-47098700C78C}"/>
                </a:ext>
              </a:extLst>
            </p:cNvPr>
            <p:cNvSpPr>
              <a:spLocks noChangeArrowheads="1"/>
            </p:cNvSpPr>
            <p:nvPr/>
          </p:nvSpPr>
          <p:spPr bwMode="auto">
            <a:xfrm>
              <a:off x="5088" y="2256"/>
              <a:ext cx="144" cy="240"/>
            </a:xfrm>
            <a:prstGeom prst="rightArrow">
              <a:avLst>
                <a:gd name="adj1" fmla="val 50000"/>
                <a:gd name="adj2" fmla="val 25000"/>
              </a:avLst>
            </a:prstGeom>
            <a:solidFill>
              <a:srgbClr val="FF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3266" name="Text Box 18">
              <a:extLst>
                <a:ext uri="{FF2B5EF4-FFF2-40B4-BE49-F238E27FC236}">
                  <a16:creationId xmlns:a16="http://schemas.microsoft.com/office/drawing/2014/main" id="{831DD519-B6B2-EF62-D8CA-73930428DBAB}"/>
                </a:ext>
              </a:extLst>
            </p:cNvPr>
            <p:cNvSpPr txBox="1">
              <a:spLocks noChangeArrowheads="1"/>
            </p:cNvSpPr>
            <p:nvPr/>
          </p:nvSpPr>
          <p:spPr bwMode="auto">
            <a:xfrm>
              <a:off x="5191" y="2208"/>
              <a:ext cx="569" cy="288"/>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i="1"/>
                <a:t>g</a:t>
              </a:r>
              <a:r>
                <a:rPr lang="en-US" altLang="zh-CN" sz="2400" b="1"/>
                <a:t>(</a:t>
              </a:r>
              <a:r>
                <a:rPr lang="en-US" altLang="zh-CN" sz="2400" b="1" i="1"/>
                <a:t>x,y</a:t>
              </a:r>
              <a:r>
                <a:rPr lang="en-US" altLang="zh-CN" sz="2400" b="1"/>
                <a:t>)</a:t>
              </a:r>
            </a:p>
          </p:txBody>
        </p:sp>
      </p:grpSp>
    </p:spTree>
  </p:cSld>
  <p:clrMapOvr>
    <a:masterClrMapping/>
  </p:clrMapOvr>
  <p:transition advTm="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a:extLst>
              <a:ext uri="{FF2B5EF4-FFF2-40B4-BE49-F238E27FC236}">
                <a16:creationId xmlns:a16="http://schemas.microsoft.com/office/drawing/2014/main" id="{98154456-49D0-0CFB-ADB0-495A8B544976}"/>
              </a:ext>
            </a:extLst>
          </p:cNvPr>
          <p:cNvSpPr>
            <a:spLocks noChangeArrowheads="1"/>
          </p:cNvSpPr>
          <p:nvPr/>
        </p:nvSpPr>
        <p:spPr bwMode="auto">
          <a:xfrm>
            <a:off x="247650" y="0"/>
            <a:ext cx="388778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a:t>
            </a:r>
            <a:r>
              <a:rPr lang="en-US" altLang="zh-CN" b="1">
                <a:solidFill>
                  <a:srgbClr val="34F7F2"/>
                </a:solidFill>
                <a:effectLst>
                  <a:outerShdw blurRad="38100" dist="38100" dir="2700000" algn="tl">
                    <a:srgbClr val="000000"/>
                  </a:outerShdw>
                </a:effectLst>
              </a:rPr>
              <a:t>3.4.5 </a:t>
            </a:r>
            <a:r>
              <a:rPr lang="zh-CN" altLang="en-US" b="1">
                <a:solidFill>
                  <a:srgbClr val="34F7F2"/>
                </a:solidFill>
                <a:effectLst>
                  <a:outerShdw blurRad="38100" dist="38100" dir="2700000" algn="tl">
                    <a:srgbClr val="000000"/>
                  </a:outerShdw>
                </a:effectLst>
              </a:rPr>
              <a:t>同态滤波</a:t>
            </a:r>
          </a:p>
        </p:txBody>
      </p:sp>
      <p:sp>
        <p:nvSpPr>
          <p:cNvPr id="695314" name="Rectangle 18">
            <a:extLst>
              <a:ext uri="{FF2B5EF4-FFF2-40B4-BE49-F238E27FC236}">
                <a16:creationId xmlns:a16="http://schemas.microsoft.com/office/drawing/2014/main" id="{18E1C1D4-87B4-7888-C8A8-689E28525C45}"/>
              </a:ext>
            </a:extLst>
          </p:cNvPr>
          <p:cNvSpPr>
            <a:spLocks noGrp="1" noChangeArrowheads="1"/>
          </p:cNvSpPr>
          <p:nvPr>
            <p:ph type="body" idx="1"/>
          </p:nvPr>
        </p:nvSpPr>
        <p:spPr>
          <a:xfrm>
            <a:off x="319088" y="981075"/>
            <a:ext cx="9144000" cy="4464050"/>
          </a:xfrm>
          <a:noFill/>
          <a:ln/>
        </p:spPr>
        <p:txBody>
          <a:bodyPr/>
          <a:lstStyle/>
          <a:p>
            <a:pPr>
              <a:lnSpc>
                <a:spcPct val="90000"/>
              </a:lnSpc>
              <a:buFont typeface="Monotype Sorts" pitchFamily="2" charset="2"/>
              <a:buNone/>
            </a:pPr>
            <a:r>
              <a:rPr lang="zh-CN" altLang="en-US" sz="2800" b="1">
                <a:solidFill>
                  <a:schemeClr val="tx2"/>
                </a:solidFill>
              </a:rPr>
              <a:t>同态滤波器的效果分析</a:t>
            </a:r>
          </a:p>
          <a:p>
            <a:pPr lvl="1">
              <a:lnSpc>
                <a:spcPct val="90000"/>
              </a:lnSpc>
            </a:pPr>
            <a:r>
              <a:rPr lang="zh-CN" altLang="en-US" sz="2400" b="1">
                <a:solidFill>
                  <a:srgbClr val="34F7F2"/>
                </a:solidFill>
              </a:rPr>
              <a:t>图像的</a:t>
            </a:r>
            <a:r>
              <a:rPr lang="zh-CN" altLang="en-US" sz="2400" b="1" u="sng">
                <a:solidFill>
                  <a:srgbClr val="34F7F2"/>
                </a:solidFill>
              </a:rPr>
              <a:t>照度分量</a:t>
            </a:r>
            <a:r>
              <a:rPr lang="zh-CN" altLang="en-US" sz="2400" b="1">
                <a:solidFill>
                  <a:srgbClr val="34F7F2"/>
                </a:solidFill>
              </a:rPr>
              <a:t>的特点是</a:t>
            </a:r>
            <a:r>
              <a:rPr lang="zh-CN" altLang="en-US" sz="2400" b="1" u="sng">
                <a:solidFill>
                  <a:srgbClr val="34F7F2"/>
                </a:solidFill>
              </a:rPr>
              <a:t>平缓的空域变化</a:t>
            </a:r>
            <a:r>
              <a:rPr lang="zh-CN" altLang="en-US" sz="2400" b="1">
                <a:solidFill>
                  <a:srgbClr val="34F7F2"/>
                </a:solidFill>
              </a:rPr>
              <a:t>，而</a:t>
            </a:r>
            <a:r>
              <a:rPr lang="zh-CN" altLang="en-US" sz="2400" b="1" u="sng">
                <a:solidFill>
                  <a:srgbClr val="34F7F2"/>
                </a:solidFill>
              </a:rPr>
              <a:t>反射分量</a:t>
            </a:r>
            <a:r>
              <a:rPr lang="zh-CN" altLang="en-US" sz="2400" b="1">
                <a:solidFill>
                  <a:srgbClr val="34F7F2"/>
                </a:solidFill>
              </a:rPr>
              <a:t>则近于</a:t>
            </a:r>
            <a:r>
              <a:rPr lang="zh-CN" altLang="en-US" sz="2400" b="1" u="sng">
                <a:solidFill>
                  <a:srgbClr val="34F7F2"/>
                </a:solidFill>
              </a:rPr>
              <a:t>陡峭的空域变化</a:t>
            </a:r>
            <a:endParaRPr lang="zh-CN" altLang="en-US" sz="2400" b="1">
              <a:solidFill>
                <a:srgbClr val="34F7F2"/>
              </a:solidFill>
            </a:endParaRPr>
          </a:p>
          <a:p>
            <a:pPr lvl="1">
              <a:lnSpc>
                <a:spcPct val="90000"/>
              </a:lnSpc>
            </a:pPr>
            <a:r>
              <a:rPr lang="zh-CN" altLang="en-US" sz="2400" b="1">
                <a:solidFill>
                  <a:srgbClr val="FF9900"/>
                </a:solidFill>
              </a:rPr>
              <a:t>这些特性使得将图像的对数的傅立叶变换的</a:t>
            </a:r>
            <a:r>
              <a:rPr lang="zh-CN" altLang="en-US" sz="2400" b="1" u="sng">
                <a:solidFill>
                  <a:srgbClr val="FF9900"/>
                </a:solidFill>
              </a:rPr>
              <a:t>低频部分</a:t>
            </a:r>
            <a:r>
              <a:rPr lang="zh-CN" altLang="en-US" sz="2400" b="1">
                <a:solidFill>
                  <a:srgbClr val="FF9900"/>
                </a:solidFill>
              </a:rPr>
              <a:t>对应于</a:t>
            </a:r>
            <a:r>
              <a:rPr lang="zh-CN" altLang="en-US" sz="2400" b="1" u="sng">
                <a:solidFill>
                  <a:srgbClr val="FF9900"/>
                </a:solidFill>
              </a:rPr>
              <a:t>照度分量</a:t>
            </a:r>
            <a:r>
              <a:rPr lang="zh-CN" altLang="en-US" sz="2400" b="1">
                <a:solidFill>
                  <a:srgbClr val="FF9900"/>
                </a:solidFill>
              </a:rPr>
              <a:t>，而</a:t>
            </a:r>
            <a:r>
              <a:rPr lang="zh-CN" altLang="en-US" sz="2400" b="1" u="sng">
                <a:solidFill>
                  <a:srgbClr val="FF9900"/>
                </a:solidFill>
              </a:rPr>
              <a:t>高频部分</a:t>
            </a:r>
            <a:r>
              <a:rPr lang="zh-CN" altLang="en-US" sz="2400" b="1">
                <a:solidFill>
                  <a:srgbClr val="FF9900"/>
                </a:solidFill>
              </a:rPr>
              <a:t>对应于</a:t>
            </a:r>
            <a:r>
              <a:rPr lang="zh-CN" altLang="en-US" sz="2400" b="1" u="sng">
                <a:solidFill>
                  <a:srgbClr val="FF9900"/>
                </a:solidFill>
              </a:rPr>
              <a:t>反射分量</a:t>
            </a:r>
            <a:endParaRPr lang="zh-CN" altLang="en-US" sz="2400" b="1">
              <a:solidFill>
                <a:srgbClr val="FF9900"/>
              </a:solidFill>
            </a:endParaRPr>
          </a:p>
          <a:p>
            <a:pPr lvl="1">
              <a:lnSpc>
                <a:spcPct val="90000"/>
              </a:lnSpc>
            </a:pPr>
            <a:r>
              <a:rPr lang="zh-CN" altLang="en-US" sz="2400" b="1">
                <a:solidFill>
                  <a:srgbClr val="CCCCFF"/>
                </a:solidFill>
              </a:rPr>
              <a:t>尽管这种对应关系只是一个粗略的近似，但它们可以用于优化图像的增强操作</a:t>
            </a:r>
          </a:p>
          <a:p>
            <a:pPr lvl="1">
              <a:lnSpc>
                <a:spcPct val="90000"/>
              </a:lnSpc>
            </a:pPr>
            <a:r>
              <a:rPr lang="zh-CN" altLang="en-US" sz="2400" b="1">
                <a:solidFill>
                  <a:srgbClr val="B3E5BB"/>
                </a:solidFill>
              </a:rPr>
              <a:t>一个好的控制可以通过用同态滤波器对照度和反射分量分别操作得到</a:t>
            </a:r>
          </a:p>
          <a:p>
            <a:pPr lvl="1">
              <a:lnSpc>
                <a:spcPct val="90000"/>
              </a:lnSpc>
            </a:pPr>
            <a:r>
              <a:rPr lang="zh-CN" altLang="en-US" sz="2400" b="1">
                <a:solidFill>
                  <a:srgbClr val="FFFF00"/>
                </a:solidFill>
              </a:rPr>
              <a:t>这个控制要求指定一个滤波器函数</a:t>
            </a:r>
            <a:r>
              <a:rPr lang="en-US" altLang="zh-CN" sz="2400" b="1">
                <a:solidFill>
                  <a:srgbClr val="FFFF00"/>
                </a:solidFill>
              </a:rPr>
              <a:t>H(u,v)</a:t>
            </a:r>
            <a:r>
              <a:rPr lang="zh-CN" altLang="en-US" sz="2400" b="1">
                <a:solidFill>
                  <a:srgbClr val="FFFF00"/>
                </a:solidFill>
              </a:rPr>
              <a:t>，它对于傅立叶变换的低频和高频部分的影响是不同的</a:t>
            </a:r>
          </a:p>
          <a:p>
            <a:pPr lvl="1">
              <a:lnSpc>
                <a:spcPct val="90000"/>
              </a:lnSpc>
            </a:pPr>
            <a:endParaRPr lang="en-US" altLang="zh-CN" sz="2400" b="1">
              <a:solidFill>
                <a:srgbClr val="FFFF00"/>
              </a:solidFill>
            </a:endParaRPr>
          </a:p>
        </p:txBody>
      </p:sp>
    </p:spTree>
  </p:cSld>
  <p:clrMapOvr>
    <a:masterClrMapping/>
  </p:clrMapOvr>
  <p:transition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0B1AB353-C767-6AD6-6F48-213770022DE7}"/>
              </a:ext>
            </a:extLst>
          </p:cNvPr>
          <p:cNvSpPr>
            <a:spLocks noChangeArrowheads="1"/>
          </p:cNvSpPr>
          <p:nvPr/>
        </p:nvSpPr>
        <p:spPr bwMode="auto">
          <a:xfrm>
            <a:off x="247650" y="0"/>
            <a:ext cx="388778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a:t>
            </a:r>
            <a:r>
              <a:rPr lang="en-US" altLang="zh-CN" b="1">
                <a:solidFill>
                  <a:srgbClr val="34F7F2"/>
                </a:solidFill>
                <a:effectLst>
                  <a:outerShdw blurRad="38100" dist="38100" dir="2700000" algn="tl">
                    <a:srgbClr val="000000"/>
                  </a:outerShdw>
                </a:effectLst>
              </a:rPr>
              <a:t>3.4.5 </a:t>
            </a:r>
            <a:r>
              <a:rPr lang="zh-CN" altLang="en-US" b="1">
                <a:solidFill>
                  <a:srgbClr val="34F7F2"/>
                </a:solidFill>
                <a:effectLst>
                  <a:outerShdw blurRad="38100" dist="38100" dir="2700000" algn="tl">
                    <a:srgbClr val="000000"/>
                  </a:outerShdw>
                </a:effectLst>
              </a:rPr>
              <a:t>同态滤波</a:t>
            </a:r>
          </a:p>
        </p:txBody>
      </p:sp>
      <p:sp>
        <p:nvSpPr>
          <p:cNvPr id="697349" name="Rectangle 5">
            <a:extLst>
              <a:ext uri="{FF2B5EF4-FFF2-40B4-BE49-F238E27FC236}">
                <a16:creationId xmlns:a16="http://schemas.microsoft.com/office/drawing/2014/main" id="{2900924B-A7E9-0659-CAC5-A20497E7CA3A}"/>
              </a:ext>
            </a:extLst>
          </p:cNvPr>
          <p:cNvSpPr>
            <a:spLocks noChangeArrowheads="1"/>
          </p:cNvSpPr>
          <p:nvPr>
            <p:ph type="body" idx="1"/>
          </p:nvPr>
        </p:nvSpPr>
        <p:spPr>
          <a:xfrm>
            <a:off x="534988" y="1268413"/>
            <a:ext cx="8382000" cy="914400"/>
          </a:xfrm>
          <a:noFill/>
          <a:ln/>
        </p:spPr>
        <p:txBody>
          <a:bodyPr/>
          <a:lstStyle/>
          <a:p>
            <a:pPr>
              <a:buFont typeface="Monotype Sorts" pitchFamily="2" charset="2"/>
              <a:buNone/>
            </a:pPr>
            <a:r>
              <a:rPr lang="zh-CN" altLang="en-US" sz="2800" b="1">
                <a:solidFill>
                  <a:srgbClr val="FFFF00"/>
                </a:solidFill>
              </a:rPr>
              <a:t>同态滤波器的截面图</a:t>
            </a:r>
          </a:p>
        </p:txBody>
      </p:sp>
      <p:sp>
        <p:nvSpPr>
          <p:cNvPr id="697350" name="Line 6">
            <a:extLst>
              <a:ext uri="{FF2B5EF4-FFF2-40B4-BE49-F238E27FC236}">
                <a16:creationId xmlns:a16="http://schemas.microsoft.com/office/drawing/2014/main" id="{396F9783-8ACD-F060-3EB1-E6F9335FEF15}"/>
              </a:ext>
            </a:extLst>
          </p:cNvPr>
          <p:cNvSpPr>
            <a:spLocks noChangeShapeType="1"/>
          </p:cNvSpPr>
          <p:nvPr/>
        </p:nvSpPr>
        <p:spPr bwMode="auto">
          <a:xfrm>
            <a:off x="1739900" y="6248400"/>
            <a:ext cx="59563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7351" name="Line 7">
            <a:extLst>
              <a:ext uri="{FF2B5EF4-FFF2-40B4-BE49-F238E27FC236}">
                <a16:creationId xmlns:a16="http://schemas.microsoft.com/office/drawing/2014/main" id="{F132B6C1-A2AB-8B68-7094-929433262B75}"/>
              </a:ext>
            </a:extLst>
          </p:cNvPr>
          <p:cNvSpPr>
            <a:spLocks noChangeShapeType="1"/>
          </p:cNvSpPr>
          <p:nvPr/>
        </p:nvSpPr>
        <p:spPr bwMode="auto">
          <a:xfrm flipV="1">
            <a:off x="1739900" y="2971800"/>
            <a:ext cx="0" cy="32766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7352" name="Text Box 8">
            <a:extLst>
              <a:ext uri="{FF2B5EF4-FFF2-40B4-BE49-F238E27FC236}">
                <a16:creationId xmlns:a16="http://schemas.microsoft.com/office/drawing/2014/main" id="{5ED1F3C2-39D8-B57F-1127-17D2F103C966}"/>
              </a:ext>
            </a:extLst>
          </p:cNvPr>
          <p:cNvSpPr txBox="1">
            <a:spLocks noChangeArrowheads="1"/>
          </p:cNvSpPr>
          <p:nvPr/>
        </p:nvSpPr>
        <p:spPr bwMode="auto">
          <a:xfrm>
            <a:off x="1555750" y="6172200"/>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0</a:t>
            </a:r>
          </a:p>
        </p:txBody>
      </p:sp>
      <p:sp>
        <p:nvSpPr>
          <p:cNvPr id="697353" name="Text Box 9">
            <a:extLst>
              <a:ext uri="{FF2B5EF4-FFF2-40B4-BE49-F238E27FC236}">
                <a16:creationId xmlns:a16="http://schemas.microsoft.com/office/drawing/2014/main" id="{E8FA9FFA-1F6E-A815-48E0-F72783F26FDD}"/>
              </a:ext>
            </a:extLst>
          </p:cNvPr>
          <p:cNvSpPr txBox="1">
            <a:spLocks noChangeArrowheads="1"/>
          </p:cNvSpPr>
          <p:nvPr/>
        </p:nvSpPr>
        <p:spPr bwMode="auto">
          <a:xfrm>
            <a:off x="7772400" y="6019800"/>
            <a:ext cx="989013"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D(</a:t>
            </a:r>
            <a:r>
              <a:rPr lang="en-US" altLang="zh-CN" sz="2400" b="1" i="1"/>
              <a:t>u,v</a:t>
            </a:r>
            <a:r>
              <a:rPr lang="en-US" altLang="zh-CN" sz="2400" b="1"/>
              <a:t>)</a:t>
            </a:r>
          </a:p>
        </p:txBody>
      </p:sp>
      <p:sp>
        <p:nvSpPr>
          <p:cNvPr id="697354" name="Text Box 10">
            <a:extLst>
              <a:ext uri="{FF2B5EF4-FFF2-40B4-BE49-F238E27FC236}">
                <a16:creationId xmlns:a16="http://schemas.microsoft.com/office/drawing/2014/main" id="{4594043C-419C-FF6E-5A52-135F936F9C21}"/>
              </a:ext>
            </a:extLst>
          </p:cNvPr>
          <p:cNvSpPr txBox="1">
            <a:spLocks noChangeArrowheads="1"/>
          </p:cNvSpPr>
          <p:nvPr/>
        </p:nvSpPr>
        <p:spPr bwMode="auto">
          <a:xfrm>
            <a:off x="1816100" y="2971800"/>
            <a:ext cx="1004888"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H(</a:t>
            </a:r>
            <a:r>
              <a:rPr lang="en-US" altLang="zh-CN" sz="2400" b="1" i="1"/>
              <a:t>u,v</a:t>
            </a:r>
            <a:r>
              <a:rPr lang="en-US" altLang="zh-CN" sz="2400" b="1"/>
              <a:t>)</a:t>
            </a:r>
          </a:p>
        </p:txBody>
      </p:sp>
      <p:sp>
        <p:nvSpPr>
          <p:cNvPr id="697355" name="Text Box 11">
            <a:extLst>
              <a:ext uri="{FF2B5EF4-FFF2-40B4-BE49-F238E27FC236}">
                <a16:creationId xmlns:a16="http://schemas.microsoft.com/office/drawing/2014/main" id="{0179298A-B9D0-7015-99C6-4A0EC64988D2}"/>
              </a:ext>
            </a:extLst>
          </p:cNvPr>
          <p:cNvSpPr txBox="1">
            <a:spLocks noChangeArrowheads="1"/>
          </p:cNvSpPr>
          <p:nvPr/>
        </p:nvSpPr>
        <p:spPr bwMode="auto">
          <a:xfrm>
            <a:off x="1371600" y="4648200"/>
            <a:ext cx="336550"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400" b="1"/>
              <a:t>1</a:t>
            </a:r>
          </a:p>
        </p:txBody>
      </p:sp>
      <p:sp>
        <p:nvSpPr>
          <p:cNvPr id="697356" name="Text Box 12">
            <a:extLst>
              <a:ext uri="{FF2B5EF4-FFF2-40B4-BE49-F238E27FC236}">
                <a16:creationId xmlns:a16="http://schemas.microsoft.com/office/drawing/2014/main" id="{ADB2CA5B-7729-CD26-0920-33A892047B1F}"/>
              </a:ext>
            </a:extLst>
          </p:cNvPr>
          <p:cNvSpPr txBox="1">
            <a:spLocks noChangeArrowheads="1"/>
          </p:cNvSpPr>
          <p:nvPr/>
        </p:nvSpPr>
        <p:spPr bwMode="auto">
          <a:xfrm>
            <a:off x="3775075" y="3048000"/>
            <a:ext cx="5140325" cy="457200"/>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spcBef>
                <a:spcPct val="50000"/>
              </a:spcBef>
            </a:pPr>
            <a:r>
              <a:rPr lang="en-US" altLang="zh-CN" sz="2400" b="1">
                <a:solidFill>
                  <a:schemeClr val="accent2"/>
                </a:solidFill>
                <a:latin typeface="方正大黑简体" pitchFamily="65" charset="-122"/>
                <a:ea typeface="方正大黑简体" pitchFamily="65" charset="-122"/>
              </a:rPr>
              <a:t>H(u,v)</a:t>
            </a:r>
            <a:r>
              <a:rPr lang="zh-CN" altLang="en-US" sz="2400" b="1">
                <a:solidFill>
                  <a:schemeClr val="accent2"/>
                </a:solidFill>
                <a:latin typeface="方正大黑简体" pitchFamily="65" charset="-122"/>
                <a:ea typeface="方正大黑简体" pitchFamily="65" charset="-122"/>
              </a:rPr>
              <a:t>作为</a:t>
            </a:r>
            <a:r>
              <a:rPr lang="en-US" altLang="zh-CN" sz="2400" b="1">
                <a:solidFill>
                  <a:schemeClr val="accent2"/>
                </a:solidFill>
                <a:latin typeface="方正大黑简体" pitchFamily="65" charset="-122"/>
                <a:ea typeface="方正大黑简体" pitchFamily="65" charset="-122"/>
              </a:rPr>
              <a:t>D(u,v)</a:t>
            </a:r>
            <a:r>
              <a:rPr lang="zh-CN" altLang="en-US" sz="2400" b="1">
                <a:solidFill>
                  <a:schemeClr val="accent2"/>
                </a:solidFill>
                <a:latin typeface="方正大黑简体" pitchFamily="65" charset="-122"/>
                <a:ea typeface="方正大黑简体" pitchFamily="65" charset="-122"/>
              </a:rPr>
              <a:t>的函数的截面图</a:t>
            </a:r>
            <a:endParaRPr lang="zh-CN" altLang="en-US" sz="2400" b="1">
              <a:latin typeface="方正大黑简体" pitchFamily="65" charset="-122"/>
              <a:ea typeface="方正大黑简体" pitchFamily="65" charset="-122"/>
            </a:endParaRPr>
          </a:p>
        </p:txBody>
      </p:sp>
      <p:sp>
        <p:nvSpPr>
          <p:cNvPr id="697357" name="Freeform 13">
            <a:extLst>
              <a:ext uri="{FF2B5EF4-FFF2-40B4-BE49-F238E27FC236}">
                <a16:creationId xmlns:a16="http://schemas.microsoft.com/office/drawing/2014/main" id="{6FFADA43-ED6A-04A1-F40B-85A814AD504B}"/>
              </a:ext>
            </a:extLst>
          </p:cNvPr>
          <p:cNvSpPr>
            <a:spLocks/>
          </p:cNvSpPr>
          <p:nvPr/>
        </p:nvSpPr>
        <p:spPr bwMode="auto">
          <a:xfrm>
            <a:off x="1752600" y="4114800"/>
            <a:ext cx="3124200" cy="1828800"/>
          </a:xfrm>
          <a:custGeom>
            <a:avLst/>
            <a:gdLst>
              <a:gd name="T0" fmla="*/ 0 w 1968"/>
              <a:gd name="T1" fmla="*/ 960 h 960"/>
              <a:gd name="T2" fmla="*/ 192 w 1968"/>
              <a:gd name="T3" fmla="*/ 912 h 960"/>
              <a:gd name="T4" fmla="*/ 432 w 1968"/>
              <a:gd name="T5" fmla="*/ 768 h 960"/>
              <a:gd name="T6" fmla="*/ 816 w 1968"/>
              <a:gd name="T7" fmla="*/ 432 h 960"/>
              <a:gd name="T8" fmla="*/ 1200 w 1968"/>
              <a:gd name="T9" fmla="*/ 192 h 960"/>
              <a:gd name="T10" fmla="*/ 1584 w 1968"/>
              <a:gd name="T11" fmla="*/ 48 h 960"/>
              <a:gd name="T12" fmla="*/ 1968 w 1968"/>
              <a:gd name="T13" fmla="*/ 0 h 960"/>
            </a:gdLst>
            <a:ahLst/>
            <a:cxnLst>
              <a:cxn ang="0">
                <a:pos x="T0" y="T1"/>
              </a:cxn>
              <a:cxn ang="0">
                <a:pos x="T2" y="T3"/>
              </a:cxn>
              <a:cxn ang="0">
                <a:pos x="T4" y="T5"/>
              </a:cxn>
              <a:cxn ang="0">
                <a:pos x="T6" y="T7"/>
              </a:cxn>
              <a:cxn ang="0">
                <a:pos x="T8" y="T9"/>
              </a:cxn>
              <a:cxn ang="0">
                <a:pos x="T10" y="T11"/>
              </a:cxn>
              <a:cxn ang="0">
                <a:pos x="T12" y="T13"/>
              </a:cxn>
            </a:cxnLst>
            <a:rect l="0" t="0" r="r" b="b"/>
            <a:pathLst>
              <a:path w="1968" h="960">
                <a:moveTo>
                  <a:pt x="0" y="960"/>
                </a:moveTo>
                <a:cubicBezTo>
                  <a:pt x="60" y="952"/>
                  <a:pt x="120" y="944"/>
                  <a:pt x="192" y="912"/>
                </a:cubicBezTo>
                <a:cubicBezTo>
                  <a:pt x="264" y="880"/>
                  <a:pt x="328" y="848"/>
                  <a:pt x="432" y="768"/>
                </a:cubicBezTo>
                <a:cubicBezTo>
                  <a:pt x="536" y="688"/>
                  <a:pt x="688" y="528"/>
                  <a:pt x="816" y="432"/>
                </a:cubicBezTo>
                <a:cubicBezTo>
                  <a:pt x="944" y="336"/>
                  <a:pt x="1072" y="256"/>
                  <a:pt x="1200" y="192"/>
                </a:cubicBezTo>
                <a:cubicBezTo>
                  <a:pt x="1328" y="128"/>
                  <a:pt x="1456" y="80"/>
                  <a:pt x="1584" y="48"/>
                </a:cubicBezTo>
                <a:cubicBezTo>
                  <a:pt x="1712" y="16"/>
                  <a:pt x="1840" y="8"/>
                  <a:pt x="1968" y="0"/>
                </a:cubicBez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rgbClr val="FF33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7358" name="Line 14">
            <a:extLst>
              <a:ext uri="{FF2B5EF4-FFF2-40B4-BE49-F238E27FC236}">
                <a16:creationId xmlns:a16="http://schemas.microsoft.com/office/drawing/2014/main" id="{F1C24DB5-422E-A09C-AE54-C60BC9EDCAAB}"/>
              </a:ext>
            </a:extLst>
          </p:cNvPr>
          <p:cNvSpPr>
            <a:spLocks noChangeShapeType="1"/>
          </p:cNvSpPr>
          <p:nvPr/>
        </p:nvSpPr>
        <p:spPr bwMode="auto">
          <a:xfrm>
            <a:off x="1676400" y="4876800"/>
            <a:ext cx="152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7359" name="Line 15">
            <a:extLst>
              <a:ext uri="{FF2B5EF4-FFF2-40B4-BE49-F238E27FC236}">
                <a16:creationId xmlns:a16="http://schemas.microsoft.com/office/drawing/2014/main" id="{9BC3927C-5935-7D72-E6C9-37DD5E4DF910}"/>
              </a:ext>
            </a:extLst>
          </p:cNvPr>
          <p:cNvSpPr>
            <a:spLocks noChangeShapeType="1"/>
          </p:cNvSpPr>
          <p:nvPr/>
        </p:nvSpPr>
        <p:spPr bwMode="auto">
          <a:xfrm>
            <a:off x="4800600" y="4114800"/>
            <a:ext cx="27432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7360" name="Line 16">
            <a:extLst>
              <a:ext uri="{FF2B5EF4-FFF2-40B4-BE49-F238E27FC236}">
                <a16:creationId xmlns:a16="http://schemas.microsoft.com/office/drawing/2014/main" id="{066C733E-1D57-AED1-5F73-645B5C5CA249}"/>
              </a:ext>
            </a:extLst>
          </p:cNvPr>
          <p:cNvSpPr>
            <a:spLocks noChangeShapeType="1"/>
          </p:cNvSpPr>
          <p:nvPr/>
        </p:nvSpPr>
        <p:spPr bwMode="auto">
          <a:xfrm flipH="1">
            <a:off x="1752600" y="4114800"/>
            <a:ext cx="274320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97361" name="Text Box 17">
            <a:extLst>
              <a:ext uri="{FF2B5EF4-FFF2-40B4-BE49-F238E27FC236}">
                <a16:creationId xmlns:a16="http://schemas.microsoft.com/office/drawing/2014/main" id="{D82BC27D-388D-92B2-73F5-7A4D99805991}"/>
              </a:ext>
            </a:extLst>
          </p:cNvPr>
          <p:cNvSpPr txBox="1">
            <a:spLocks noChangeArrowheads="1"/>
          </p:cNvSpPr>
          <p:nvPr/>
        </p:nvSpPr>
        <p:spPr bwMode="auto">
          <a:xfrm>
            <a:off x="1133475" y="3810000"/>
            <a:ext cx="663575" cy="519113"/>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b="1">
                <a:solidFill>
                  <a:srgbClr val="FFFF00"/>
                </a:solidFill>
                <a:latin typeface="宋体" panose="02010600030101010101" pitchFamily="2" charset="-122"/>
              </a:rPr>
              <a:t>γ</a:t>
            </a:r>
            <a:r>
              <a:rPr lang="en-US" altLang="zh-CN" b="1" baseline="-25000">
                <a:solidFill>
                  <a:srgbClr val="FFFF00"/>
                </a:solidFill>
                <a:latin typeface="宋体" panose="02010600030101010101" pitchFamily="2" charset="-122"/>
              </a:rPr>
              <a:t>H</a:t>
            </a:r>
            <a:endParaRPr lang="en-US" altLang="zh-CN" sz="2400" b="1" baseline="-25000">
              <a:solidFill>
                <a:srgbClr val="FFFF00"/>
              </a:solidFill>
              <a:latin typeface="宋体" panose="02010600030101010101" pitchFamily="2" charset="-122"/>
            </a:endParaRPr>
          </a:p>
        </p:txBody>
      </p:sp>
      <p:sp>
        <p:nvSpPr>
          <p:cNvPr id="697362" name="Text Box 18">
            <a:extLst>
              <a:ext uri="{FF2B5EF4-FFF2-40B4-BE49-F238E27FC236}">
                <a16:creationId xmlns:a16="http://schemas.microsoft.com/office/drawing/2014/main" id="{DC0C2C36-D3BC-FC59-D43B-5FE747751274}"/>
              </a:ext>
            </a:extLst>
          </p:cNvPr>
          <p:cNvSpPr txBox="1">
            <a:spLocks noChangeArrowheads="1"/>
          </p:cNvSpPr>
          <p:nvPr/>
        </p:nvSpPr>
        <p:spPr bwMode="auto">
          <a:xfrm>
            <a:off x="1144588" y="5500688"/>
            <a:ext cx="658812" cy="519112"/>
          </a:xfrm>
          <a:prstGeom prst="rect">
            <a:avLst/>
          </a:prstGeom>
          <a:noFill/>
          <a:ln>
            <a:noFill/>
          </a:ln>
          <a:effectLst/>
          <a:extLst>
            <a:ext uri="{909E8E84-426E-40DD-AFC4-6F175D3DCCD1}">
              <a14:hiddenFill xmlns:a14="http://schemas.microsoft.com/office/drawing/2010/main">
                <a:solidFill>
                  <a:srgbClr val="FF33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a:solidFill>
                  <a:srgbClr val="FFFF00"/>
                </a:solidFill>
                <a:latin typeface="宋体" panose="02010600030101010101" pitchFamily="2" charset="-122"/>
              </a:rPr>
              <a:t>γ</a:t>
            </a:r>
            <a:r>
              <a:rPr lang="en-US" altLang="zh-CN" baseline="-25000">
                <a:solidFill>
                  <a:srgbClr val="FFFF00"/>
                </a:solidFill>
                <a:latin typeface="宋体" panose="02010600030101010101" pitchFamily="2" charset="-122"/>
              </a:rPr>
              <a:t>L</a:t>
            </a:r>
            <a:endParaRPr lang="en-US" altLang="zh-CN" sz="2400" baseline="-25000">
              <a:solidFill>
                <a:srgbClr val="FFFF00"/>
              </a:solidFill>
              <a:latin typeface="宋体" panose="02010600030101010101" pitchFamily="2" charset="-122"/>
            </a:endParaRPr>
          </a:p>
        </p:txBody>
      </p:sp>
    </p:spTree>
  </p:cSld>
  <p:clrMapOvr>
    <a:masterClrMapping/>
  </p:clrMapOvr>
  <p:transition advTm="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a:extLst>
              <a:ext uri="{FF2B5EF4-FFF2-40B4-BE49-F238E27FC236}">
                <a16:creationId xmlns:a16="http://schemas.microsoft.com/office/drawing/2014/main" id="{F51C6E30-71C6-DA4E-58E5-3567B30C2BEA}"/>
              </a:ext>
            </a:extLst>
          </p:cNvPr>
          <p:cNvSpPr>
            <a:spLocks noChangeArrowheads="1"/>
          </p:cNvSpPr>
          <p:nvPr/>
        </p:nvSpPr>
        <p:spPr bwMode="auto">
          <a:xfrm>
            <a:off x="247650" y="0"/>
            <a:ext cx="388778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a:t>
            </a:r>
            <a:r>
              <a:rPr lang="en-US" altLang="zh-CN" b="1">
                <a:solidFill>
                  <a:srgbClr val="34F7F2"/>
                </a:solidFill>
                <a:effectLst>
                  <a:outerShdw blurRad="38100" dist="38100" dir="2700000" algn="tl">
                    <a:srgbClr val="000000"/>
                  </a:outerShdw>
                </a:effectLst>
              </a:rPr>
              <a:t>3.4.5 </a:t>
            </a:r>
            <a:r>
              <a:rPr lang="zh-CN" altLang="en-US" b="1">
                <a:solidFill>
                  <a:srgbClr val="34F7F2"/>
                </a:solidFill>
                <a:effectLst>
                  <a:outerShdw blurRad="38100" dist="38100" dir="2700000" algn="tl">
                    <a:srgbClr val="000000"/>
                  </a:outerShdw>
                </a:effectLst>
              </a:rPr>
              <a:t>同态滤波</a:t>
            </a:r>
          </a:p>
        </p:txBody>
      </p:sp>
      <p:sp>
        <p:nvSpPr>
          <p:cNvPr id="699410" name="Rectangle 18">
            <a:extLst>
              <a:ext uri="{FF2B5EF4-FFF2-40B4-BE49-F238E27FC236}">
                <a16:creationId xmlns:a16="http://schemas.microsoft.com/office/drawing/2014/main" id="{EC48D540-3DDA-0C62-2922-B0BFC24E18CD}"/>
              </a:ext>
            </a:extLst>
          </p:cNvPr>
          <p:cNvSpPr>
            <a:spLocks noGrp="1" noChangeArrowheads="1"/>
          </p:cNvSpPr>
          <p:nvPr>
            <p:ph type="body" idx="1"/>
          </p:nvPr>
        </p:nvSpPr>
        <p:spPr>
          <a:xfrm>
            <a:off x="390525" y="1052513"/>
            <a:ext cx="9290050" cy="2447925"/>
          </a:xfrm>
          <a:noFill/>
          <a:ln/>
        </p:spPr>
        <p:txBody>
          <a:bodyPr/>
          <a:lstStyle/>
          <a:p>
            <a:pPr>
              <a:buFont typeface="Monotype Sorts" pitchFamily="2" charset="2"/>
              <a:buNone/>
            </a:pPr>
            <a:r>
              <a:rPr lang="zh-CN" altLang="en-US" b="1">
                <a:solidFill>
                  <a:srgbClr val="FFFF00"/>
                </a:solidFill>
              </a:rPr>
              <a:t>同态滤波器的效果分析</a:t>
            </a:r>
          </a:p>
          <a:p>
            <a:pPr lvl="1"/>
            <a:r>
              <a:rPr lang="zh-CN" altLang="en-US" sz="2400" b="1">
                <a:solidFill>
                  <a:srgbClr val="34F7F2"/>
                </a:solidFill>
              </a:rPr>
              <a:t>如果参数</a:t>
            </a:r>
            <a:r>
              <a:rPr lang="en-US" altLang="zh-CN" sz="2400" b="1">
                <a:solidFill>
                  <a:srgbClr val="34F7F2"/>
                </a:solidFill>
              </a:rPr>
              <a:t>γ</a:t>
            </a:r>
            <a:r>
              <a:rPr lang="en-US" altLang="zh-CN" sz="2400" b="1" baseline="-25000">
                <a:solidFill>
                  <a:srgbClr val="34F7F2"/>
                </a:solidFill>
              </a:rPr>
              <a:t>L</a:t>
            </a:r>
            <a:r>
              <a:rPr lang="zh-CN" altLang="en-US" sz="2400" b="1">
                <a:solidFill>
                  <a:srgbClr val="34F7F2"/>
                </a:solidFill>
              </a:rPr>
              <a:t>和</a:t>
            </a:r>
            <a:r>
              <a:rPr lang="en-US" altLang="zh-CN" sz="2400" b="1">
                <a:solidFill>
                  <a:srgbClr val="34F7F2"/>
                </a:solidFill>
              </a:rPr>
              <a:t>γ</a:t>
            </a:r>
            <a:r>
              <a:rPr lang="en-US" altLang="zh-CN" sz="2400" b="1" baseline="-25000">
                <a:solidFill>
                  <a:srgbClr val="34F7F2"/>
                </a:solidFill>
              </a:rPr>
              <a:t>H</a:t>
            </a:r>
            <a:r>
              <a:rPr lang="zh-CN" altLang="en-US" sz="2400" b="1">
                <a:solidFill>
                  <a:srgbClr val="34F7F2"/>
                </a:solidFill>
              </a:rPr>
              <a:t>的选取使得</a:t>
            </a:r>
          </a:p>
          <a:p>
            <a:pPr lvl="1">
              <a:buFontTx/>
              <a:buNone/>
            </a:pPr>
            <a:r>
              <a:rPr lang="zh-CN" altLang="en-US" sz="2400" b="1">
                <a:solidFill>
                  <a:srgbClr val="34F7F2"/>
                </a:solidFill>
              </a:rPr>
              <a:t>			</a:t>
            </a:r>
            <a:r>
              <a:rPr lang="en-US" altLang="zh-CN" sz="2400" b="1">
                <a:solidFill>
                  <a:srgbClr val="34F7F2"/>
                </a:solidFill>
              </a:rPr>
              <a:t>γ</a:t>
            </a:r>
            <a:r>
              <a:rPr lang="en-US" altLang="zh-CN" sz="2400" b="1" baseline="-25000">
                <a:solidFill>
                  <a:srgbClr val="34F7F2"/>
                </a:solidFill>
              </a:rPr>
              <a:t>L</a:t>
            </a:r>
            <a:r>
              <a:rPr lang="en-US" altLang="zh-CN" sz="2400" b="1">
                <a:solidFill>
                  <a:srgbClr val="34F7F2"/>
                </a:solidFill>
              </a:rPr>
              <a:t>&lt; 1,  γ</a:t>
            </a:r>
            <a:r>
              <a:rPr lang="en-US" altLang="zh-CN" sz="2400" b="1" baseline="-25000">
                <a:solidFill>
                  <a:srgbClr val="34F7F2"/>
                </a:solidFill>
              </a:rPr>
              <a:t>H</a:t>
            </a:r>
            <a:r>
              <a:rPr lang="en-US" altLang="zh-CN" sz="2400" b="1">
                <a:solidFill>
                  <a:srgbClr val="34F7F2"/>
                </a:solidFill>
              </a:rPr>
              <a:t> &gt; 1</a:t>
            </a:r>
          </a:p>
          <a:p>
            <a:pPr lvl="1">
              <a:buFontTx/>
              <a:buNone/>
            </a:pPr>
            <a:r>
              <a:rPr lang="en-US" altLang="zh-CN" sz="2400" b="1">
                <a:solidFill>
                  <a:srgbClr val="FF9900"/>
                </a:solidFill>
              </a:rPr>
              <a:t>   </a:t>
            </a:r>
            <a:r>
              <a:rPr lang="zh-CN" altLang="en-US" sz="2400" b="1">
                <a:solidFill>
                  <a:srgbClr val="FF9900"/>
                </a:solidFill>
              </a:rPr>
              <a:t>则滤波器函数将减少低频部分、扩大高频部分，最后的结果将是既压缩了有效范围，又扩大了对比度。</a:t>
            </a:r>
          </a:p>
        </p:txBody>
      </p:sp>
    </p:spTree>
  </p:cSld>
  <p:clrMapOvr>
    <a:masterClrMapping/>
  </p:clrMapOvr>
  <p:transition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a:extLst>
              <a:ext uri="{FF2B5EF4-FFF2-40B4-BE49-F238E27FC236}">
                <a16:creationId xmlns:a16="http://schemas.microsoft.com/office/drawing/2014/main" id="{0E845B12-8063-3C9D-DE14-C8177127DEE4}"/>
              </a:ext>
            </a:extLst>
          </p:cNvPr>
          <p:cNvSpPr>
            <a:spLocks noChangeArrowheads="1"/>
          </p:cNvSpPr>
          <p:nvPr/>
        </p:nvSpPr>
        <p:spPr bwMode="auto">
          <a:xfrm>
            <a:off x="247650" y="0"/>
            <a:ext cx="388778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b="1">
                <a:solidFill>
                  <a:srgbClr val="34F7F2"/>
                </a:solidFill>
                <a:effectLst>
                  <a:outerShdw blurRad="38100" dist="38100" dir="2700000" algn="tl">
                    <a:srgbClr val="000000"/>
                  </a:outerShdw>
                </a:effectLst>
                <a:cs typeface="Times New Roman" panose="02020603050405020304" pitchFamily="18" charset="0"/>
              </a:rPr>
              <a:t>§</a:t>
            </a:r>
            <a:r>
              <a:rPr lang="en-US" altLang="zh-CN" b="1">
                <a:solidFill>
                  <a:schemeClr val="accent1"/>
                </a:solidFill>
                <a:effectLst>
                  <a:outerShdw blurRad="38100" dist="38100" dir="2700000" algn="tl">
                    <a:srgbClr val="000000"/>
                  </a:outerShdw>
                </a:effectLst>
              </a:rPr>
              <a:t> </a:t>
            </a:r>
            <a:r>
              <a:rPr lang="en-US" altLang="zh-CN" b="1">
                <a:solidFill>
                  <a:srgbClr val="34F7F2"/>
                </a:solidFill>
                <a:effectLst>
                  <a:outerShdw blurRad="38100" dist="38100" dir="2700000" algn="tl">
                    <a:srgbClr val="000000"/>
                  </a:outerShdw>
                </a:effectLst>
              </a:rPr>
              <a:t>3.4.5 </a:t>
            </a:r>
            <a:r>
              <a:rPr lang="zh-CN" altLang="en-US" b="1">
                <a:solidFill>
                  <a:srgbClr val="34F7F2"/>
                </a:solidFill>
                <a:effectLst>
                  <a:outerShdw blurRad="38100" dist="38100" dir="2700000" algn="tl">
                    <a:srgbClr val="000000"/>
                  </a:outerShdw>
                </a:effectLst>
              </a:rPr>
              <a:t>同态滤波</a:t>
            </a:r>
          </a:p>
        </p:txBody>
      </p:sp>
      <p:pic>
        <p:nvPicPr>
          <p:cNvPr id="701445" name="Picture 5">
            <a:extLst>
              <a:ext uri="{FF2B5EF4-FFF2-40B4-BE49-F238E27FC236}">
                <a16:creationId xmlns:a16="http://schemas.microsoft.com/office/drawing/2014/main" id="{48AEDB31-7100-3326-E1E9-ECA2958AD799}"/>
              </a:ext>
            </a:extLst>
          </p:cNvPr>
          <p:cNvPicPr>
            <a:picLocks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895350" y="620713"/>
            <a:ext cx="8229600" cy="3873500"/>
          </a:xfrm>
          <a:noFill/>
          <a:ln/>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
        <p:nvSpPr>
          <p:cNvPr id="701447" name="Rectangle 7">
            <a:extLst>
              <a:ext uri="{FF2B5EF4-FFF2-40B4-BE49-F238E27FC236}">
                <a16:creationId xmlns:a16="http://schemas.microsoft.com/office/drawing/2014/main" id="{792CBAF9-408D-2038-B3DA-D680C53EFA5A}"/>
              </a:ext>
            </a:extLst>
          </p:cNvPr>
          <p:cNvSpPr>
            <a:spLocks noChangeArrowheads="1"/>
          </p:cNvSpPr>
          <p:nvPr/>
        </p:nvSpPr>
        <p:spPr bwMode="auto">
          <a:xfrm>
            <a:off x="4064000" y="188913"/>
            <a:ext cx="3529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FFFF00"/>
                </a:solidFill>
              </a:rPr>
              <a:t>同态滤波增强效果</a:t>
            </a:r>
          </a:p>
        </p:txBody>
      </p:sp>
      <p:sp>
        <p:nvSpPr>
          <p:cNvPr id="701448" name="Rectangle 8">
            <a:extLst>
              <a:ext uri="{FF2B5EF4-FFF2-40B4-BE49-F238E27FC236}">
                <a16:creationId xmlns:a16="http://schemas.microsoft.com/office/drawing/2014/main" id="{46B763F9-D885-B28A-9CB2-42E0F80105C8}"/>
              </a:ext>
            </a:extLst>
          </p:cNvPr>
          <p:cNvSpPr>
            <a:spLocks noChangeArrowheads="1"/>
          </p:cNvSpPr>
          <p:nvPr/>
        </p:nvSpPr>
        <p:spPr bwMode="auto">
          <a:xfrm>
            <a:off x="319088" y="4652963"/>
            <a:ext cx="964882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34F7F2"/>
                </a:solidFill>
              </a:rPr>
              <a:t>左图为一幅人脸图象，由于单侧光照明的原因使得人脸在图象的右侧产生阴影，头发的发际线很不清晰。右图为用</a:t>
            </a:r>
            <a:r>
              <a:rPr lang="en-US" altLang="zh-CN" sz="2400" b="1">
                <a:solidFill>
                  <a:srgbClr val="34F7F2"/>
                </a:solidFill>
              </a:rPr>
              <a:t>H</a:t>
            </a:r>
            <a:r>
              <a:rPr lang="en-US" altLang="zh-CN" sz="2400" b="1" baseline="-25000">
                <a:solidFill>
                  <a:srgbClr val="34F7F2"/>
                </a:solidFill>
              </a:rPr>
              <a:t>L</a:t>
            </a:r>
            <a:r>
              <a:rPr lang="zh-CN" altLang="en-US" sz="2400" b="1">
                <a:solidFill>
                  <a:srgbClr val="34F7F2"/>
                </a:solidFill>
              </a:rPr>
              <a:t>＝</a:t>
            </a:r>
            <a:r>
              <a:rPr lang="en-US" altLang="zh-CN" sz="2400" b="1">
                <a:solidFill>
                  <a:srgbClr val="34F7F2"/>
                </a:solidFill>
              </a:rPr>
              <a:t>0.5</a:t>
            </a:r>
            <a:r>
              <a:rPr lang="zh-CN" altLang="en-US" sz="2400" b="1">
                <a:solidFill>
                  <a:srgbClr val="34F7F2"/>
                </a:solidFill>
              </a:rPr>
              <a:t>，</a:t>
            </a:r>
            <a:r>
              <a:rPr lang="en-US" altLang="zh-CN" sz="2400" b="1">
                <a:solidFill>
                  <a:srgbClr val="34F7F2"/>
                </a:solidFill>
              </a:rPr>
              <a:t>H</a:t>
            </a:r>
            <a:r>
              <a:rPr lang="en-US" altLang="zh-CN" sz="2400" b="1" baseline="-25000">
                <a:solidFill>
                  <a:srgbClr val="34F7F2"/>
                </a:solidFill>
              </a:rPr>
              <a:t>H</a:t>
            </a:r>
            <a:r>
              <a:rPr lang="zh-CN" altLang="en-US" sz="2400" b="1">
                <a:solidFill>
                  <a:srgbClr val="34F7F2"/>
                </a:solidFill>
              </a:rPr>
              <a:t>＝</a:t>
            </a:r>
            <a:r>
              <a:rPr lang="en-US" altLang="zh-CN" sz="2400" b="1">
                <a:solidFill>
                  <a:srgbClr val="34F7F2"/>
                </a:solidFill>
              </a:rPr>
              <a:t>2.0</a:t>
            </a:r>
            <a:r>
              <a:rPr lang="zh-CN" altLang="en-US" sz="2400" b="1">
                <a:solidFill>
                  <a:srgbClr val="34F7F2"/>
                </a:solidFill>
              </a:rPr>
              <a:t>进行同态滤波得到的增强结果。图象增强后，人脸与头发明显分开，衣领也看出来了。同时使动态范围压缩</a:t>
            </a:r>
            <a:r>
              <a:rPr lang="en-US" altLang="zh-CN" sz="2400" b="1">
                <a:solidFill>
                  <a:srgbClr val="34F7F2"/>
                </a:solidFill>
              </a:rPr>
              <a:t>(</a:t>
            </a:r>
            <a:r>
              <a:rPr lang="zh-CN" altLang="en-US" sz="2400" b="1">
                <a:solidFill>
                  <a:srgbClr val="34F7F2"/>
                </a:solidFill>
              </a:rPr>
              <a:t>如眼睛处</a:t>
            </a:r>
            <a:r>
              <a:rPr lang="en-US" altLang="zh-CN" sz="2400" b="1">
                <a:solidFill>
                  <a:srgbClr val="34F7F2"/>
                </a:solidFill>
              </a:rPr>
              <a:t>)</a:t>
            </a:r>
            <a:r>
              <a:rPr lang="zh-CN" altLang="en-US" sz="2400" b="1">
                <a:solidFill>
                  <a:srgbClr val="34F7F2"/>
                </a:solidFill>
              </a:rPr>
              <a:t>并使对比度增加</a:t>
            </a:r>
            <a:r>
              <a:rPr lang="en-US" altLang="zh-CN" sz="2400" b="1">
                <a:solidFill>
                  <a:srgbClr val="34F7F2"/>
                </a:solidFill>
              </a:rPr>
              <a:t>(</a:t>
            </a:r>
            <a:r>
              <a:rPr lang="zh-CN" altLang="en-US" sz="2400" b="1">
                <a:solidFill>
                  <a:srgbClr val="34F7F2"/>
                </a:solidFill>
              </a:rPr>
              <a:t>加入脸与头发交界处</a:t>
            </a:r>
            <a:r>
              <a:rPr lang="en-US" altLang="zh-CN" sz="2400" b="1">
                <a:solidFill>
                  <a:srgbClr val="34F7F2"/>
                </a:solidFill>
              </a:rPr>
              <a:t>)</a:t>
            </a:r>
            <a:r>
              <a:rPr lang="zh-CN" altLang="en-US" sz="2400" b="1">
                <a:solidFill>
                  <a:srgbClr val="34F7F2"/>
                </a:solidFill>
              </a:rPr>
              <a:t>。 </a:t>
            </a:r>
          </a:p>
        </p:txBody>
      </p:sp>
    </p:spTree>
  </p:cSld>
  <p:clrMapOvr>
    <a:masterClrMapping/>
  </p:clrMapOvr>
  <p:transition advTm="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9" name="Rectangle 3">
            <a:extLst>
              <a:ext uri="{FF2B5EF4-FFF2-40B4-BE49-F238E27FC236}">
                <a16:creationId xmlns:a16="http://schemas.microsoft.com/office/drawing/2014/main" id="{663A90A9-B964-5550-16C3-C77AC9D62576}"/>
              </a:ext>
            </a:extLst>
          </p:cNvPr>
          <p:cNvSpPr>
            <a:spLocks noGrp="1" noChangeArrowheads="1"/>
          </p:cNvSpPr>
          <p:nvPr>
            <p:ph type="subTitle" idx="1"/>
          </p:nvPr>
        </p:nvSpPr>
        <p:spPr>
          <a:xfrm>
            <a:off x="425450" y="1049338"/>
            <a:ext cx="6280150" cy="511175"/>
          </a:xfrm>
        </p:spPr>
        <p:txBody>
          <a:bodyPr/>
          <a:lstStyle/>
          <a:p>
            <a:pPr algn="l"/>
            <a:r>
              <a:rPr lang="zh-CN" altLang="en-US" sz="3600" b="1"/>
              <a:t>作业：编程实现以下算法</a:t>
            </a:r>
          </a:p>
        </p:txBody>
      </p:sp>
      <p:grpSp>
        <p:nvGrpSpPr>
          <p:cNvPr id="500740" name="Group 4">
            <a:extLst>
              <a:ext uri="{FF2B5EF4-FFF2-40B4-BE49-F238E27FC236}">
                <a16:creationId xmlns:a16="http://schemas.microsoft.com/office/drawing/2014/main" id="{E12FEE31-C026-ED61-3564-E3C3F4EF0309}"/>
              </a:ext>
            </a:extLst>
          </p:cNvPr>
          <p:cNvGrpSpPr>
            <a:grpSpLocks/>
          </p:cNvGrpSpPr>
          <p:nvPr/>
        </p:nvGrpSpPr>
        <p:grpSpPr bwMode="auto">
          <a:xfrm>
            <a:off x="514350" y="803275"/>
            <a:ext cx="9429750" cy="117475"/>
            <a:chOff x="288" y="480"/>
            <a:chExt cx="5280" cy="74"/>
          </a:xfrm>
        </p:grpSpPr>
        <p:sp>
          <p:nvSpPr>
            <p:cNvPr id="500741" name="Line 5">
              <a:extLst>
                <a:ext uri="{FF2B5EF4-FFF2-40B4-BE49-F238E27FC236}">
                  <a16:creationId xmlns:a16="http://schemas.microsoft.com/office/drawing/2014/main" id="{622AAE26-22DA-5682-10C4-D5ED6992B579}"/>
                </a:ext>
              </a:extLst>
            </p:cNvPr>
            <p:cNvSpPr>
              <a:spLocks noChangeShapeType="1"/>
            </p:cNvSpPr>
            <p:nvPr/>
          </p:nvSpPr>
          <p:spPr bwMode="auto">
            <a:xfrm>
              <a:off x="288" y="480"/>
              <a:ext cx="5280" cy="0"/>
            </a:xfrm>
            <a:prstGeom prst="line">
              <a:avLst/>
            </a:prstGeom>
            <a:noFill/>
            <a:ln w="9525">
              <a:solidFill>
                <a:srgbClr val="FF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0742" name="Line 6">
              <a:extLst>
                <a:ext uri="{FF2B5EF4-FFF2-40B4-BE49-F238E27FC236}">
                  <a16:creationId xmlns:a16="http://schemas.microsoft.com/office/drawing/2014/main" id="{EE67E31A-3AF7-7090-D89E-5B8EC827E0B8}"/>
                </a:ext>
              </a:extLst>
            </p:cNvPr>
            <p:cNvSpPr>
              <a:spLocks noChangeShapeType="1"/>
            </p:cNvSpPr>
            <p:nvPr/>
          </p:nvSpPr>
          <p:spPr bwMode="auto">
            <a:xfrm>
              <a:off x="288" y="554"/>
              <a:ext cx="5280" cy="0"/>
            </a:xfrm>
            <a:prstGeom prst="line">
              <a:avLst/>
            </a:prstGeom>
            <a:noFill/>
            <a:ln w="76200">
              <a:solidFill>
                <a:srgbClr val="FF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00743" name="Text Box 7">
            <a:extLst>
              <a:ext uri="{FF2B5EF4-FFF2-40B4-BE49-F238E27FC236}">
                <a16:creationId xmlns:a16="http://schemas.microsoft.com/office/drawing/2014/main" id="{8990E040-A041-F2C5-247F-4031679D96A9}"/>
              </a:ext>
            </a:extLst>
          </p:cNvPr>
          <p:cNvSpPr txBox="1">
            <a:spLocks noChangeArrowheads="1"/>
          </p:cNvSpPr>
          <p:nvPr/>
        </p:nvSpPr>
        <p:spPr bwMode="auto">
          <a:xfrm>
            <a:off x="254000" y="1979613"/>
            <a:ext cx="9499600" cy="3084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zh-CN" b="1">
                <a:solidFill>
                  <a:srgbClr val="FFFF00"/>
                </a:solidFill>
                <a:effectLst>
                  <a:outerShdw blurRad="38100" dist="38100" dir="2700000" algn="tl">
                    <a:srgbClr val="000000"/>
                  </a:outerShdw>
                </a:effectLst>
              </a:rPr>
              <a:t>1.</a:t>
            </a:r>
            <a:r>
              <a:rPr lang="zh-CN" altLang="en-US" b="1">
                <a:solidFill>
                  <a:srgbClr val="FFFF00"/>
                </a:solidFill>
                <a:effectLst>
                  <a:outerShdw blurRad="38100" dist="38100" dir="2700000" algn="tl">
                    <a:srgbClr val="000000"/>
                  </a:outerShdw>
                </a:effectLst>
              </a:rPr>
              <a:t>理想低通滤波</a:t>
            </a:r>
          </a:p>
          <a:p>
            <a:pPr>
              <a:spcBef>
                <a:spcPct val="50000"/>
              </a:spcBef>
            </a:pPr>
            <a:r>
              <a:rPr lang="en-US" altLang="zh-CN" b="1">
                <a:solidFill>
                  <a:srgbClr val="FFFF00"/>
                </a:solidFill>
                <a:effectLst>
                  <a:outerShdw blurRad="38100" dist="38100" dir="2700000" algn="tl">
                    <a:srgbClr val="000000"/>
                  </a:outerShdw>
                </a:effectLst>
              </a:rPr>
              <a:t>2.</a:t>
            </a:r>
            <a:r>
              <a:rPr lang="zh-CN" altLang="en-US" b="1">
                <a:solidFill>
                  <a:srgbClr val="FFFF00"/>
                </a:solidFill>
                <a:effectLst>
                  <a:outerShdw blurRad="38100" dist="38100" dir="2700000" algn="tl">
                    <a:srgbClr val="000000"/>
                  </a:outerShdw>
                </a:effectLst>
              </a:rPr>
              <a:t>巴特沃斯</a:t>
            </a:r>
            <a:r>
              <a:rPr lang="zh-CN" altLang="en-US" b="1">
                <a:solidFill>
                  <a:srgbClr val="FFFF00"/>
                </a:solidFill>
              </a:rPr>
              <a:t>低通滤波</a:t>
            </a:r>
          </a:p>
          <a:p>
            <a:pPr>
              <a:spcBef>
                <a:spcPct val="50000"/>
              </a:spcBef>
            </a:pPr>
            <a:r>
              <a:rPr lang="en-US" altLang="zh-CN" b="1">
                <a:solidFill>
                  <a:srgbClr val="FFFF00"/>
                </a:solidFill>
              </a:rPr>
              <a:t>3.</a:t>
            </a:r>
            <a:r>
              <a:rPr lang="zh-CN" altLang="en-US" b="1">
                <a:solidFill>
                  <a:srgbClr val="FFFF00"/>
                </a:solidFill>
              </a:rPr>
              <a:t>理想高通滤波</a:t>
            </a:r>
          </a:p>
          <a:p>
            <a:pPr>
              <a:spcBef>
                <a:spcPct val="50000"/>
              </a:spcBef>
            </a:pPr>
            <a:r>
              <a:rPr lang="en-US" altLang="zh-CN" b="1">
                <a:solidFill>
                  <a:srgbClr val="FFFF00"/>
                </a:solidFill>
              </a:rPr>
              <a:t>4.</a:t>
            </a:r>
            <a:r>
              <a:rPr lang="zh-CN" altLang="en-US" b="1">
                <a:solidFill>
                  <a:srgbClr val="FFFF00"/>
                </a:solidFill>
                <a:effectLst>
                  <a:outerShdw blurRad="38100" dist="38100" dir="2700000" algn="tl">
                    <a:srgbClr val="000000"/>
                  </a:outerShdw>
                </a:effectLst>
              </a:rPr>
              <a:t>巴特沃斯</a:t>
            </a:r>
            <a:r>
              <a:rPr lang="zh-CN" altLang="en-US" b="1">
                <a:solidFill>
                  <a:srgbClr val="FFFF00"/>
                </a:solidFill>
              </a:rPr>
              <a:t>高通滤波</a:t>
            </a:r>
          </a:p>
          <a:p>
            <a:pPr>
              <a:spcBef>
                <a:spcPct val="50000"/>
              </a:spcBef>
            </a:pPr>
            <a:r>
              <a:rPr lang="en-US" altLang="zh-CN" b="1">
                <a:solidFill>
                  <a:srgbClr val="FFFF00"/>
                </a:solidFill>
              </a:rPr>
              <a:t>5.</a:t>
            </a:r>
            <a:r>
              <a:rPr lang="zh-CN" altLang="en-US" b="1">
                <a:solidFill>
                  <a:srgbClr val="FFFF00"/>
                </a:solidFill>
              </a:rPr>
              <a:t>同态滤波</a:t>
            </a:r>
          </a:p>
        </p:txBody>
      </p:sp>
    </p:spTree>
  </p:cSld>
  <p:clrMapOvr>
    <a:masterClrMapping/>
  </p:clrMapOvr>
</p:sld>
</file>

<file path=ppt/theme/theme1.xml><?xml version="1.0" encoding="utf-8"?>
<a:theme xmlns:a="http://schemas.openxmlformats.org/drawingml/2006/main" name="Blue Diagonal">
  <a:themeElements>
    <a:clrScheme name="">
      <a:dk1>
        <a:srgbClr val="000000"/>
      </a:dk1>
      <a:lt1>
        <a:srgbClr val="FFFFFF"/>
      </a:lt1>
      <a:dk2>
        <a:srgbClr val="0033CC"/>
      </a:dk2>
      <a:lt2>
        <a:srgbClr val="FFFF00"/>
      </a:lt2>
      <a:accent1>
        <a:srgbClr val="00CCCC"/>
      </a:accent1>
      <a:accent2>
        <a:srgbClr val="FF33CC"/>
      </a:accent2>
      <a:accent3>
        <a:srgbClr val="AAADE2"/>
      </a:accent3>
      <a:accent4>
        <a:srgbClr val="DADADA"/>
      </a:accent4>
      <a:accent5>
        <a:srgbClr val="AAE2E2"/>
      </a:accent5>
      <a:accent6>
        <a:srgbClr val="E72DB9"/>
      </a:accent6>
      <a:hlink>
        <a:srgbClr val="FF0033"/>
      </a:hlink>
      <a:folHlink>
        <a:srgbClr val="3366FF"/>
      </a:folHlink>
    </a:clrScheme>
    <a:fontScheme name="Blue Diagonal">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0033"/>
        </a:hlink>
        <a:folHlink>
          <a:srgbClr val="3366FF"/>
        </a:folHlink>
      </a:clrScheme>
      <a:clrMap bg1="dk2" tx1="lt1" bg2="dk1" tx2="lt2" accent1="accent1" accent2="accent2" accent3="accent3" accent4="accent4" accent5="accent5" accent6="accent6" hlink="hlink" folHlink="folHlink"/>
    </a:extraClrScheme>
    <a:extraClrScheme>
      <a:clrScheme name="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6666FF"/>
        </a:folHlink>
      </a:clrScheme>
      <a:clrMap bg1="lt1" tx1="dk1" bg2="lt2" tx2="dk2" accent1="accent1" accent2="accent2" accent3="accent3" accent4="accent4" accent5="accent5" accent6="accent6" hlink="hlink" folHlink="folHlink"/>
    </a:extraClrScheme>
    <a:extraClrScheme>
      <a:clrScheme name="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00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33CC"/>
    </a:dk2>
    <a:lt2>
      <a:srgbClr val="FFFF00"/>
    </a:lt2>
    <a:accent1>
      <a:srgbClr val="00CCCC"/>
    </a:accent1>
    <a:accent2>
      <a:srgbClr val="FF33CC"/>
    </a:accent2>
    <a:accent3>
      <a:srgbClr val="AAADE2"/>
    </a:accent3>
    <a:accent4>
      <a:srgbClr val="DADADA"/>
    </a:accent4>
    <a:accent5>
      <a:srgbClr val="AAE2E2"/>
    </a:accent5>
    <a:accent6>
      <a:srgbClr val="E72DB9"/>
    </a:accent6>
    <a:hlink>
      <a:srgbClr val="FF0033"/>
    </a:hlink>
    <a:folHlink>
      <a:srgbClr val="3366FF"/>
    </a:folHlink>
  </a:clrScheme>
</a:themeOverride>
</file>

<file path=docProps/app.xml><?xml version="1.0" encoding="utf-8"?>
<Properties xmlns="http://schemas.openxmlformats.org/officeDocument/2006/extended-properties" xmlns:vt="http://schemas.openxmlformats.org/officeDocument/2006/docPropsVTypes">
  <Template>F:\msoffice\Templates\Presentation Designs\Blue Diagonal.pot</Template>
  <TotalTime>0</TotalTime>
  <Pages>21</Pages>
  <Words>3378</Words>
  <Application>Microsoft Macintosh PowerPoint</Application>
  <PresentationFormat>35 毫米幻灯片</PresentationFormat>
  <Paragraphs>317</Paragraphs>
  <Slides>35</Slides>
  <Notes>34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35</vt:i4>
      </vt:variant>
    </vt:vector>
  </HeadingPairs>
  <TitlesOfParts>
    <vt:vector size="45" baseType="lpstr">
      <vt:lpstr>Times New Roman</vt:lpstr>
      <vt:lpstr>宋体</vt:lpstr>
      <vt:lpstr>Monotype Sorts</vt:lpstr>
      <vt:lpstr>隶书</vt:lpstr>
      <vt:lpstr/>
      <vt:lpstr>楷体_GB2312</vt:lpstr>
      <vt:lpstr>方正大黑简体</vt:lpstr>
      <vt:lpstr>Blue Diagonal</vt:lpstr>
      <vt:lpstr>Microsoft 公式 3.0</vt:lpstr>
      <vt:lpstr>MathType 5.0 Equation</vt:lpstr>
      <vt:lpstr>第三章  图象增强技术</vt:lpstr>
      <vt:lpstr>  3.4   频域滤波增强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dc:title>
  <dc:subject>ACL studies</dc:subject>
  <dc:creator>Guangzhi Wang</dc:creator>
  <cp:keywords/>
  <dc:description/>
  <cp:lastModifiedBy>Microsoft Office User</cp:lastModifiedBy>
  <cp:revision>439</cp:revision>
  <cp:lastPrinted>1998-10-27T10:01:56Z</cp:lastPrinted>
  <dcterms:created xsi:type="dcterms:W3CDTF">1997-03-25T16:07:27Z</dcterms:created>
  <dcterms:modified xsi:type="dcterms:W3CDTF">2024-10-18T04:19:06Z</dcterms:modified>
</cp:coreProperties>
</file>